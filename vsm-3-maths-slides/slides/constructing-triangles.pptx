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6845831-9faa-51db-a851-84536934bee9}">
          <p14:sldIdLst>
            <p14:sldId id="256"/>
            <p14:sldId id="257"/>
          </p14:sldIdLst>
        </p14:section>
        <p14:section name="Key ideas" id="{c47990b8-6d9e-f58c-0a82-a27417ab9943}">
          <p14:sldIdLst>
            <p14:sldId id="258"/>
            <p14:sldId id="259"/>
            <p14:sldId id="260"/>
            <p14:sldId id="261"/>
          </p14:sldIdLst>
        </p14:section>
        <p14:section name="Practice" id="{147a11da-8b33-3d1d-2b20-430c5ae7fc35}">
          <p14:sldIdLst>
            <p14:sldId id="262"/>
            <p14:sldId id="263"/>
            <p14:sldId id="264"/>
            <p14:sldId id="265"/>
            <p14:sldId id="266"/>
          </p14:sldIdLst>
        </p14:section>
        <p14:section name="Wrap-up" id="{3ac79bc4-a325-d318-4911-36f45ea75a5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students can construct a triangle given (1) base, base angle and sum of the other sides, (2) base, base angle and difference of the other sides, (3) perimeter and base angles, and explain why each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try with a ruler first. Trial and error is slow; the construction finds A in one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first: AB + AC must be more than BC, or no triangle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both cases A is on the perpendicular bisector of DC, so AD = AC. The difference must be less than 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∠ABC is the full angle: △ABX is isosceles with base angles ½∠B, and ∠ABC is its exterior angle, so it equals ½∠B + ½∠B.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always starts with a rough figure; insist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each answer: 5 + 7 = 12 and 8 − 7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60° is 30°. Students often draw the full 60° at X and Y; the simulation shows the half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smallest sum that would work with BC = 7 cm (anything more than 7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simulation's “Next step” button to show where each mistake would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QD = PQ + PR. 2) P is on the perpendicular bisector of DR. 3) 40° and 25°. 4) No: AB + AC must be greater than 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construct △PQR with QR = 6.5 cm, ∠Q = 60° and PQ − PR = 2.5 cm, then check with the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420624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tx2"/>
                </a:solidFill>
              </a:rPr>
              <a:t>Constructing Triangles · Std 9 Maths II Ch. 4</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Eyebrow"/>
          <p:cNvSpPr txBox="1"/>
          <p:nvPr/>
        </p:nvSpPr>
        <p:spPr>
          <a:xfrm>
            <a:off x="548640" y="1143000"/>
            <a:ext cx="4206240" cy="320040"/>
          </a:xfrm>
          <a:prstGeom prst="rect">
            <a:avLst/>
          </a:prstGeom>
          <a:noFill/>
          <a:ln/>
        </p:spPr>
        <p:txBody>
          <a:bodyPr wrap="square" lIns="0" tIns="0" rIns="0" bIns="0" rtlCol="0" anchor="t"/>
          <a:lstStyle/>
          <a:p>
            <a:pPr indent="0" marL="0">
              <a:buNone/>
            </a:pPr>
            <a:r>
              <a:rPr lang="en-US" sz="1200" b="1" spc="200" kern="0" dirty="0">
                <a:solidFill>
                  <a:schemeClr val="accent4"/>
                </a:solidFill>
              </a:rPr>
              <a:t>STD 9 MATHEMATICS PART II · CH. 4 CONSTRUCTIONS OF TRIANGLES</a:t>
            </a:r>
            <a:endParaRPr lang="en-US" sz="1200" dirty="0"/>
          </a:p>
        </p:txBody>
      </p:sp>
      <p:sp>
        <p:nvSpPr>
          <p:cNvPr id="4" name="Text 0"/>
          <p:cNvSpPr/>
          <p:nvPr>
            <p:ph idx="100" type="title" hasCustomPrompt="1"/>
          </p:nvPr>
        </p:nvSpPr>
        <p:spPr>
          <a:xfrm>
            <a:off x="548640" y="1600200"/>
            <a:ext cx="4206240" cy="1371600"/>
          </a:xfrm>
          <a:prstGeom prst="rect">
            <a:avLst/>
          </a:prstGeom>
          <a:noFill/>
          <a:ln/>
        </p:spPr>
        <p:txBody>
          <a:bodyPr wrap="square" lIns="0" tIns="0" rIns="0" bIns="0" rtlCol="0" anchor="t"/>
          <a:lstStyle/>
          <a:p>
            <a:pPr algn="l" indent="0" marL="0">
              <a:buNone/>
            </a:pPr>
            <a:r>
              <a:rPr lang="en-US" sz="3800" b="1" dirty="0">
                <a:solidFill>
                  <a:schemeClr val="bg1"/>
                </a:solidFill>
              </a:rPr>
              <a:t>Constructing Triangles</a:t>
            </a:r>
            <a:endParaRPr lang="en-US" sz="3800" dirty="0"/>
          </a:p>
        </p:txBody>
      </p:sp>
      <p:sp>
        <p:nvSpPr>
          <p:cNvPr id="5" name="Subtitle"/>
          <p:cNvSpPr txBox="1"/>
          <p:nvPr/>
        </p:nvSpPr>
        <p:spPr>
          <a:xfrm>
            <a:off x="548640" y="3108960"/>
            <a:ext cx="4206240" cy="365760"/>
          </a:xfrm>
          <a:prstGeom prst="rect">
            <a:avLst/>
          </a:prstGeom>
          <a:noFill/>
          <a:ln/>
        </p:spPr>
        <p:txBody>
          <a:bodyPr wrap="square" lIns="0" tIns="0" rIns="0" bIns="0" rtlCol="0" anchor="t"/>
          <a:lstStyle/>
          <a:p>
            <a:pPr indent="0" marL="0">
              <a:buNone/>
            </a:pPr>
            <a:r>
              <a:rPr lang="en-US" sz="1600" dirty="0">
                <a:solidFill>
                  <a:schemeClr val="accent5"/>
                </a:solidFill>
              </a:rPr>
              <a:t>Lesson 2 · Visual Science &amp; Maths</a:t>
            </a:r>
            <a:endParaRPr lang="en-US" sz="1600" dirty="0"/>
          </a:p>
        </p:txBody>
      </p:sp>
      <p:sp>
        <p:nvSpPr>
          <p:cNvPr id="6" name="Title image frame"/>
          <p:cNvSpPr/>
          <p:nvPr/>
        </p:nvSpPr>
        <p:spPr>
          <a:xfrm>
            <a:off x="4901184" y="1197864"/>
            <a:ext cx="3822192" cy="2406224"/>
          </a:xfrm>
          <a:prstGeom prst="roundRect">
            <a:avLst>
              <a:gd name="adj" fmla="val 3040"/>
            </a:avLst>
          </a:prstGeom>
          <a:solidFill>
            <a:schemeClr val="bg1"/>
          </a:solidFill>
          <a:ln w="12700">
            <a:solidFill>
              <a:schemeClr val="accent5"/>
            </a:solidFill>
            <a:prstDash val="solid"/>
          </a:ln>
        </p:spPr>
      </p:sp>
      <p:pic>
        <p:nvPicPr>
          <p:cNvPr id="7" name="Title image" descr="/tmp/claude-0/-home-claude/7116491e-74ad-5a48-9637-67025fdd7b6d/scratchpad/deck/constructing-triangles/sum.png">    </p:cNvPr>
          <p:cNvPicPr>
            <a:picLocks noChangeAspect="1"/>
          </p:cNvPicPr>
          <p:nvPr/>
        </p:nvPicPr>
        <p:blipFill>
          <a:blip r:embed="rId1"/>
          <a:stretch>
            <a:fillRect/>
          </a:stretch>
        </p:blipFill>
        <p:spPr>
          <a:xfrm>
            <a:off x="4937760" y="1234440"/>
            <a:ext cx="3749040" cy="23330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Only the total is known</a:t>
            </a:r>
            <a:endParaRPr lang="en-US" sz="3000" dirty="0"/>
          </a:p>
        </p:txBody>
      </p:sp>
      <p:sp>
        <p:nvSpPr>
          <p:cNvPr id="4" name="Hook text"/>
          <p:cNvSpPr txBox="1"/>
          <p:nvPr/>
        </p:nvSpPr>
        <p:spPr>
          <a:xfrm>
            <a:off x="457200" y="1143000"/>
            <a:ext cx="3931920" cy="1463040"/>
          </a:xfrm>
          <a:prstGeom prst="rect">
            <a:avLst/>
          </a:prstGeom>
          <a:noFill/>
          <a:ln/>
        </p:spPr>
        <p:txBody>
          <a:bodyPr wrap="square" lIns="0" tIns="0" rIns="0" bIns="0" rtlCol="0" anchor="t"/>
          <a:lstStyle/>
          <a:p>
            <a:pPr indent="0" marL="0">
              <a:buNone/>
            </a:pPr>
            <a:r>
              <a:rPr lang="en-US" sz="1800" dirty="0">
                <a:solidFill>
                  <a:schemeClr val="tx1"/>
                </a:solidFill>
              </a:rPr>
              <a:t>A triangle has base 8 cm and ∠B = 60°. We do not know AB or AC, only that AB + AC = 12 cm.</a:t>
            </a:r>
            <a:endParaRPr lang="en-US" sz="1800" dirty="0"/>
          </a:p>
        </p:txBody>
      </p:sp>
      <p:sp>
        <p:nvSpPr>
          <p:cNvPr id="5" name="Question"/>
          <p:cNvSpPr txBox="1"/>
          <p:nvPr/>
        </p:nvSpPr>
        <p:spPr>
          <a:xfrm>
            <a:off x="457200" y="2743200"/>
            <a:ext cx="3931920" cy="1097280"/>
          </a:xfrm>
          <a:prstGeom prst="rect">
            <a:avLst/>
          </a:prstGeom>
          <a:noFill/>
          <a:ln/>
        </p:spPr>
        <p:txBody>
          <a:bodyPr wrap="square" lIns="0" tIns="0" rIns="0" bIns="0" rtlCol="0" anchor="t"/>
          <a:lstStyle/>
          <a:p>
            <a:pPr indent="0" marL="0">
              <a:buNone/>
            </a:pPr>
            <a:r>
              <a:rPr lang="en-US" sz="1800" b="1" dirty="0">
                <a:solidFill>
                  <a:schemeClr val="tx1"/>
                </a:solidFill>
              </a:rPr>
              <a:t>Can we still draw it exactly?</a:t>
            </a:r>
            <a:endParaRPr lang="en-US" sz="1800" dirty="0"/>
          </a:p>
        </p:txBody>
      </p:sp>
      <p:sp>
        <p:nvSpPr>
          <p:cNvPr id="6" name="Hook image frame"/>
          <p:cNvSpPr/>
          <p:nvPr/>
        </p:nvSpPr>
        <p:spPr>
          <a:xfrm>
            <a:off x="4718304" y="1152144"/>
            <a:ext cx="4005072" cy="2520032"/>
          </a:xfrm>
          <a:prstGeom prst="roundRect">
            <a:avLst>
              <a:gd name="adj" fmla="val 2903"/>
            </a:avLst>
          </a:prstGeom>
          <a:solidFill>
            <a:schemeClr val="bg1"/>
          </a:solidFill>
          <a:ln w="12700">
            <a:solidFill>
              <a:schemeClr val="accent5"/>
            </a:solidFill>
            <a:prstDash val="solid"/>
          </a:ln>
        </p:spPr>
      </p:sp>
      <p:pic>
        <p:nvPicPr>
          <p:cNvPr id="7" name="Hook image" descr="/tmp/claude-0/-home-claude/7116491e-74ad-5a48-9637-67025fdd7b6d/scratchpad/deck/constructing-triangles/sum.png">    </p:cNvPr>
          <p:cNvPicPr>
            <a:picLocks noChangeAspect="1"/>
          </p:cNvPicPr>
          <p:nvPr/>
        </p:nvPicPr>
        <p:blipFill>
          <a:blip r:embed="rId1"/>
          <a:stretch>
            <a:fillRect/>
          </a:stretch>
        </p:blipFill>
        <p:spPr>
          <a:xfrm>
            <a:off x="4754880" y="1188720"/>
            <a:ext cx="3931920" cy="2446880"/>
          </a:xfrm>
          <a:prstGeom prst="rect">
            <a:avLst/>
          </a:prstGeom>
        </p:spPr>
      </p:pic>
      <p:sp>
        <p:nvSpPr>
          <p:cNvPr id="8" name="Caption"/>
          <p:cNvSpPr txBox="1"/>
          <p:nvPr/>
        </p:nvSpPr>
        <p:spPr>
          <a:xfrm>
            <a:off x="4754880" y="3745328"/>
            <a:ext cx="3931920" cy="411480"/>
          </a:xfrm>
          <a:prstGeom prst="rect">
            <a:avLst/>
          </a:prstGeom>
          <a:noFill/>
          <a:ln/>
        </p:spPr>
        <p:txBody>
          <a:bodyPr wrap="square" lIns="0" tIns="0" rIns="0" bIns="0" rtlCol="0" anchor="t"/>
          <a:lstStyle/>
          <a:p>
            <a:pPr indent="0" marL="0">
              <a:buNone/>
            </a:pPr>
            <a:r>
              <a:rPr lang="en-US" sz="1100" dirty="0">
                <a:solidFill>
                  <a:schemeClr val="tx2"/>
                </a:solidFill>
              </a:rPr>
              <a:t>Yes: AB = 5 cm and AC = 7 cm</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Given BC, ∠B and AB + AC</a:t>
            </a:r>
            <a:endParaRPr lang="en-US" sz="3000" dirty="0"/>
          </a:p>
        </p:txBody>
      </p:sp>
      <p:sp>
        <p:nvSpPr>
          <p:cNvPr id="4" name="Points"/>
          <p:cNvSpPr txBox="1"/>
          <p:nvPr/>
        </p:nvSpPr>
        <p:spPr>
          <a:xfrm>
            <a:off x="457200" y="1097280"/>
            <a:ext cx="4023360" cy="3383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Draw BC and ray BX at the given ∠B</a:t>
            </a:r>
            <a:endParaRPr lang="en-US" sz="1600" dirty="0"/>
          </a:p>
          <a:p>
            <a:pPr marL="342900" indent="-342900">
              <a:spcAft>
                <a:spcPts val="800"/>
              </a:spcAft>
              <a:buSzPct val="100000"/>
              <a:buChar char="•"/>
            </a:pPr>
            <a:r>
              <a:rPr lang="en-US" sz="1600" dirty="0">
                <a:solidFill>
                  <a:schemeClr val="tx1"/>
                </a:solidFill>
              </a:rPr>
              <a:t>Mark D on BX with BD = AB + AC; join DC</a:t>
            </a:r>
            <a:endParaRPr lang="en-US" sz="1600" dirty="0"/>
          </a:p>
          <a:p>
            <a:pPr marL="342900" indent="-342900">
              <a:spcAft>
                <a:spcPts val="800"/>
              </a:spcAft>
              <a:buSzPct val="100000"/>
              <a:buChar char="•"/>
            </a:pPr>
            <a:r>
              <a:rPr lang="en-US" sz="1600" dirty="0">
                <a:solidFill>
                  <a:schemeClr val="tx1"/>
                </a:solidFill>
              </a:rPr>
              <a:t>Perpendicular bisector of DC meets BX at A</a:t>
            </a:r>
            <a:endParaRPr lang="en-US" sz="1600" dirty="0"/>
          </a:p>
          <a:p>
            <a:pPr marL="342900" indent="-342900">
              <a:spcAft>
                <a:spcPts val="800"/>
              </a:spcAft>
              <a:buSzPct val="100000"/>
              <a:buChar char="•"/>
            </a:pPr>
            <a:r>
              <a:rPr lang="en-US" sz="1600" dirty="0">
                <a:solidFill>
                  <a:schemeClr val="tx1"/>
                </a:solidFill>
              </a:rPr>
              <a:t>Why: AD = AC, so AB + AC = AB + AD = BD</a:t>
            </a:r>
            <a:endParaRPr lang="en-US" sz="1600" dirty="0"/>
          </a:p>
        </p:txBody>
      </p:sp>
      <p:sp>
        <p:nvSpPr>
          <p:cNvPr id="5" name="Concept image frame"/>
          <p:cNvSpPr/>
          <p:nvPr/>
        </p:nvSpPr>
        <p:spPr>
          <a:xfrm>
            <a:off x="4809744" y="1106424"/>
            <a:ext cx="3913632" cy="2463128"/>
          </a:xfrm>
          <a:prstGeom prst="roundRect">
            <a:avLst>
              <a:gd name="adj" fmla="val 2970"/>
            </a:avLst>
          </a:prstGeom>
          <a:solidFill>
            <a:schemeClr val="bg1"/>
          </a:solidFill>
          <a:ln w="12700">
            <a:solidFill>
              <a:schemeClr val="accent5"/>
            </a:solidFill>
            <a:prstDash val="solid"/>
          </a:ln>
        </p:spPr>
      </p:sp>
      <p:pic>
        <p:nvPicPr>
          <p:cNvPr id="6" name="Concept image" descr="/tmp/claude-0/-home-claude/7116491e-74ad-5a48-9637-67025fdd7b6d/scratchpad/deck/constructing-triangles/sumStep.png">    </p:cNvPr>
          <p:cNvPicPr>
            <a:picLocks noChangeAspect="1"/>
          </p:cNvPicPr>
          <p:nvPr/>
        </p:nvPicPr>
        <p:blipFill>
          <a:blip r:embed="rId1"/>
          <a:stretch>
            <a:fillRect/>
          </a:stretch>
        </p:blipFill>
        <p:spPr>
          <a:xfrm>
            <a:off x="4846320" y="1143000"/>
            <a:ext cx="3840480" cy="2389976"/>
          </a:xfrm>
          <a:prstGeom prst="rect">
            <a:avLst/>
          </a:prstGeom>
        </p:spPr>
      </p:pic>
      <p:sp>
        <p:nvSpPr>
          <p:cNvPr id="7" name="Caption"/>
          <p:cNvSpPr txBox="1"/>
          <p:nvPr/>
        </p:nvSpPr>
        <p:spPr>
          <a:xfrm>
            <a:off x="4846320" y="3642704"/>
            <a:ext cx="3840480" cy="411480"/>
          </a:xfrm>
          <a:prstGeom prst="rect">
            <a:avLst/>
          </a:prstGeom>
          <a:noFill/>
          <a:ln/>
        </p:spPr>
        <p:txBody>
          <a:bodyPr wrap="square" lIns="0" tIns="0" rIns="0" bIns="0" rtlCol="0" anchor="t"/>
          <a:lstStyle/>
          <a:p>
            <a:pPr indent="0" marL="0">
              <a:buNone/>
            </a:pPr>
            <a:r>
              <a:rPr lang="en-US" sz="1100" dirty="0">
                <a:solidFill>
                  <a:schemeClr val="tx2"/>
                </a:solidFill>
              </a:rPr>
              <a:t>Step 4: join DC</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Given BC, ∠B and a difference</a:t>
            </a:r>
            <a:endParaRPr lang="en-US" sz="3000" dirty="0"/>
          </a:p>
        </p:txBody>
      </p:sp>
      <p:sp>
        <p:nvSpPr>
          <p:cNvPr id="4" name="AB − AC given image frame"/>
          <p:cNvSpPr/>
          <p:nvPr/>
        </p:nvSpPr>
        <p:spPr>
          <a:xfrm>
            <a:off x="420624" y="1060704"/>
            <a:ext cx="4096512" cy="2576937"/>
          </a:xfrm>
          <a:prstGeom prst="roundRect">
            <a:avLst>
              <a:gd name="adj" fmla="val 2839"/>
            </a:avLst>
          </a:prstGeom>
          <a:solidFill>
            <a:schemeClr val="bg1"/>
          </a:solidFill>
          <a:ln w="12700">
            <a:solidFill>
              <a:schemeClr val="accent5"/>
            </a:solidFill>
            <a:prstDash val="solid"/>
          </a:ln>
        </p:spPr>
      </p:sp>
      <p:pic>
        <p:nvPicPr>
          <p:cNvPr id="5" name="AB − AC given image" descr="/tmp/claude-0/-home-claude/7116491e-74ad-5a48-9637-67025fdd7b6d/scratchpad/deck/constructing-triangles/diffAB.png">    </p:cNvPr>
          <p:cNvPicPr>
            <a:picLocks noChangeAspect="1"/>
          </p:cNvPicPr>
          <p:nvPr/>
        </p:nvPicPr>
        <p:blipFill>
          <a:blip r:embed="rId1"/>
          <a:stretch>
            <a:fillRect/>
          </a:stretch>
        </p:blipFill>
        <p:spPr>
          <a:xfrm>
            <a:off x="457200" y="1097280"/>
            <a:ext cx="4023360" cy="2503785"/>
          </a:xfrm>
          <a:prstGeom prst="rect">
            <a:avLst/>
          </a:prstGeom>
        </p:spPr>
      </p:pic>
      <p:sp>
        <p:nvSpPr>
          <p:cNvPr id="6" name="AB − AC given text"/>
          <p:cNvSpPr txBox="1"/>
          <p:nvPr/>
        </p:nvSpPr>
        <p:spPr>
          <a:xfrm>
            <a:off x="457200" y="3738225"/>
            <a:ext cx="4023360" cy="457200"/>
          </a:xfrm>
          <a:prstGeom prst="rect">
            <a:avLst/>
          </a:prstGeom>
          <a:noFill/>
          <a:ln/>
        </p:spPr>
        <p:txBody>
          <a:bodyPr wrap="square" lIns="0" tIns="0" rIns="0" bIns="0" rtlCol="0" anchor="t"/>
          <a:lstStyle/>
          <a:p>
            <a:pPr indent="0" marL="0">
              <a:buNone/>
            </a:pPr>
            <a:r>
              <a:rPr lang="en-US" sz="1400" dirty="0">
                <a:solidFill>
                  <a:schemeClr val="tx1"/>
                </a:solidFill>
              </a:rPr>
              <a:t>AB − AC: D on ray BX, BD = 1 cm. AB = 8, AC = 7.</a:t>
            </a:r>
            <a:endParaRPr lang="en-US" sz="1400" dirty="0"/>
          </a:p>
        </p:txBody>
      </p:sp>
      <p:sp>
        <p:nvSpPr>
          <p:cNvPr id="7" name="AC − AB given image frame"/>
          <p:cNvSpPr/>
          <p:nvPr/>
        </p:nvSpPr>
        <p:spPr>
          <a:xfrm>
            <a:off x="4626864" y="1060704"/>
            <a:ext cx="4096512" cy="2576937"/>
          </a:xfrm>
          <a:prstGeom prst="roundRect">
            <a:avLst>
              <a:gd name="adj" fmla="val 2839"/>
            </a:avLst>
          </a:prstGeom>
          <a:solidFill>
            <a:schemeClr val="bg1"/>
          </a:solidFill>
          <a:ln w="12700">
            <a:solidFill>
              <a:schemeClr val="accent5"/>
            </a:solidFill>
            <a:prstDash val="solid"/>
          </a:ln>
        </p:spPr>
      </p:sp>
      <p:pic>
        <p:nvPicPr>
          <p:cNvPr id="8" name="AC − AB given image" descr="/tmp/claude-0/-home-claude/7116491e-74ad-5a48-9637-67025fdd7b6d/scratchpad/deck/constructing-triangles/diffAC.png">    </p:cNvPr>
          <p:cNvPicPr>
            <a:picLocks noChangeAspect="1"/>
          </p:cNvPicPr>
          <p:nvPr/>
        </p:nvPicPr>
        <p:blipFill>
          <a:blip r:embed="rId2"/>
          <a:stretch>
            <a:fillRect/>
          </a:stretch>
        </p:blipFill>
        <p:spPr>
          <a:xfrm>
            <a:off x="4663440" y="1097280"/>
            <a:ext cx="4023360" cy="2503785"/>
          </a:xfrm>
          <a:prstGeom prst="rect">
            <a:avLst/>
          </a:prstGeom>
        </p:spPr>
      </p:pic>
      <p:sp>
        <p:nvSpPr>
          <p:cNvPr id="9" name="AC − AB given text"/>
          <p:cNvSpPr txBox="1"/>
          <p:nvPr/>
        </p:nvSpPr>
        <p:spPr>
          <a:xfrm>
            <a:off x="4663440" y="3738225"/>
            <a:ext cx="4023360" cy="457200"/>
          </a:xfrm>
          <a:prstGeom prst="rect">
            <a:avLst/>
          </a:prstGeom>
          <a:noFill/>
          <a:ln/>
        </p:spPr>
        <p:txBody>
          <a:bodyPr wrap="square" lIns="0" tIns="0" rIns="0" bIns="0" rtlCol="0" anchor="t"/>
          <a:lstStyle/>
          <a:p>
            <a:pPr indent="0" marL="0">
              <a:buNone/>
            </a:pPr>
            <a:r>
              <a:rPr lang="en-US" sz="1400" dirty="0">
                <a:solidFill>
                  <a:schemeClr val="tx1"/>
                </a:solidFill>
              </a:rPr>
              <a:t>AC − AB: D on the opposite ray, BD = 2 cm. AB = 5, AC = 7.</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Given the perimeter and ∠B, ∠C</a:t>
            </a:r>
            <a:endParaRPr lang="en-US" sz="3000" dirty="0"/>
          </a:p>
        </p:txBody>
      </p:sp>
      <p:sp>
        <p:nvSpPr>
          <p:cNvPr id="4" name="Points"/>
          <p:cNvSpPr txBox="1"/>
          <p:nvPr/>
        </p:nvSpPr>
        <p:spPr>
          <a:xfrm>
            <a:off x="4663440" y="1097280"/>
            <a:ext cx="4023360" cy="3383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Draw XY = AB + BC + CA</a:t>
            </a:r>
            <a:endParaRPr lang="en-US" sz="1600" dirty="0"/>
          </a:p>
          <a:p>
            <a:pPr marL="342900" indent="-342900">
              <a:spcAft>
                <a:spcPts val="800"/>
              </a:spcAft>
              <a:buSzPct val="100000"/>
              <a:buChar char="•"/>
            </a:pPr>
            <a:r>
              <a:rPr lang="en-US" sz="1600" dirty="0">
                <a:solidFill>
                  <a:schemeClr val="tx1"/>
                </a:solidFill>
              </a:rPr>
              <a:t>At X draw ½∠B, at Y draw ½∠C; the rays meet at A</a:t>
            </a:r>
            <a:endParaRPr lang="en-US" sz="1600" dirty="0"/>
          </a:p>
          <a:p>
            <a:pPr marL="342900" indent="-342900">
              <a:spcAft>
                <a:spcPts val="800"/>
              </a:spcAft>
              <a:buSzPct val="100000"/>
              <a:buChar char="•"/>
            </a:pPr>
            <a:r>
              <a:rPr lang="en-US" sz="1600" dirty="0">
                <a:solidFill>
                  <a:schemeClr val="tx1"/>
                </a:solidFill>
              </a:rPr>
              <a:t>Perpendicular bisectors of AX and AY give B and C</a:t>
            </a:r>
            <a:endParaRPr lang="en-US" sz="1600" dirty="0"/>
          </a:p>
          <a:p>
            <a:pPr marL="342900" indent="-342900">
              <a:spcAft>
                <a:spcPts val="800"/>
              </a:spcAft>
              <a:buSzPct val="100000"/>
              <a:buChar char="•"/>
            </a:pPr>
            <a:r>
              <a:rPr lang="en-US" sz="1600" dirty="0">
                <a:solidFill>
                  <a:schemeClr val="tx1"/>
                </a:solidFill>
              </a:rPr>
              <a:t>BX = BA and CY = CA, so XY is the perimeter</a:t>
            </a:r>
            <a:endParaRPr lang="en-US" sz="1600" dirty="0"/>
          </a:p>
        </p:txBody>
      </p:sp>
      <p:sp>
        <p:nvSpPr>
          <p:cNvPr id="5" name="Concept image frame"/>
          <p:cNvSpPr/>
          <p:nvPr/>
        </p:nvSpPr>
        <p:spPr>
          <a:xfrm>
            <a:off x="420624" y="1106424"/>
            <a:ext cx="3913632" cy="2463128"/>
          </a:xfrm>
          <a:prstGeom prst="roundRect">
            <a:avLst>
              <a:gd name="adj" fmla="val 2970"/>
            </a:avLst>
          </a:prstGeom>
          <a:solidFill>
            <a:schemeClr val="bg1"/>
          </a:solidFill>
          <a:ln w="12700">
            <a:solidFill>
              <a:schemeClr val="accent5"/>
            </a:solidFill>
            <a:prstDash val="solid"/>
          </a:ln>
        </p:spPr>
      </p:sp>
      <p:pic>
        <p:nvPicPr>
          <p:cNvPr id="6" name="Concept image" descr="/tmp/claude-0/-home-claude/7116491e-74ad-5a48-9637-67025fdd7b6d/scratchpad/deck/constructing-triangles/perim.png">    </p:cNvPr>
          <p:cNvPicPr>
            <a:picLocks noChangeAspect="1"/>
          </p:cNvPicPr>
          <p:nvPr/>
        </p:nvPicPr>
        <p:blipFill>
          <a:blip r:embed="rId1"/>
          <a:stretch>
            <a:fillRect/>
          </a:stretch>
        </p:blipFill>
        <p:spPr>
          <a:xfrm>
            <a:off x="457200" y="1143000"/>
            <a:ext cx="3840480" cy="2389976"/>
          </a:xfrm>
          <a:prstGeom prst="rect">
            <a:avLst/>
          </a:prstGeom>
        </p:spPr>
      </p:pic>
      <p:sp>
        <p:nvSpPr>
          <p:cNvPr id="7" name="Caption"/>
          <p:cNvSpPr txBox="1"/>
          <p:nvPr/>
        </p:nvSpPr>
        <p:spPr>
          <a:xfrm>
            <a:off x="457200" y="3642704"/>
            <a:ext cx="3840480" cy="411480"/>
          </a:xfrm>
          <a:prstGeom prst="rect">
            <a:avLst/>
          </a:prstGeom>
          <a:noFill/>
          <a:ln/>
        </p:spPr>
        <p:txBody>
          <a:bodyPr wrap="square" lIns="0" tIns="0" rIns="0" bIns="0" rtlCol="0" anchor="t"/>
          <a:lstStyle/>
          <a:p>
            <a:pPr indent="0" marL="0">
              <a:buNone/>
            </a:pPr>
            <a:r>
              <a:rPr lang="en-US" sz="1100" dirty="0">
                <a:solidFill>
                  <a:schemeClr val="tx2"/>
                </a:solidFill>
              </a:rPr>
              <a:t>∠B = 70°, ∠C = 50°, perimeter 12 cm</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Before you draw</a:t>
            </a:r>
            <a:endParaRPr lang="en-US" sz="3000" dirty="0"/>
          </a:p>
        </p:txBody>
      </p:sp>
      <p:sp>
        <p:nvSpPr>
          <p:cNvPr id="4" name="Card 1"/>
          <p:cNvSpPr/>
          <p:nvPr/>
        </p:nvSpPr>
        <p:spPr>
          <a:xfrm>
            <a:off x="457200" y="1188720"/>
            <a:ext cx="2602992" cy="3017520"/>
          </a:xfrm>
          <a:prstGeom prst="roundRect">
            <a:avLst>
              <a:gd name="adj" fmla="val 4215"/>
            </a:avLst>
          </a:prstGeom>
          <a:solidFill>
            <a:schemeClr val="accent4"/>
          </a:solidFill>
          <a:ln w="12700">
            <a:solidFill>
              <a:schemeClr val="accent4"/>
            </a:solidFill>
            <a:prstDash val="solid"/>
          </a:ln>
        </p:spPr>
      </p:sp>
      <p:pic>
        <p:nvPicPr>
          <p:cNvPr id="5" name="Icon 1" descr="preencoded.png">    </p:cNvPr>
          <p:cNvPicPr>
            <a:picLocks noChangeAspect="1"/>
          </p:cNvPicPr>
          <p:nvPr/>
        </p:nvPicPr>
        <p:blipFill>
          <a:blip r:embed="rId1"/>
          <a:stretch>
            <a:fillRect/>
          </a:stretch>
        </p:blipFill>
        <p:spPr>
          <a:xfrm>
            <a:off x="731520" y="1463040"/>
            <a:ext cx="548640" cy="548640"/>
          </a:xfrm>
          <a:prstGeom prst="rect">
            <a:avLst/>
          </a:prstGeom>
        </p:spPr>
      </p:pic>
      <p:sp>
        <p:nvSpPr>
          <p:cNvPr id="6" name="Card head 1"/>
          <p:cNvSpPr txBox="1"/>
          <p:nvPr/>
        </p:nvSpPr>
        <p:spPr>
          <a:xfrm>
            <a:off x="731520" y="2240280"/>
            <a:ext cx="2054352" cy="685800"/>
          </a:xfrm>
          <a:prstGeom prst="rect">
            <a:avLst/>
          </a:prstGeom>
          <a:noFill/>
          <a:ln/>
        </p:spPr>
        <p:txBody>
          <a:bodyPr wrap="square" lIns="0" tIns="0" rIns="0" bIns="0" rtlCol="0" anchor="t"/>
          <a:lstStyle/>
          <a:p>
            <a:pPr indent="0" marL="0">
              <a:buNone/>
            </a:pPr>
            <a:r>
              <a:rPr lang="en-US" sz="1800" b="1" dirty="0">
                <a:solidFill>
                  <a:schemeClr val="tx1"/>
                </a:solidFill>
              </a:rPr>
              <a:t>Rough figure</a:t>
            </a:r>
            <a:endParaRPr lang="en-US" sz="1800" dirty="0"/>
          </a:p>
        </p:txBody>
      </p:sp>
      <p:sp>
        <p:nvSpPr>
          <p:cNvPr id="7" name="Card body 1"/>
          <p:cNvSpPr txBox="1"/>
          <p:nvPr/>
        </p:nvSpPr>
        <p:spPr>
          <a:xfrm>
            <a:off x="731520" y="2971800"/>
            <a:ext cx="2054352" cy="1143000"/>
          </a:xfrm>
          <a:prstGeom prst="rect">
            <a:avLst/>
          </a:prstGeom>
          <a:noFill/>
          <a:ln/>
        </p:spPr>
        <p:txBody>
          <a:bodyPr wrap="square" lIns="0" tIns="0" rIns="0" bIns="0" rtlCol="0" anchor="t"/>
          <a:lstStyle/>
          <a:p>
            <a:pPr indent="0" marL="0">
              <a:buNone/>
            </a:pPr>
            <a:r>
              <a:rPr lang="en-US" sz="1400" dirty="0">
                <a:solidFill>
                  <a:schemeClr val="tx1"/>
                </a:solidFill>
              </a:rPr>
              <a:t>Sketch the triangle and mark the given measures.</a:t>
            </a:r>
            <a:endParaRPr lang="en-US" sz="1400" dirty="0"/>
          </a:p>
        </p:txBody>
      </p:sp>
      <p:sp>
        <p:nvSpPr>
          <p:cNvPr id="8" name="Card 2"/>
          <p:cNvSpPr/>
          <p:nvPr/>
        </p:nvSpPr>
        <p:spPr>
          <a:xfrm>
            <a:off x="3270504" y="1188720"/>
            <a:ext cx="2602992" cy="3017520"/>
          </a:xfrm>
          <a:prstGeom prst="roundRect">
            <a:avLst>
              <a:gd name="adj" fmla="val 4215"/>
            </a:avLst>
          </a:prstGeom>
          <a:solidFill>
            <a:schemeClr val="accent6"/>
          </a:solidFill>
          <a:ln w="12700">
            <a:solidFill>
              <a:schemeClr val="accent6"/>
            </a:solidFill>
            <a:prstDash val="solid"/>
          </a:ln>
        </p:spPr>
      </p:sp>
      <p:pic>
        <p:nvPicPr>
          <p:cNvPr id="9" name="Icon 2" descr="preencoded.png">    </p:cNvPr>
          <p:cNvPicPr>
            <a:picLocks noChangeAspect="1"/>
          </p:cNvPicPr>
          <p:nvPr/>
        </p:nvPicPr>
        <p:blipFill>
          <a:blip r:embed="rId2"/>
          <a:stretch>
            <a:fillRect/>
          </a:stretch>
        </p:blipFill>
        <p:spPr>
          <a:xfrm>
            <a:off x="3544824" y="1463040"/>
            <a:ext cx="548640" cy="548640"/>
          </a:xfrm>
          <a:prstGeom prst="rect">
            <a:avLst/>
          </a:prstGeom>
        </p:spPr>
      </p:pic>
      <p:sp>
        <p:nvSpPr>
          <p:cNvPr id="10" name="Card head 2"/>
          <p:cNvSpPr txBox="1"/>
          <p:nvPr/>
        </p:nvSpPr>
        <p:spPr>
          <a:xfrm>
            <a:off x="3544824" y="2240280"/>
            <a:ext cx="2054352" cy="685800"/>
          </a:xfrm>
          <a:prstGeom prst="rect">
            <a:avLst/>
          </a:prstGeom>
          <a:noFill/>
          <a:ln/>
        </p:spPr>
        <p:txBody>
          <a:bodyPr wrap="square" lIns="0" tIns="0" rIns="0" bIns="0" rtlCol="0" anchor="t"/>
          <a:lstStyle/>
          <a:p>
            <a:pPr indent="0" marL="0">
              <a:buNone/>
            </a:pPr>
            <a:r>
              <a:rPr lang="en-US" sz="1800" b="1" dirty="0">
                <a:solidFill>
                  <a:schemeClr val="tx1"/>
                </a:solidFill>
              </a:rPr>
              <a:t>Check it exists</a:t>
            </a:r>
            <a:endParaRPr lang="en-US" sz="1800" dirty="0"/>
          </a:p>
        </p:txBody>
      </p:sp>
      <p:sp>
        <p:nvSpPr>
          <p:cNvPr id="11" name="Card body 2"/>
          <p:cNvSpPr txBox="1"/>
          <p:nvPr/>
        </p:nvSpPr>
        <p:spPr>
          <a:xfrm>
            <a:off x="3544824" y="2971800"/>
            <a:ext cx="2054352" cy="1143000"/>
          </a:xfrm>
          <a:prstGeom prst="rect">
            <a:avLst/>
          </a:prstGeom>
          <a:noFill/>
          <a:ln/>
        </p:spPr>
        <p:txBody>
          <a:bodyPr wrap="square" lIns="0" tIns="0" rIns="0" bIns="0" rtlCol="0" anchor="t"/>
          <a:lstStyle/>
          <a:p>
            <a:pPr indent="0" marL="0">
              <a:buNone/>
            </a:pPr>
            <a:r>
              <a:rPr lang="en-US" sz="1400" dirty="0">
                <a:solidFill>
                  <a:schemeClr val="tx1"/>
                </a:solidFill>
              </a:rPr>
              <a:t>Sum of two sides &gt; third side. Difference &lt; third side.</a:t>
            </a:r>
            <a:endParaRPr lang="en-US" sz="1400" dirty="0"/>
          </a:p>
        </p:txBody>
      </p:sp>
      <p:sp>
        <p:nvSpPr>
          <p:cNvPr id="12" name="Card 3"/>
          <p:cNvSpPr/>
          <p:nvPr/>
        </p:nvSpPr>
        <p:spPr>
          <a:xfrm>
            <a:off x="6083808" y="1188720"/>
            <a:ext cx="2602992" cy="3017520"/>
          </a:xfrm>
          <a:prstGeom prst="roundRect">
            <a:avLst>
              <a:gd name="adj" fmla="val 4215"/>
            </a:avLst>
          </a:prstGeom>
          <a:solidFill>
            <a:srgbClr val="FBEAE5"/>
          </a:solidFill>
          <a:ln w="12700">
            <a:solidFill>
              <a:srgbClr val="FBEAE5"/>
            </a:solidFill>
            <a:prstDash val="solid"/>
          </a:ln>
        </p:spPr>
      </p:sp>
      <p:pic>
        <p:nvPicPr>
          <p:cNvPr id="13" name="Icon 3" descr="preencoded.png">    </p:cNvPr>
          <p:cNvPicPr>
            <a:picLocks noChangeAspect="1"/>
          </p:cNvPicPr>
          <p:nvPr/>
        </p:nvPicPr>
        <p:blipFill>
          <a:blip r:embed="rId3"/>
          <a:stretch>
            <a:fillRect/>
          </a:stretch>
        </p:blipFill>
        <p:spPr>
          <a:xfrm>
            <a:off x="6358128" y="1463040"/>
            <a:ext cx="548640" cy="548640"/>
          </a:xfrm>
          <a:prstGeom prst="rect">
            <a:avLst/>
          </a:prstGeom>
        </p:spPr>
      </p:pic>
      <p:sp>
        <p:nvSpPr>
          <p:cNvPr id="14" name="Card head 3"/>
          <p:cNvSpPr txBox="1"/>
          <p:nvPr/>
        </p:nvSpPr>
        <p:spPr>
          <a:xfrm>
            <a:off x="6358128" y="2240280"/>
            <a:ext cx="2054352" cy="685800"/>
          </a:xfrm>
          <a:prstGeom prst="rect">
            <a:avLst/>
          </a:prstGeom>
          <a:noFill/>
          <a:ln/>
        </p:spPr>
        <p:txBody>
          <a:bodyPr wrap="square" lIns="0" tIns="0" rIns="0" bIns="0" rtlCol="0" anchor="t"/>
          <a:lstStyle/>
          <a:p>
            <a:pPr indent="0" marL="0">
              <a:buNone/>
            </a:pPr>
            <a:r>
              <a:rPr lang="en-US" sz="1800" b="1" dirty="0">
                <a:solidFill>
                  <a:schemeClr val="tx1"/>
                </a:solidFill>
              </a:rPr>
              <a:t>Find A</a:t>
            </a:r>
            <a:endParaRPr lang="en-US" sz="1800" dirty="0"/>
          </a:p>
        </p:txBody>
      </p:sp>
      <p:sp>
        <p:nvSpPr>
          <p:cNvPr id="15" name="Card body 3"/>
          <p:cNvSpPr txBox="1"/>
          <p:nvPr/>
        </p:nvSpPr>
        <p:spPr>
          <a:xfrm>
            <a:off x="6358128" y="2971800"/>
            <a:ext cx="2054352" cy="1143000"/>
          </a:xfrm>
          <a:prstGeom prst="rect">
            <a:avLst/>
          </a:prstGeom>
          <a:noFill/>
          <a:ln/>
        </p:spPr>
        <p:txBody>
          <a:bodyPr wrap="square" lIns="0" tIns="0" rIns="0" bIns="0" rtlCol="0" anchor="t"/>
          <a:lstStyle/>
          <a:p>
            <a:pPr indent="0" marL="0">
              <a:buNone/>
            </a:pPr>
            <a:r>
              <a:rPr lang="en-US" sz="1400" dirty="0">
                <a:solidFill>
                  <a:schemeClr val="tx1"/>
                </a:solidFill>
              </a:rPr>
              <a:t>Every method finds the last vertex with a perpendicular bisector.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Worked examples</a:t>
            </a:r>
            <a:endParaRPr lang="en-US" sz="3000" dirty="0"/>
          </a:p>
        </p:txBody>
      </p:sp>
      <p:sp>
        <p:nvSpPr>
          <p:cNvPr id="4" name="Example card 1"/>
          <p:cNvSpPr/>
          <p:nvPr/>
        </p:nvSpPr>
        <p:spPr>
          <a:xfrm>
            <a:off x="457200" y="1097280"/>
            <a:ext cx="4023360" cy="3429000"/>
          </a:xfrm>
          <a:prstGeom prst="roundRect">
            <a:avLst>
              <a:gd name="adj" fmla="val 3200"/>
            </a:avLst>
          </a:prstGeom>
          <a:solidFill>
            <a:schemeClr val="bg2"/>
          </a:solidFill>
          <a:ln w="12700">
            <a:solidFill>
              <a:schemeClr val="bg2"/>
            </a:solidFill>
            <a:prstDash val="solid"/>
          </a:ln>
        </p:spPr>
      </p:sp>
      <p:sp>
        <p:nvSpPr>
          <p:cNvPr id="5" name="Example head 1"/>
          <p:cNvSpPr txBox="1"/>
          <p:nvPr/>
        </p:nvSpPr>
        <p:spPr>
          <a:xfrm>
            <a:off x="685800" y="1280160"/>
            <a:ext cx="3566160" cy="365760"/>
          </a:xfrm>
          <a:prstGeom prst="rect">
            <a:avLst/>
          </a:prstGeom>
          <a:noFill/>
          <a:ln/>
        </p:spPr>
        <p:txBody>
          <a:bodyPr wrap="square" lIns="0" tIns="0" rIns="0" bIns="0" rtlCol="0" anchor="t"/>
          <a:lstStyle/>
          <a:p>
            <a:pPr indent="0" marL="0">
              <a:buNone/>
            </a:pPr>
            <a:r>
              <a:rPr lang="en-US" sz="1800" b="1" dirty="0">
                <a:solidFill>
                  <a:schemeClr val="tx1"/>
                </a:solidFill>
              </a:rPr>
              <a:t>Sum</a:t>
            </a:r>
            <a:endParaRPr lang="en-US" sz="1800" dirty="0"/>
          </a:p>
        </p:txBody>
      </p:sp>
      <p:sp>
        <p:nvSpPr>
          <p:cNvPr id="6" name="Problem 1"/>
          <p:cNvSpPr txBox="1"/>
          <p:nvPr/>
        </p:nvSpPr>
        <p:spPr>
          <a:xfrm>
            <a:off x="685800" y="1737360"/>
            <a:ext cx="3566160" cy="914400"/>
          </a:xfrm>
          <a:prstGeom prst="rect">
            <a:avLst/>
          </a:prstGeom>
          <a:noFill/>
          <a:ln/>
        </p:spPr>
        <p:txBody>
          <a:bodyPr wrap="square" lIns="0" tIns="0" rIns="0" bIns="0" rtlCol="0" anchor="t"/>
          <a:lstStyle/>
          <a:p>
            <a:pPr indent="0" marL="0">
              <a:buNone/>
            </a:pPr>
            <a:r>
              <a:rPr lang="en-US" sz="1500" i="1" dirty="0">
                <a:solidFill>
                  <a:schemeClr val="tx1"/>
                </a:solidFill>
              </a:rPr>
              <a:t>BC = 8 cm, ∠B = 60°, AB + AC = 12 cm.</a:t>
            </a:r>
            <a:endParaRPr lang="en-US" sz="1500" dirty="0"/>
          </a:p>
        </p:txBody>
      </p:sp>
      <p:sp>
        <p:nvSpPr>
          <p:cNvPr id="7" name="Solution 1"/>
          <p:cNvSpPr txBox="1"/>
          <p:nvPr/>
        </p:nvSpPr>
        <p:spPr>
          <a:xfrm>
            <a:off x="685800" y="2743200"/>
            <a:ext cx="3566160" cy="169164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BD = 12 cm on ray BX; join DC</a:t>
            </a:r>
            <a:pPr indent="0" marL="0">
              <a:spcAft>
                <a:spcPts val="800"/>
              </a:spcAft>
              <a:buNone/>
            </a:pPr>
            <a:endParaRPr lang="en-US" sz="1500" dirty="0"/>
          </a:p>
          <a:p>
            <a:pPr indent="0" marL="0">
              <a:spcAft>
                <a:spcPts val="800"/>
              </a:spcAft>
              <a:buNone/>
            </a:pPr>
            <a:r>
              <a:rPr lang="en-US" sz="1500" dirty="0">
                <a:solidFill>
                  <a:schemeClr val="tx1"/>
                </a:solidFill>
              </a:rPr>
              <a:t>Perpendicular bisector of DC gives A</a:t>
            </a:r>
            <a:pPr indent="0" marL="0">
              <a:spcAft>
                <a:spcPts val="800"/>
              </a:spcAft>
              <a:buNone/>
            </a:pPr>
            <a:endParaRPr lang="en-US" sz="1500" dirty="0"/>
          </a:p>
          <a:p>
            <a:pPr indent="0" marL="0">
              <a:spcAft>
                <a:spcPts val="800"/>
              </a:spcAft>
              <a:buNone/>
            </a:pPr>
            <a:r>
              <a:rPr lang="en-US" sz="1500" dirty="0">
                <a:solidFill>
                  <a:schemeClr val="tx1"/>
                </a:solidFill>
              </a:rPr>
              <a:t>Measure: </a:t>
            </a:r>
            <a:pPr indent="0" marL="0">
              <a:spcAft>
                <a:spcPts val="800"/>
              </a:spcAft>
              <a:buNone/>
            </a:pPr>
            <a:r>
              <a:rPr lang="en-US" sz="1500" b="1" dirty="0">
                <a:solidFill>
                  <a:schemeClr val="accent1"/>
                </a:solidFill>
              </a:rPr>
              <a:t>AB = 5 cm, AC = 7 cm</a:t>
            </a:r>
            <a:endParaRPr lang="en-US" sz="1500" dirty="0"/>
          </a:p>
        </p:txBody>
      </p:sp>
      <p:sp>
        <p:nvSpPr>
          <p:cNvPr id="8" name="Example card 2"/>
          <p:cNvSpPr/>
          <p:nvPr/>
        </p:nvSpPr>
        <p:spPr>
          <a:xfrm>
            <a:off x="4663440" y="1097280"/>
            <a:ext cx="4023360" cy="3429000"/>
          </a:xfrm>
          <a:prstGeom prst="roundRect">
            <a:avLst>
              <a:gd name="adj" fmla="val 3200"/>
            </a:avLst>
          </a:prstGeom>
          <a:solidFill>
            <a:schemeClr val="bg2"/>
          </a:solidFill>
          <a:ln w="12700">
            <a:solidFill>
              <a:schemeClr val="bg2"/>
            </a:solidFill>
            <a:prstDash val="solid"/>
          </a:ln>
        </p:spPr>
      </p:sp>
      <p:sp>
        <p:nvSpPr>
          <p:cNvPr id="9" name="Example head 2"/>
          <p:cNvSpPr txBox="1"/>
          <p:nvPr/>
        </p:nvSpPr>
        <p:spPr>
          <a:xfrm>
            <a:off x="4892040" y="1280160"/>
            <a:ext cx="3566160" cy="365760"/>
          </a:xfrm>
          <a:prstGeom prst="rect">
            <a:avLst/>
          </a:prstGeom>
          <a:noFill/>
          <a:ln/>
        </p:spPr>
        <p:txBody>
          <a:bodyPr wrap="square" lIns="0" tIns="0" rIns="0" bIns="0" rtlCol="0" anchor="t"/>
          <a:lstStyle/>
          <a:p>
            <a:pPr indent="0" marL="0">
              <a:buNone/>
            </a:pPr>
            <a:r>
              <a:rPr lang="en-US" sz="1800" b="1" dirty="0">
                <a:solidFill>
                  <a:schemeClr val="tx1"/>
                </a:solidFill>
              </a:rPr>
              <a:t>Difference</a:t>
            </a:r>
            <a:endParaRPr lang="en-US" sz="1800" dirty="0"/>
          </a:p>
        </p:txBody>
      </p:sp>
      <p:sp>
        <p:nvSpPr>
          <p:cNvPr id="10" name="Problem 2"/>
          <p:cNvSpPr txBox="1"/>
          <p:nvPr/>
        </p:nvSpPr>
        <p:spPr>
          <a:xfrm>
            <a:off x="4892040" y="1737360"/>
            <a:ext cx="3566160" cy="914400"/>
          </a:xfrm>
          <a:prstGeom prst="rect">
            <a:avLst/>
          </a:prstGeom>
          <a:noFill/>
          <a:ln/>
        </p:spPr>
        <p:txBody>
          <a:bodyPr wrap="square" lIns="0" tIns="0" rIns="0" bIns="0" rtlCol="0" anchor="t"/>
          <a:lstStyle/>
          <a:p>
            <a:pPr indent="0" marL="0">
              <a:buNone/>
            </a:pPr>
            <a:r>
              <a:rPr lang="en-US" sz="1500" i="1" dirty="0">
                <a:solidFill>
                  <a:schemeClr val="tx1"/>
                </a:solidFill>
              </a:rPr>
              <a:t>BC = 5 cm, ∠B = 60°, AB − AC = 1 cm.</a:t>
            </a:r>
            <a:endParaRPr lang="en-US" sz="1500" dirty="0"/>
          </a:p>
        </p:txBody>
      </p:sp>
      <p:sp>
        <p:nvSpPr>
          <p:cNvPr id="11" name="Solution 2"/>
          <p:cNvSpPr txBox="1"/>
          <p:nvPr/>
        </p:nvSpPr>
        <p:spPr>
          <a:xfrm>
            <a:off x="4892040" y="2743200"/>
            <a:ext cx="3566160" cy="169164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BD = 1 cm on ray BX; join DC</a:t>
            </a:r>
            <a:pPr indent="0" marL="0">
              <a:spcAft>
                <a:spcPts val="800"/>
              </a:spcAft>
              <a:buNone/>
            </a:pPr>
            <a:endParaRPr lang="en-US" sz="1500" dirty="0"/>
          </a:p>
          <a:p>
            <a:pPr indent="0" marL="0">
              <a:spcAft>
                <a:spcPts val="800"/>
              </a:spcAft>
              <a:buNone/>
            </a:pPr>
            <a:r>
              <a:rPr lang="en-US" sz="1500" dirty="0">
                <a:solidFill>
                  <a:schemeClr val="tx1"/>
                </a:solidFill>
              </a:rPr>
              <a:t>Perpendicular bisector of DC gives A</a:t>
            </a:r>
            <a:pPr indent="0" marL="0">
              <a:spcAft>
                <a:spcPts val="800"/>
              </a:spcAft>
              <a:buNone/>
            </a:pPr>
            <a:endParaRPr lang="en-US" sz="1500" dirty="0"/>
          </a:p>
          <a:p>
            <a:pPr indent="0" marL="0">
              <a:spcAft>
                <a:spcPts val="800"/>
              </a:spcAft>
              <a:buNone/>
            </a:pPr>
            <a:r>
              <a:rPr lang="en-US" sz="1500" dirty="0">
                <a:solidFill>
                  <a:schemeClr val="tx1"/>
                </a:solidFill>
              </a:rPr>
              <a:t>Measure: </a:t>
            </a:r>
            <a:pPr indent="0" marL="0">
              <a:spcAft>
                <a:spcPts val="800"/>
              </a:spcAft>
              <a:buNone/>
            </a:pPr>
            <a:r>
              <a:rPr lang="en-US" sz="1500" b="1" dirty="0">
                <a:solidFill>
                  <a:schemeClr val="accent1"/>
                </a:solidFill>
              </a:rPr>
              <a:t>AB = 8 cm, AC = 7 cm</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Worked example: perimeter</a:t>
            </a:r>
            <a:endParaRPr lang="en-US" sz="3000" dirty="0"/>
          </a:p>
        </p:txBody>
      </p:sp>
      <p:sp>
        <p:nvSpPr>
          <p:cNvPr id="4" name="Problem 1"/>
          <p:cNvSpPr txBox="1"/>
          <p:nvPr/>
        </p:nvSpPr>
        <p:spPr>
          <a:xfrm>
            <a:off x="457200" y="1097280"/>
            <a:ext cx="4114800" cy="914400"/>
          </a:xfrm>
          <a:prstGeom prst="rect">
            <a:avLst/>
          </a:prstGeom>
          <a:noFill/>
          <a:ln/>
        </p:spPr>
        <p:txBody>
          <a:bodyPr wrap="square" lIns="0" tIns="0" rIns="0" bIns="0" rtlCol="0" anchor="t"/>
          <a:lstStyle/>
          <a:p>
            <a:pPr indent="0" marL="0">
              <a:buNone/>
            </a:pPr>
            <a:r>
              <a:rPr lang="en-US" sz="1500" i="1" dirty="0">
                <a:solidFill>
                  <a:schemeClr val="tx1"/>
                </a:solidFill>
              </a:rPr>
              <a:t>Construct △ABC with ∠B = ∠C = 60° and perimeter 15 cm. What kind of triangle is it?</a:t>
            </a:r>
            <a:endParaRPr lang="en-US" sz="1500" dirty="0"/>
          </a:p>
        </p:txBody>
      </p:sp>
      <p:sp>
        <p:nvSpPr>
          <p:cNvPr id="5" name="Solution 1"/>
          <p:cNvSpPr txBox="1"/>
          <p:nvPr/>
        </p:nvSpPr>
        <p:spPr>
          <a:xfrm>
            <a:off x="457200" y="2103120"/>
            <a:ext cx="4114800" cy="233172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XY = 15 cm; draw 30° at X and at Y</a:t>
            </a:r>
            <a:pPr indent="0" marL="0">
              <a:spcAft>
                <a:spcPts val="800"/>
              </a:spcAft>
              <a:buNone/>
            </a:pPr>
            <a:endParaRPr lang="en-US" sz="1500" dirty="0"/>
          </a:p>
          <a:p>
            <a:pPr indent="0" marL="0">
              <a:spcAft>
                <a:spcPts val="800"/>
              </a:spcAft>
              <a:buNone/>
            </a:pPr>
            <a:r>
              <a:rPr lang="en-US" sz="1500" dirty="0">
                <a:solidFill>
                  <a:schemeClr val="tx1"/>
                </a:solidFill>
              </a:rPr>
              <a:t>Perpendicular bisectors of AX, AY give B, C</a:t>
            </a:r>
            <a:pPr indent="0" marL="0">
              <a:spcAft>
                <a:spcPts val="800"/>
              </a:spcAft>
              <a:buNone/>
            </a:pPr>
            <a:endParaRPr lang="en-US" sz="1500" dirty="0"/>
          </a:p>
          <a:p>
            <a:pPr indent="0" marL="0">
              <a:spcAft>
                <a:spcPts val="800"/>
              </a:spcAft>
              <a:buNone/>
            </a:pPr>
            <a:r>
              <a:rPr lang="en-US" sz="1500" dirty="0">
                <a:solidFill>
                  <a:schemeClr val="tx1"/>
                </a:solidFill>
              </a:rPr>
              <a:t>∠A = 60°: </a:t>
            </a:r>
            <a:pPr indent="0" marL="0">
              <a:spcAft>
                <a:spcPts val="800"/>
              </a:spcAft>
              <a:buNone/>
            </a:pPr>
            <a:r>
              <a:rPr lang="en-US" sz="1500" b="1" dirty="0">
                <a:solidFill>
                  <a:schemeClr val="accent1"/>
                </a:solidFill>
              </a:rPr>
              <a:t>equilateral, sides 5 cm</a:t>
            </a:r>
            <a:endParaRPr lang="en-US" sz="1500" dirty="0"/>
          </a:p>
        </p:txBody>
      </p:sp>
      <p:sp>
        <p:nvSpPr>
          <p:cNvPr id="6" name="Example image frame"/>
          <p:cNvSpPr/>
          <p:nvPr/>
        </p:nvSpPr>
        <p:spPr>
          <a:xfrm>
            <a:off x="4809744" y="1106424"/>
            <a:ext cx="3913632" cy="2463128"/>
          </a:xfrm>
          <a:prstGeom prst="roundRect">
            <a:avLst>
              <a:gd name="adj" fmla="val 2970"/>
            </a:avLst>
          </a:prstGeom>
          <a:solidFill>
            <a:schemeClr val="bg1"/>
          </a:solidFill>
          <a:ln w="12700">
            <a:solidFill>
              <a:schemeClr val="accent5"/>
            </a:solidFill>
            <a:prstDash val="solid"/>
          </a:ln>
        </p:spPr>
      </p:sp>
      <p:pic>
        <p:nvPicPr>
          <p:cNvPr id="7" name="Example image" descr="/tmp/claude-0/-home-claude/7116491e-74ad-5a48-9637-67025fdd7b6d/scratchpad/deck/constructing-triangles/equi.png">    </p:cNvPr>
          <p:cNvPicPr>
            <a:picLocks noChangeAspect="1"/>
          </p:cNvPicPr>
          <p:nvPr/>
        </p:nvPicPr>
        <p:blipFill>
          <a:blip r:embed="rId1"/>
          <a:stretch>
            <a:fillRect/>
          </a:stretch>
        </p:blipFill>
        <p:spPr>
          <a:xfrm>
            <a:off x="4846320" y="1143000"/>
            <a:ext cx="3840480" cy="2389976"/>
          </a:xfrm>
          <a:prstGeom prst="rect">
            <a:avLst/>
          </a:prstGeom>
        </p:spPr>
      </p:pic>
      <p:sp>
        <p:nvSpPr>
          <p:cNvPr id="8" name="Caption"/>
          <p:cNvSpPr txBox="1"/>
          <p:nvPr/>
        </p:nvSpPr>
        <p:spPr>
          <a:xfrm>
            <a:off x="4846320" y="3642704"/>
            <a:ext cx="3840480" cy="411480"/>
          </a:xfrm>
          <a:prstGeom prst="rect">
            <a:avLst/>
          </a:prstGeom>
          <a:noFill/>
          <a:ln/>
        </p:spPr>
        <p:txBody>
          <a:bodyPr wrap="square" lIns="0" tIns="0" rIns="0" bIns="0" rtlCol="0" anchor="t"/>
          <a:lstStyle/>
          <a:p>
            <a:pPr indent="0" marL="0">
              <a:buNone/>
            </a:pPr>
            <a:r>
              <a:rPr lang="en-US" sz="1100" dirty="0">
                <a:solidFill>
                  <a:schemeClr val="tx2"/>
                </a:solidFill>
              </a:rPr>
              <a:t>Perimeter 15 cm, ∠B = ∠C = 60°</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When no triangle exists</a:t>
            </a:r>
            <a:endParaRPr lang="en-US" sz="3000" dirty="0"/>
          </a:p>
        </p:txBody>
      </p:sp>
      <p:sp>
        <p:nvSpPr>
          <p:cNvPr id="4" name="Stats image frame"/>
          <p:cNvSpPr/>
          <p:nvPr/>
        </p:nvSpPr>
        <p:spPr>
          <a:xfrm>
            <a:off x="420624" y="1106424"/>
            <a:ext cx="4096512" cy="2576937"/>
          </a:xfrm>
          <a:prstGeom prst="roundRect">
            <a:avLst>
              <a:gd name="adj" fmla="val 2839"/>
            </a:avLst>
          </a:prstGeom>
          <a:solidFill>
            <a:schemeClr val="bg1"/>
          </a:solidFill>
          <a:ln w="12700">
            <a:solidFill>
              <a:schemeClr val="accent5"/>
            </a:solidFill>
            <a:prstDash val="solid"/>
          </a:ln>
        </p:spPr>
      </p:sp>
      <p:pic>
        <p:nvPicPr>
          <p:cNvPr id="5" name="Stats image" descr="/tmp/claude-0/-home-claude/7116491e-74ad-5a48-9637-67025fdd7b6d/scratchpad/deck/constructing-triangles/none.png">    </p:cNvPr>
          <p:cNvPicPr>
            <a:picLocks noChangeAspect="1"/>
          </p:cNvPicPr>
          <p:nvPr/>
        </p:nvPicPr>
        <p:blipFill>
          <a:blip r:embed="rId1"/>
          <a:stretch>
            <a:fillRect/>
          </a:stretch>
        </p:blipFill>
        <p:spPr>
          <a:xfrm>
            <a:off x="457200" y="1143000"/>
            <a:ext cx="4023360" cy="2503785"/>
          </a:xfrm>
          <a:prstGeom prst="rect">
            <a:avLst/>
          </a:prstGeom>
        </p:spPr>
      </p:pic>
      <p:sp>
        <p:nvSpPr>
          <p:cNvPr id="6" name="Caption"/>
          <p:cNvSpPr txBox="1"/>
          <p:nvPr/>
        </p:nvSpPr>
        <p:spPr>
          <a:xfrm>
            <a:off x="457200" y="3756513"/>
            <a:ext cx="4023360" cy="411480"/>
          </a:xfrm>
          <a:prstGeom prst="rect">
            <a:avLst/>
          </a:prstGeom>
          <a:noFill/>
          <a:ln/>
        </p:spPr>
        <p:txBody>
          <a:bodyPr wrap="square" lIns="0" tIns="0" rIns="0" bIns="0" rtlCol="0" anchor="t"/>
          <a:lstStyle/>
          <a:p>
            <a:pPr indent="0" marL="0">
              <a:buNone/>
            </a:pPr>
            <a:r>
              <a:rPr lang="en-US" sz="1100" dirty="0">
                <a:solidFill>
                  <a:schemeClr val="tx2"/>
                </a:solidFill>
              </a:rPr>
              <a:t>BC = 7 cm, ∠B = 50°, AB + AC = 6 cm</a:t>
            </a:r>
            <a:endParaRPr lang="en-US" sz="1100" dirty="0"/>
          </a:p>
        </p:txBody>
      </p:sp>
      <p:sp>
        <p:nvSpPr>
          <p:cNvPr id="7" name="Facts"/>
          <p:cNvSpPr txBox="1"/>
          <p:nvPr/>
        </p:nvSpPr>
        <p:spPr>
          <a:xfrm>
            <a:off x="4846320" y="1143000"/>
            <a:ext cx="3840480" cy="685800"/>
          </a:xfrm>
          <a:prstGeom prst="rect">
            <a:avLst/>
          </a:prstGeom>
          <a:noFill/>
          <a:ln/>
        </p:spPr>
        <p:txBody>
          <a:bodyPr wrap="square" lIns="0" tIns="0" rIns="0" bIns="0" rtlCol="0" anchor="t"/>
          <a:lstStyle/>
          <a:p>
            <a:pPr indent="0" marL="0">
              <a:buNone/>
            </a:pPr>
            <a:r>
              <a:rPr lang="en-US" sz="1600" dirty="0">
                <a:solidFill>
                  <a:schemeClr val="tx1"/>
                </a:solidFill>
              </a:rPr>
              <a:t>Compare the given sum with the base:</a:t>
            </a:r>
            <a:endParaRPr lang="en-US" sz="1600" dirty="0"/>
          </a:p>
        </p:txBody>
      </p:sp>
      <p:sp>
        <p:nvSpPr>
          <p:cNvPr id="8" name="Stat card 1"/>
          <p:cNvSpPr/>
          <p:nvPr/>
        </p:nvSpPr>
        <p:spPr>
          <a:xfrm>
            <a:off x="4846320" y="1920240"/>
            <a:ext cx="1828800" cy="1463040"/>
          </a:xfrm>
          <a:prstGeom prst="roundRect">
            <a:avLst>
              <a:gd name="adj" fmla="val 7500"/>
            </a:avLst>
          </a:prstGeom>
          <a:solidFill>
            <a:srgbClr val="FBEAE5"/>
          </a:solidFill>
          <a:ln w="12700">
            <a:solidFill>
              <a:srgbClr val="FBEAE5"/>
            </a:solidFill>
            <a:prstDash val="solid"/>
          </a:ln>
        </p:spPr>
      </p:sp>
      <p:sp>
        <p:nvSpPr>
          <p:cNvPr id="9" name="Stat 1"/>
          <p:cNvSpPr txBox="1"/>
          <p:nvPr/>
        </p:nvSpPr>
        <p:spPr>
          <a:xfrm>
            <a:off x="4983480" y="2011680"/>
            <a:ext cx="1554480" cy="1280160"/>
          </a:xfrm>
          <a:prstGeom prst="rect">
            <a:avLst/>
          </a:prstGeom>
          <a:noFill/>
          <a:ln/>
        </p:spPr>
        <p:txBody>
          <a:bodyPr wrap="square" lIns="0" tIns="0" rIns="0" bIns="0" rtlCol="0" anchor="ctr"/>
          <a:lstStyle/>
          <a:p>
            <a:pPr indent="0" marL="0">
              <a:buNone/>
            </a:pPr>
            <a:r>
              <a:rPr lang="en-US" sz="2800" b="1" dirty="0">
                <a:solidFill>
                  <a:schemeClr val="accent3"/>
                </a:solidFill>
              </a:rPr>
              <a:t>6 cm</a:t>
            </a:r>
            <a:endParaRPr lang="en-US" sz="2800" dirty="0"/>
          </a:p>
          <a:p>
            <a:pPr indent="0" marL="0">
              <a:buNone/>
            </a:pPr>
            <a:r>
              <a:rPr lang="en-US" sz="1300" dirty="0">
                <a:solidFill>
                  <a:schemeClr val="tx1"/>
                </a:solidFill>
              </a:rPr>
              <a:t>AB + AC</a:t>
            </a:r>
            <a:endParaRPr lang="en-US" sz="2800" dirty="0"/>
          </a:p>
        </p:txBody>
      </p:sp>
      <p:sp>
        <p:nvSpPr>
          <p:cNvPr id="10" name="Stat card 2"/>
          <p:cNvSpPr/>
          <p:nvPr/>
        </p:nvSpPr>
        <p:spPr>
          <a:xfrm>
            <a:off x="6858000" y="1920240"/>
            <a:ext cx="1828800" cy="1463040"/>
          </a:xfrm>
          <a:prstGeom prst="roundRect">
            <a:avLst>
              <a:gd name="adj" fmla="val 7500"/>
            </a:avLst>
          </a:prstGeom>
          <a:solidFill>
            <a:schemeClr val="accent4"/>
          </a:solidFill>
          <a:ln w="12700">
            <a:solidFill>
              <a:schemeClr val="accent4"/>
            </a:solidFill>
            <a:prstDash val="solid"/>
          </a:ln>
        </p:spPr>
      </p:sp>
      <p:sp>
        <p:nvSpPr>
          <p:cNvPr id="11" name="Stat 2"/>
          <p:cNvSpPr txBox="1"/>
          <p:nvPr/>
        </p:nvSpPr>
        <p:spPr>
          <a:xfrm>
            <a:off x="6995160" y="2011680"/>
            <a:ext cx="1554480" cy="1280160"/>
          </a:xfrm>
          <a:prstGeom prst="rect">
            <a:avLst/>
          </a:prstGeom>
          <a:noFill/>
          <a:ln/>
        </p:spPr>
        <p:txBody>
          <a:bodyPr wrap="square" lIns="0" tIns="0" rIns="0" bIns="0" rtlCol="0" anchor="ctr"/>
          <a:lstStyle/>
          <a:p>
            <a:pPr indent="0" marL="0">
              <a:buNone/>
            </a:pPr>
            <a:r>
              <a:rPr lang="en-US" sz="2800" b="1" dirty="0">
                <a:solidFill>
                  <a:schemeClr val="accent1"/>
                </a:solidFill>
              </a:rPr>
              <a:t>7 cm</a:t>
            </a:r>
            <a:endParaRPr lang="en-US" sz="2800" dirty="0"/>
          </a:p>
          <a:p>
            <a:pPr indent="0" marL="0">
              <a:buNone/>
            </a:pPr>
            <a:r>
              <a:rPr lang="en-US" sz="1300" dirty="0">
                <a:solidFill>
                  <a:schemeClr val="tx1"/>
                </a:solidFill>
              </a:rPr>
              <a:t>BC</a:t>
            </a:r>
            <a:endParaRPr lang="en-US" sz="2800" dirty="0"/>
          </a:p>
        </p:txBody>
      </p:sp>
      <p:sp>
        <p:nvSpPr>
          <p:cNvPr id="12" name="Takeaway"/>
          <p:cNvSpPr txBox="1"/>
          <p:nvPr/>
        </p:nvSpPr>
        <p:spPr>
          <a:xfrm>
            <a:off x="4846320" y="3566160"/>
            <a:ext cx="3840480" cy="822960"/>
          </a:xfrm>
          <a:prstGeom prst="rect">
            <a:avLst/>
          </a:prstGeom>
          <a:noFill/>
          <a:ln/>
        </p:spPr>
        <p:txBody>
          <a:bodyPr wrap="square" lIns="0" tIns="0" rIns="0" bIns="0" rtlCol="0" anchor="t"/>
          <a:lstStyle/>
          <a:p>
            <a:pPr indent="0" marL="0">
              <a:buNone/>
            </a:pPr>
            <a:r>
              <a:rPr lang="en-US" sz="1400" i="1" dirty="0">
                <a:solidFill>
                  <a:schemeClr val="tx2"/>
                </a:solidFill>
              </a:rPr>
              <a:t>6 is less than 7: the sum of two sides must be greater than the third.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Common mistakes</a:t>
            </a:r>
            <a:endParaRPr lang="en-US" sz="3000" dirty="0"/>
          </a:p>
        </p:txBody>
      </p:sp>
      <p:sp>
        <p:nvSpPr>
          <p:cNvPr id="4" name="Mistake card 1"/>
          <p:cNvSpPr/>
          <p:nvPr/>
        </p:nvSpPr>
        <p:spPr>
          <a:xfrm>
            <a:off x="457200" y="1097280"/>
            <a:ext cx="4023360" cy="1508760"/>
          </a:xfrm>
          <a:prstGeom prst="roundRect">
            <a:avLst>
              <a:gd name="adj" fmla="val 7273"/>
            </a:avLst>
          </a:prstGeom>
          <a:solidFill>
            <a:schemeClr val="bg2"/>
          </a:solidFill>
          <a:ln w="12700">
            <a:solidFill>
              <a:schemeClr val="bg2"/>
            </a:solidFill>
            <a:prstDash val="solid"/>
          </a:ln>
        </p:spPr>
      </p:sp>
      <p:pic>
        <p:nvPicPr>
          <p:cNvPr id="5" name="Cross 1" descr="preencoded.png">    </p:cNvPr>
          <p:cNvPicPr>
            <a:picLocks noChangeAspect="1"/>
          </p:cNvPicPr>
          <p:nvPr/>
        </p:nvPicPr>
        <p:blipFill>
          <a:blip r:embed="rId1"/>
          <a:stretch>
            <a:fillRect/>
          </a:stretch>
        </p:blipFill>
        <p:spPr>
          <a:xfrm>
            <a:off x="685800" y="1325880"/>
            <a:ext cx="365760" cy="365760"/>
          </a:xfrm>
          <a:prstGeom prst="rect">
            <a:avLst/>
          </a:prstGeom>
        </p:spPr>
      </p:pic>
      <p:sp>
        <p:nvSpPr>
          <p:cNvPr id="6" name="Mistake 1"/>
          <p:cNvSpPr txBox="1"/>
          <p:nvPr/>
        </p:nvSpPr>
        <p:spPr>
          <a:xfrm>
            <a:off x="1234440" y="1280160"/>
            <a:ext cx="3063240" cy="457200"/>
          </a:xfrm>
          <a:prstGeom prst="rect">
            <a:avLst/>
          </a:prstGeom>
          <a:noFill/>
          <a:ln/>
        </p:spPr>
        <p:txBody>
          <a:bodyPr wrap="square" lIns="0" tIns="0" rIns="0" bIns="0" rtlCol="0" anchor="t"/>
          <a:lstStyle/>
          <a:p>
            <a:pPr indent="0" marL="0">
              <a:buNone/>
            </a:pPr>
            <a:r>
              <a:rPr lang="en-US" sz="1700" b="1" dirty="0">
                <a:solidFill>
                  <a:schemeClr val="tx1"/>
                </a:solidFill>
              </a:rPr>
              <a:t>Sum on the base</a:t>
            </a:r>
            <a:endParaRPr lang="en-US" sz="1700" dirty="0"/>
          </a:p>
        </p:txBody>
      </p:sp>
      <p:sp>
        <p:nvSpPr>
          <p:cNvPr id="7" name="Fix 1"/>
          <p:cNvSpPr txBox="1"/>
          <p:nvPr/>
        </p:nvSpPr>
        <p:spPr>
          <a:xfrm>
            <a:off x="1234440" y="1755648"/>
            <a:ext cx="3063240" cy="777240"/>
          </a:xfrm>
          <a:prstGeom prst="rect">
            <a:avLst/>
          </a:prstGeom>
          <a:noFill/>
          <a:ln/>
        </p:spPr>
        <p:txBody>
          <a:bodyPr wrap="square" lIns="0" tIns="0" rIns="0" bIns="0" rtlCol="0" anchor="t"/>
          <a:lstStyle/>
          <a:p>
            <a:pPr indent="0" marL="0">
              <a:buNone/>
            </a:pPr>
            <a:r>
              <a:rPr lang="en-US" sz="1400" dirty="0">
                <a:solidFill>
                  <a:schemeClr val="tx1"/>
                </a:solidFill>
              </a:rPr>
              <a:t>BD = AB + AC goes on the ray at ∠B, not along BC.</a:t>
            </a:r>
            <a:endParaRPr lang="en-US" sz="1400" dirty="0"/>
          </a:p>
        </p:txBody>
      </p:sp>
      <p:sp>
        <p:nvSpPr>
          <p:cNvPr id="8" name="Mistake card 2"/>
          <p:cNvSpPr/>
          <p:nvPr/>
        </p:nvSpPr>
        <p:spPr>
          <a:xfrm>
            <a:off x="4663440" y="1097280"/>
            <a:ext cx="4023360" cy="1508760"/>
          </a:xfrm>
          <a:prstGeom prst="roundRect">
            <a:avLst>
              <a:gd name="adj" fmla="val 7273"/>
            </a:avLst>
          </a:prstGeom>
          <a:solidFill>
            <a:schemeClr val="bg2"/>
          </a:solidFill>
          <a:ln w="12700">
            <a:solidFill>
              <a:schemeClr val="bg2"/>
            </a:solidFill>
            <a:prstDash val="solid"/>
          </a:ln>
        </p:spPr>
      </p:sp>
      <p:pic>
        <p:nvPicPr>
          <p:cNvPr id="9" name="Cross 2" descr="preencoded.png">    </p:cNvPr>
          <p:cNvPicPr>
            <a:picLocks noChangeAspect="1"/>
          </p:cNvPicPr>
          <p:nvPr/>
        </p:nvPicPr>
        <p:blipFill>
          <a:blip r:embed="rId2"/>
          <a:stretch>
            <a:fillRect/>
          </a:stretch>
        </p:blipFill>
        <p:spPr>
          <a:xfrm>
            <a:off x="4892040" y="1325880"/>
            <a:ext cx="365760" cy="365760"/>
          </a:xfrm>
          <a:prstGeom prst="rect">
            <a:avLst/>
          </a:prstGeom>
        </p:spPr>
      </p:pic>
      <p:sp>
        <p:nvSpPr>
          <p:cNvPr id="10" name="Mistake 2"/>
          <p:cNvSpPr txBox="1"/>
          <p:nvPr/>
        </p:nvSpPr>
        <p:spPr>
          <a:xfrm>
            <a:off x="5440680" y="1280160"/>
            <a:ext cx="3063240" cy="457200"/>
          </a:xfrm>
          <a:prstGeom prst="rect">
            <a:avLst/>
          </a:prstGeom>
          <a:noFill/>
          <a:ln/>
        </p:spPr>
        <p:txBody>
          <a:bodyPr wrap="square" lIns="0" tIns="0" rIns="0" bIns="0" rtlCol="0" anchor="t"/>
          <a:lstStyle/>
          <a:p>
            <a:pPr indent="0" marL="0">
              <a:buNone/>
            </a:pPr>
            <a:r>
              <a:rPr lang="en-US" sz="1700" b="1" dirty="0">
                <a:solidFill>
                  <a:schemeClr val="tx1"/>
                </a:solidFill>
              </a:rPr>
              <a:t>Wrong ray for AC − AB</a:t>
            </a:r>
            <a:endParaRPr lang="en-US" sz="1700" dirty="0"/>
          </a:p>
        </p:txBody>
      </p:sp>
      <p:sp>
        <p:nvSpPr>
          <p:cNvPr id="11" name="Fix 2"/>
          <p:cNvSpPr txBox="1"/>
          <p:nvPr/>
        </p:nvSpPr>
        <p:spPr>
          <a:xfrm>
            <a:off x="5440680" y="1755648"/>
            <a:ext cx="3063240" cy="777240"/>
          </a:xfrm>
          <a:prstGeom prst="rect">
            <a:avLst/>
          </a:prstGeom>
          <a:noFill/>
          <a:ln/>
        </p:spPr>
        <p:txBody>
          <a:bodyPr wrap="square" lIns="0" tIns="0" rIns="0" bIns="0" rtlCol="0" anchor="t"/>
          <a:lstStyle/>
          <a:p>
            <a:pPr indent="0" marL="0">
              <a:buNone/>
            </a:pPr>
            <a:r>
              <a:rPr lang="en-US" sz="1400" dirty="0">
                <a:solidFill>
                  <a:schemeClr val="tx1"/>
                </a:solidFill>
              </a:rPr>
              <a:t>When AC is longer, D goes on the opposite ray.</a:t>
            </a:r>
            <a:endParaRPr lang="en-US" sz="1400" dirty="0"/>
          </a:p>
        </p:txBody>
      </p:sp>
      <p:sp>
        <p:nvSpPr>
          <p:cNvPr id="12" name="Mistake card 3"/>
          <p:cNvSpPr/>
          <p:nvPr/>
        </p:nvSpPr>
        <p:spPr>
          <a:xfrm>
            <a:off x="457200" y="2788920"/>
            <a:ext cx="4023360" cy="1508760"/>
          </a:xfrm>
          <a:prstGeom prst="roundRect">
            <a:avLst>
              <a:gd name="adj" fmla="val 7273"/>
            </a:avLst>
          </a:prstGeom>
          <a:solidFill>
            <a:schemeClr val="bg2"/>
          </a:solidFill>
          <a:ln w="12700">
            <a:solidFill>
              <a:schemeClr val="bg2"/>
            </a:solidFill>
            <a:prstDash val="solid"/>
          </a:ln>
        </p:spPr>
      </p:sp>
      <p:pic>
        <p:nvPicPr>
          <p:cNvPr id="13" name="Cross 3" descr="preencoded.png">    </p:cNvPr>
          <p:cNvPicPr>
            <a:picLocks noChangeAspect="1"/>
          </p:cNvPicPr>
          <p:nvPr/>
        </p:nvPicPr>
        <p:blipFill>
          <a:blip r:embed="rId3"/>
          <a:stretch>
            <a:fillRect/>
          </a:stretch>
        </p:blipFill>
        <p:spPr>
          <a:xfrm>
            <a:off x="685800" y="3017520"/>
            <a:ext cx="365760" cy="365760"/>
          </a:xfrm>
          <a:prstGeom prst="rect">
            <a:avLst/>
          </a:prstGeom>
        </p:spPr>
      </p:pic>
      <p:sp>
        <p:nvSpPr>
          <p:cNvPr id="14" name="Mistake 3"/>
          <p:cNvSpPr txBox="1"/>
          <p:nvPr/>
        </p:nvSpPr>
        <p:spPr>
          <a:xfrm>
            <a:off x="1234440" y="2971800"/>
            <a:ext cx="3063240" cy="457200"/>
          </a:xfrm>
          <a:prstGeom prst="rect">
            <a:avLst/>
          </a:prstGeom>
          <a:noFill/>
          <a:ln/>
        </p:spPr>
        <p:txBody>
          <a:bodyPr wrap="square" lIns="0" tIns="0" rIns="0" bIns="0" rtlCol="0" anchor="t"/>
          <a:lstStyle/>
          <a:p>
            <a:pPr indent="0" marL="0">
              <a:buNone/>
            </a:pPr>
            <a:r>
              <a:rPr lang="en-US" sz="1700" b="1" dirty="0">
                <a:solidFill>
                  <a:schemeClr val="tx1"/>
                </a:solidFill>
              </a:rPr>
              <a:t>Full angles at X and Y</a:t>
            </a:r>
            <a:endParaRPr lang="en-US" sz="1700" dirty="0"/>
          </a:p>
        </p:txBody>
      </p:sp>
      <p:sp>
        <p:nvSpPr>
          <p:cNvPr id="15" name="Fix 3"/>
          <p:cNvSpPr txBox="1"/>
          <p:nvPr/>
        </p:nvSpPr>
        <p:spPr>
          <a:xfrm>
            <a:off x="1234440" y="3447288"/>
            <a:ext cx="3063240" cy="777240"/>
          </a:xfrm>
          <a:prstGeom prst="rect">
            <a:avLst/>
          </a:prstGeom>
          <a:noFill/>
          <a:ln/>
        </p:spPr>
        <p:txBody>
          <a:bodyPr wrap="square" lIns="0" tIns="0" rIns="0" bIns="0" rtlCol="0" anchor="t"/>
          <a:lstStyle/>
          <a:p>
            <a:pPr indent="0" marL="0">
              <a:buNone/>
            </a:pPr>
            <a:r>
              <a:rPr lang="en-US" sz="1400" dirty="0">
                <a:solidFill>
                  <a:schemeClr val="tx1"/>
                </a:solidFill>
              </a:rPr>
              <a:t>Draw half of ∠B and half of ∠C.</a:t>
            </a:r>
            <a:endParaRPr lang="en-US" sz="1400" dirty="0"/>
          </a:p>
        </p:txBody>
      </p:sp>
      <p:sp>
        <p:nvSpPr>
          <p:cNvPr id="16" name="Mistake card 4"/>
          <p:cNvSpPr/>
          <p:nvPr/>
        </p:nvSpPr>
        <p:spPr>
          <a:xfrm>
            <a:off x="4663440" y="2788920"/>
            <a:ext cx="4023360" cy="1508760"/>
          </a:xfrm>
          <a:prstGeom prst="roundRect">
            <a:avLst>
              <a:gd name="adj" fmla="val 7273"/>
            </a:avLst>
          </a:prstGeom>
          <a:solidFill>
            <a:schemeClr val="bg2"/>
          </a:solidFill>
          <a:ln w="12700">
            <a:solidFill>
              <a:schemeClr val="bg2"/>
            </a:solidFill>
            <a:prstDash val="solid"/>
          </a:ln>
        </p:spPr>
      </p:sp>
      <p:pic>
        <p:nvPicPr>
          <p:cNvPr id="17" name="Cross 4" descr="preencoded.png">    </p:cNvPr>
          <p:cNvPicPr>
            <a:picLocks noChangeAspect="1"/>
          </p:cNvPicPr>
          <p:nvPr/>
        </p:nvPicPr>
        <p:blipFill>
          <a:blip r:embed="rId4"/>
          <a:stretch>
            <a:fillRect/>
          </a:stretch>
        </p:blipFill>
        <p:spPr>
          <a:xfrm>
            <a:off x="4892040" y="3017520"/>
            <a:ext cx="365760" cy="365760"/>
          </a:xfrm>
          <a:prstGeom prst="rect">
            <a:avLst/>
          </a:prstGeom>
        </p:spPr>
      </p:pic>
      <p:sp>
        <p:nvSpPr>
          <p:cNvPr id="18" name="Mistake 4"/>
          <p:cNvSpPr txBox="1"/>
          <p:nvPr/>
        </p:nvSpPr>
        <p:spPr>
          <a:xfrm>
            <a:off x="5440680" y="2971800"/>
            <a:ext cx="3063240" cy="457200"/>
          </a:xfrm>
          <a:prstGeom prst="rect">
            <a:avLst/>
          </a:prstGeom>
          <a:noFill/>
          <a:ln/>
        </p:spPr>
        <p:txBody>
          <a:bodyPr wrap="square" lIns="0" tIns="0" rIns="0" bIns="0" rtlCol="0" anchor="t"/>
          <a:lstStyle/>
          <a:p>
            <a:pPr indent="0" marL="0">
              <a:buNone/>
            </a:pPr>
            <a:r>
              <a:rPr lang="en-US" sz="1700" b="1" dirty="0">
                <a:solidFill>
                  <a:schemeClr val="tx1"/>
                </a:solidFill>
              </a:rPr>
              <a:t>No check</a:t>
            </a:r>
            <a:endParaRPr lang="en-US" sz="1700" dirty="0"/>
          </a:p>
        </p:txBody>
      </p:sp>
      <p:sp>
        <p:nvSpPr>
          <p:cNvPr id="19" name="Fix 4"/>
          <p:cNvSpPr txBox="1"/>
          <p:nvPr/>
        </p:nvSpPr>
        <p:spPr>
          <a:xfrm>
            <a:off x="5440680" y="3447288"/>
            <a:ext cx="3063240" cy="777240"/>
          </a:xfrm>
          <a:prstGeom prst="rect">
            <a:avLst/>
          </a:prstGeom>
          <a:noFill/>
          <a:ln/>
        </p:spPr>
        <p:txBody>
          <a:bodyPr wrap="square" lIns="0" tIns="0" rIns="0" bIns="0" rtlCol="0" anchor="t"/>
          <a:lstStyle/>
          <a:p>
            <a:pPr indent="0" marL="0">
              <a:buNone/>
            </a:pPr>
            <a:r>
              <a:rPr lang="en-US" sz="1400" dirty="0">
                <a:solidFill>
                  <a:schemeClr val="tx1"/>
                </a:solidFill>
              </a:rPr>
              <a:t>Sum &gt; BC and difference &lt; BC, or no triangle.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Quick check</a:t>
            </a:r>
            <a:endParaRPr lang="en-US" sz="3000" dirty="0"/>
          </a:p>
        </p:txBody>
      </p:sp>
      <p:sp>
        <p:nvSpPr>
          <p:cNvPr id="4" name="Question card 1"/>
          <p:cNvSpPr/>
          <p:nvPr/>
        </p:nvSpPr>
        <p:spPr>
          <a:xfrm>
            <a:off x="457200" y="1143000"/>
            <a:ext cx="4023360" cy="1508760"/>
          </a:xfrm>
          <a:prstGeom prst="roundRect">
            <a:avLst>
              <a:gd name="adj" fmla="val 7273"/>
            </a:avLst>
          </a:prstGeom>
          <a:solidFill>
            <a:schemeClr val="accent4"/>
          </a:solidFill>
          <a:ln w="12700">
            <a:solidFill>
              <a:schemeClr val="accent4"/>
            </a:solidFill>
            <a:prstDash val="solid"/>
          </a:ln>
        </p:spPr>
      </p:sp>
      <p:sp>
        <p:nvSpPr>
          <p:cNvPr id="5" name="Number 1"/>
          <p:cNvSpPr txBox="1"/>
          <p:nvPr/>
        </p:nvSpPr>
        <p:spPr>
          <a:xfrm>
            <a:off x="685800" y="1325880"/>
            <a:ext cx="457200" cy="548640"/>
          </a:xfrm>
          <a:prstGeom prst="rect">
            <a:avLst/>
          </a:prstGeom>
          <a:noFill/>
          <a:ln/>
        </p:spPr>
        <p:txBody>
          <a:bodyPr wrap="square" lIns="0" tIns="0" rIns="0" bIns="0" rtlCol="0" anchor="t"/>
          <a:lstStyle/>
          <a:p>
            <a:pPr indent="0" marL="0">
              <a:buNone/>
            </a:pPr>
            <a:r>
              <a:rPr lang="en-US" sz="3000" b="1" dirty="0">
                <a:solidFill>
                  <a:schemeClr val="accent1"/>
                </a:solidFill>
              </a:rPr>
              <a:t>1</a:t>
            </a:r>
            <a:endParaRPr lang="en-US" sz="3000" dirty="0"/>
          </a:p>
        </p:txBody>
      </p:sp>
      <p:sp>
        <p:nvSpPr>
          <p:cNvPr id="6" name="Question 1"/>
          <p:cNvSpPr txBox="1"/>
          <p:nvPr/>
        </p:nvSpPr>
        <p:spPr>
          <a:xfrm>
            <a:off x="1234440" y="1344168"/>
            <a:ext cx="3063240" cy="1188720"/>
          </a:xfrm>
          <a:prstGeom prst="rect">
            <a:avLst/>
          </a:prstGeom>
          <a:noFill/>
          <a:ln/>
        </p:spPr>
        <p:txBody>
          <a:bodyPr wrap="square" lIns="0" tIns="0" rIns="0" bIns="0" rtlCol="0" anchor="t"/>
          <a:lstStyle/>
          <a:p>
            <a:pPr indent="0" marL="0">
              <a:buNone/>
            </a:pPr>
            <a:r>
              <a:rPr lang="en-US" sz="1600" dirty="0">
                <a:solidFill>
                  <a:schemeClr val="tx1"/>
                </a:solidFill>
              </a:rPr>
              <a:t>Given QR, ∠Q and PQ + PR: what length is QD?</a:t>
            </a:r>
            <a:endParaRPr lang="en-US" sz="1600" dirty="0"/>
          </a:p>
        </p:txBody>
      </p:sp>
      <p:sp>
        <p:nvSpPr>
          <p:cNvPr id="7" name="Question card 2"/>
          <p:cNvSpPr/>
          <p:nvPr/>
        </p:nvSpPr>
        <p:spPr>
          <a:xfrm>
            <a:off x="4663440" y="1143000"/>
            <a:ext cx="4023360" cy="1508760"/>
          </a:xfrm>
          <a:prstGeom prst="roundRect">
            <a:avLst>
              <a:gd name="adj" fmla="val 7273"/>
            </a:avLst>
          </a:prstGeom>
          <a:solidFill>
            <a:schemeClr val="accent6"/>
          </a:solidFill>
          <a:ln w="12700">
            <a:solidFill>
              <a:schemeClr val="accent6"/>
            </a:solidFill>
            <a:prstDash val="solid"/>
          </a:ln>
        </p:spPr>
      </p:sp>
      <p:sp>
        <p:nvSpPr>
          <p:cNvPr id="8" name="Number 2"/>
          <p:cNvSpPr txBox="1"/>
          <p:nvPr/>
        </p:nvSpPr>
        <p:spPr>
          <a:xfrm>
            <a:off x="4892040" y="1325880"/>
            <a:ext cx="457200" cy="548640"/>
          </a:xfrm>
          <a:prstGeom prst="rect">
            <a:avLst/>
          </a:prstGeom>
          <a:noFill/>
          <a:ln/>
        </p:spPr>
        <p:txBody>
          <a:bodyPr wrap="square" lIns="0" tIns="0" rIns="0" bIns="0" rtlCol="0" anchor="t"/>
          <a:lstStyle/>
          <a:p>
            <a:pPr indent="0" marL="0">
              <a:buNone/>
            </a:pPr>
            <a:r>
              <a:rPr lang="en-US" sz="3000" b="1" dirty="0">
                <a:solidFill>
                  <a:schemeClr val="accent2"/>
                </a:solidFill>
              </a:rPr>
              <a:t>2</a:t>
            </a:r>
            <a:endParaRPr lang="en-US" sz="3000" dirty="0"/>
          </a:p>
        </p:txBody>
      </p:sp>
      <p:sp>
        <p:nvSpPr>
          <p:cNvPr id="9" name="Question 2"/>
          <p:cNvSpPr txBox="1"/>
          <p:nvPr/>
        </p:nvSpPr>
        <p:spPr>
          <a:xfrm>
            <a:off x="5440680" y="1344168"/>
            <a:ext cx="3063240" cy="1188720"/>
          </a:xfrm>
          <a:prstGeom prst="rect">
            <a:avLst/>
          </a:prstGeom>
          <a:noFill/>
          <a:ln/>
        </p:spPr>
        <p:txBody>
          <a:bodyPr wrap="square" lIns="0" tIns="0" rIns="0" bIns="0" rtlCol="0" anchor="t"/>
          <a:lstStyle/>
          <a:p>
            <a:pPr indent="0" marL="0">
              <a:buNone/>
            </a:pPr>
            <a:r>
              <a:rPr lang="en-US" sz="1600" dirty="0">
                <a:solidFill>
                  <a:schemeClr val="tx1"/>
                </a:solidFill>
              </a:rPr>
              <a:t>In that construction, why is PD = PR?</a:t>
            </a:r>
            <a:endParaRPr lang="en-US" sz="1600" dirty="0"/>
          </a:p>
        </p:txBody>
      </p:sp>
      <p:sp>
        <p:nvSpPr>
          <p:cNvPr id="10" name="Question card 3"/>
          <p:cNvSpPr/>
          <p:nvPr/>
        </p:nvSpPr>
        <p:spPr>
          <a:xfrm>
            <a:off x="457200" y="2834640"/>
            <a:ext cx="4023360" cy="1508760"/>
          </a:xfrm>
          <a:prstGeom prst="roundRect">
            <a:avLst>
              <a:gd name="adj" fmla="val 7273"/>
            </a:avLst>
          </a:prstGeom>
          <a:solidFill>
            <a:schemeClr val="accent4"/>
          </a:solidFill>
          <a:ln w="12700">
            <a:solidFill>
              <a:schemeClr val="accent4"/>
            </a:solidFill>
            <a:prstDash val="solid"/>
          </a:ln>
        </p:spPr>
      </p:sp>
      <p:sp>
        <p:nvSpPr>
          <p:cNvPr id="11" name="Number 3"/>
          <p:cNvSpPr txBox="1"/>
          <p:nvPr/>
        </p:nvSpPr>
        <p:spPr>
          <a:xfrm>
            <a:off x="685800" y="3017520"/>
            <a:ext cx="457200" cy="548640"/>
          </a:xfrm>
          <a:prstGeom prst="rect">
            <a:avLst/>
          </a:prstGeom>
          <a:noFill/>
          <a:ln/>
        </p:spPr>
        <p:txBody>
          <a:bodyPr wrap="square" lIns="0" tIns="0" rIns="0" bIns="0" rtlCol="0" anchor="t"/>
          <a:lstStyle/>
          <a:p>
            <a:pPr indent="0" marL="0">
              <a:buNone/>
            </a:pPr>
            <a:r>
              <a:rPr lang="en-US" sz="3000" b="1" dirty="0">
                <a:solidFill>
                  <a:schemeClr val="accent1"/>
                </a:solidFill>
              </a:rPr>
              <a:t>3</a:t>
            </a:r>
            <a:endParaRPr lang="en-US" sz="3000" dirty="0"/>
          </a:p>
        </p:txBody>
      </p:sp>
      <p:sp>
        <p:nvSpPr>
          <p:cNvPr id="12" name="Question 3"/>
          <p:cNvSpPr txBox="1"/>
          <p:nvPr/>
        </p:nvSpPr>
        <p:spPr>
          <a:xfrm>
            <a:off x="1234440" y="3035808"/>
            <a:ext cx="3063240" cy="1188720"/>
          </a:xfrm>
          <a:prstGeom prst="rect">
            <a:avLst/>
          </a:prstGeom>
          <a:noFill/>
          <a:ln/>
        </p:spPr>
        <p:txBody>
          <a:bodyPr wrap="square" lIns="0" tIns="0" rIns="0" bIns="0" rtlCol="0" anchor="t"/>
          <a:lstStyle/>
          <a:p>
            <a:pPr indent="0" marL="0">
              <a:buNone/>
            </a:pPr>
            <a:r>
              <a:rPr lang="en-US" sz="1600" dirty="0">
                <a:solidFill>
                  <a:schemeClr val="tx1"/>
                </a:solidFill>
              </a:rPr>
              <a:t>∠B = 80°, ∠C = 50°: which angles are drawn at X and Y?</a:t>
            </a:r>
            <a:endParaRPr lang="en-US" sz="1600" dirty="0"/>
          </a:p>
        </p:txBody>
      </p:sp>
      <p:sp>
        <p:nvSpPr>
          <p:cNvPr id="13" name="Question card 4"/>
          <p:cNvSpPr/>
          <p:nvPr/>
        </p:nvSpPr>
        <p:spPr>
          <a:xfrm>
            <a:off x="4663440" y="2834640"/>
            <a:ext cx="4023360" cy="1508760"/>
          </a:xfrm>
          <a:prstGeom prst="roundRect">
            <a:avLst>
              <a:gd name="adj" fmla="val 7273"/>
            </a:avLst>
          </a:prstGeom>
          <a:solidFill>
            <a:schemeClr val="accent6"/>
          </a:solidFill>
          <a:ln w="12700">
            <a:solidFill>
              <a:schemeClr val="accent6"/>
            </a:solidFill>
            <a:prstDash val="solid"/>
          </a:ln>
        </p:spPr>
      </p:sp>
      <p:sp>
        <p:nvSpPr>
          <p:cNvPr id="14" name="Number 4"/>
          <p:cNvSpPr txBox="1"/>
          <p:nvPr/>
        </p:nvSpPr>
        <p:spPr>
          <a:xfrm>
            <a:off x="4892040" y="3017520"/>
            <a:ext cx="457200" cy="548640"/>
          </a:xfrm>
          <a:prstGeom prst="rect">
            <a:avLst/>
          </a:prstGeom>
          <a:noFill/>
          <a:ln/>
        </p:spPr>
        <p:txBody>
          <a:bodyPr wrap="square" lIns="0" tIns="0" rIns="0" bIns="0" rtlCol="0" anchor="t"/>
          <a:lstStyle/>
          <a:p>
            <a:pPr indent="0" marL="0">
              <a:buNone/>
            </a:pPr>
            <a:r>
              <a:rPr lang="en-US" sz="3000" b="1" dirty="0">
                <a:solidFill>
                  <a:schemeClr val="accent2"/>
                </a:solidFill>
              </a:rPr>
              <a:t>4</a:t>
            </a:r>
            <a:endParaRPr lang="en-US" sz="3000" dirty="0"/>
          </a:p>
        </p:txBody>
      </p:sp>
      <p:sp>
        <p:nvSpPr>
          <p:cNvPr id="15" name="Question 4"/>
          <p:cNvSpPr txBox="1"/>
          <p:nvPr/>
        </p:nvSpPr>
        <p:spPr>
          <a:xfrm>
            <a:off x="5440680" y="3035808"/>
            <a:ext cx="3063240" cy="1188720"/>
          </a:xfrm>
          <a:prstGeom prst="rect">
            <a:avLst/>
          </a:prstGeom>
          <a:noFill/>
          <a:ln/>
        </p:spPr>
        <p:txBody>
          <a:bodyPr wrap="square" lIns="0" tIns="0" rIns="0" bIns="0" rtlCol="0" anchor="t"/>
          <a:lstStyle/>
          <a:p>
            <a:pPr indent="0" marL="0">
              <a:buNone/>
            </a:pPr>
            <a:r>
              <a:rPr lang="en-US" sz="1600" dirty="0">
                <a:solidFill>
                  <a:schemeClr val="tx1"/>
                </a:solidFill>
              </a:rPr>
              <a:t>BC = 6 cm, ∠B = 45°, AB + AC = 5 cm. Can you draw it?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548640" y="1600200"/>
            <a:ext cx="4206240" cy="1371600"/>
          </a:xfrm>
          <a:prstGeom prst="rect">
            <a:avLst/>
          </a:prstGeom>
          <a:noFill/>
          <a:ln/>
        </p:spPr>
        <p:txBody>
          <a:bodyPr wrap="square" lIns="0" tIns="0" rIns="0" bIns="0" rtlCol="0" anchor="t"/>
          <a:lstStyle/>
          <a:p>
            <a:pPr algn="l" indent="0" marL="0">
              <a:buNone/>
            </a:pPr>
            <a:r>
              <a:rPr lang="en-US" sz="3000" b="1" dirty="0">
                <a:solidFill>
                  <a:schemeClr val="bg1"/>
                </a:solidFill>
              </a:rPr>
              <a:t>Construct them yourself</a:t>
            </a:r>
            <a:endParaRPr lang="en-US" sz="3800" dirty="0"/>
          </a:p>
        </p:txBody>
      </p:sp>
      <p:sp>
        <p:nvSpPr>
          <p:cNvPr id="4" name="Call to action"/>
          <p:cNvSpPr txBox="1"/>
          <p:nvPr/>
        </p:nvSpPr>
        <p:spPr>
          <a:xfrm>
            <a:off x="548640" y="3063240"/>
            <a:ext cx="4023360" cy="914400"/>
          </a:xfrm>
          <a:prstGeom prst="rect">
            <a:avLst/>
          </a:prstGeom>
          <a:noFill/>
          <a:ln/>
        </p:spPr>
        <p:txBody>
          <a:bodyPr wrap="square" lIns="0" tIns="0" rIns="0" bIns="0" rtlCol="0" anchor="t"/>
          <a:lstStyle/>
          <a:p>
            <a:pPr indent="0" marL="0">
              <a:buNone/>
            </a:pPr>
            <a:r>
              <a:rPr lang="en-US" sz="1500" dirty="0">
                <a:solidFill>
                  <a:schemeClr val="accent5"/>
                </a:solidFill>
              </a:rPr>
              <a:t>Open the Constructing Triangles lesson on the Visual Science &amp; Maths website. Choose what is given and press “Next step”.</a:t>
            </a:r>
            <a:endParaRPr lang="en-US" sz="1500" dirty="0"/>
          </a:p>
        </p:txBody>
      </p:sp>
      <p:sp>
        <p:nvSpPr>
          <p:cNvPr id="5" name="Next lesson"/>
          <p:cNvSpPr txBox="1"/>
          <p:nvPr/>
        </p:nvSpPr>
        <p:spPr>
          <a:xfrm>
            <a:off x="548640" y="4160520"/>
            <a:ext cx="4023360" cy="365760"/>
          </a:xfrm>
          <a:prstGeom prst="rect">
            <a:avLst/>
          </a:prstGeom>
          <a:noFill/>
          <a:ln/>
        </p:spPr>
        <p:txBody>
          <a:bodyPr wrap="square" lIns="0" tIns="0" rIns="0" bIns="0" rtlCol="0" anchor="t"/>
          <a:lstStyle/>
          <a:p>
            <a:pPr indent="0" marL="0">
              <a:buNone/>
            </a:pPr>
            <a:r>
              <a:rPr lang="en-US" sz="1400" b="1" dirty="0">
                <a:solidFill>
                  <a:schemeClr val="accent4"/>
                </a:solidFill>
              </a:rPr>
              <a:t>Next chapter: Quadrilaterals</a:t>
            </a:r>
            <a:endParaRPr lang="en-US" sz="1400" dirty="0"/>
          </a:p>
        </p:txBody>
      </p:sp>
      <p:sp>
        <p:nvSpPr>
          <p:cNvPr id="6" name="Closing image frame"/>
          <p:cNvSpPr/>
          <p:nvPr/>
        </p:nvSpPr>
        <p:spPr>
          <a:xfrm>
            <a:off x="4901184" y="1197864"/>
            <a:ext cx="3822192" cy="2406224"/>
          </a:xfrm>
          <a:prstGeom prst="roundRect">
            <a:avLst>
              <a:gd name="adj" fmla="val 3040"/>
            </a:avLst>
          </a:prstGeom>
          <a:solidFill>
            <a:schemeClr val="bg1"/>
          </a:solidFill>
          <a:ln w="12700">
            <a:solidFill>
              <a:schemeClr val="accent5"/>
            </a:solidFill>
            <a:prstDash val="solid"/>
          </a:ln>
        </p:spPr>
      </p:sp>
      <p:pic>
        <p:nvPicPr>
          <p:cNvPr id="7" name="Closing image" descr="/tmp/claude-0/-home-claude/7116491e-74ad-5a48-9637-67025fdd7b6d/scratchpad/deck/constructing-triangles/perim.png">    </p:cNvPr>
          <p:cNvPicPr>
            <a:picLocks noChangeAspect="1"/>
          </p:cNvPicPr>
          <p:nvPr/>
        </p:nvPicPr>
        <p:blipFill>
          <a:blip r:embed="rId1"/>
          <a:stretch>
            <a:fillRect/>
          </a:stretch>
        </p:blipFill>
        <p:spPr>
          <a:xfrm>
            <a:off x="4937760" y="1234440"/>
            <a:ext cx="3749040" cy="2333072"/>
          </a:xfrm>
          <a:prstGeom prst="rect">
            <a:avLst/>
          </a:prstGeom>
        </p:spPr>
      </p:pic>
    </p:spTree>
  </p:cSld>
  <p:clrMapOvr>
    <a:masterClrMapping/>
  </p:clrMapOvr>
</p:sld>
</file>

<file path=ppt/theme/theme1.xml><?xml version="1.0" encoding="utf-8"?>
<a:theme xmlns:a="http://schemas.openxmlformats.org/drawingml/2006/main" name="Visual Science &amp; Maths">
  <a:themeElements>
    <a:clrScheme name="Visual Science &amp; Maths">
      <a:dk1>
        <a:srgbClr val="14232B"/>
      </a:dk1>
      <a:lt1>
        <a:srgbClr val="FFFFFF"/>
      </a:lt1>
      <a:dk2>
        <a:srgbClr val="56676F"/>
      </a:dk2>
      <a:lt2>
        <a:srgbClr val="F4F7F6"/>
      </a:lt2>
      <a:accent1>
        <a:srgbClr val="5B3FD6"/>
      </a:accent1>
      <a:accent2>
        <a:srgbClr val="0B8A7A"/>
      </a:accent2>
      <a:accent3>
        <a:srgbClr val="D9512C"/>
      </a:accent3>
      <a:accent4>
        <a:srgbClr val="ECE9FB"/>
      </a:accent4>
      <a:accent5>
        <a:srgbClr val="D6E0DE"/>
      </a:accent5>
      <a:accent6>
        <a:srgbClr val="E3F3F0"/>
      </a:accent6>
      <a:hlink>
        <a:srgbClr val="5B3FD6"/>
      </a:hlink>
      <a:folHlink>
        <a:srgbClr val="3E2A9E"/>
      </a:folHlink>
    </a:clrScheme>
    <a:fontScheme name="Visual Science &amp; Math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Constructing Triangles</dc:title>
  <dc:subject>Std 9 Mathematics Part II, Chapter 4 Constructions of Triangles</dc:subject>
  <dc:creator>Visual Science &amp; Maths</dc:creator>
  <cp:lastModifiedBy>Visual Science &amp; Maths</cp:lastModifiedBy>
  <cp:revision>1</cp:revision>
  <dcterms:created xsi:type="dcterms:W3CDTF">2026-10-10T01:09:03Z</dcterms:created>
  <dcterms:modified xsi:type="dcterms:W3CDTF">2026-10-10T01:09:03Z</dcterms:modified>
</cp:coreProperties>
</file>