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duction" id="{291a8d51-2673-9d6b-8eeb-270c6f50edba}">
          <p14:sldIdLst>
            <p14:sldId id="256"/>
            <p14:sldId id="257"/>
          </p14:sldIdLst>
        </p14:section>
        <p14:section name="Key ideas" id="{7e8d9e3e-6975-2a50-eba9-c06283037873}">
          <p14:sldIdLst>
            <p14:sldId id="258"/>
            <p14:sldId id="259"/>
            <p14:sldId id="260"/>
            <p14:sldId id="261"/>
          </p14:sldIdLst>
        </p14:section>
        <p14:section name="Practice" id="{ec8887e5-389e-2cf1-3cd2-dc262f2794e0}">
          <p14:sldIdLst>
            <p14:sldId id="262"/>
            <p14:sldId id="263"/>
            <p14:sldId id="264"/>
            <p14:sldId id="265"/>
            <p14:sldId id="266"/>
          </p14:sldIdLst>
        </p14:section>
        <p14:section name="Wrap-up" id="{14a2dbd2-98b0-d172-3471-34d7cbb7426f}">
          <p14:sldIdLst>
            <p14:sldId id="267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Goal: students can make ungrouped and grouped frequency tables with tally marks, find class marks, handle inclusive and exclusive classes, and find less-than and more-than cumulative frequencies.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Let students try to answer from the raw list first; then show the table.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Example: asking classmates = primary; a census report = secondary.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8 families have 4 members; 2 + 6 + 8 + 5 + 3 + 1 = 25.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Inclusive to continuous: subtract 0.5 from lower limits, add 0.5 to upper limits.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Less than counts values below the upper limit; more than counts values at or above the lower limit.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mark of 20 goes into 20–30, a mark of 30 into 30–40.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These two numbers always add up to 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Frequencies with width 5: 2, 3, 3, 5, 6, 5, 4, 2.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Ask a student to sort the data aloud while the class tallies.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Answers: 1) 45. 2) 30–40. 3) 20. 4) Primary data.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Homework: collect the heights of 20 classmates and make a grouped frequency table.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_DARK">
    <p:bg>
      <p:bgPr>
        <a:solidFill>
          <a:schemeClr val="tx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600200"/>
            <a:ext cx="4206240" cy="13716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8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38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3000" dirty="0"/>
          </a:p>
        </p:txBody>
      </p:sp>
      <p:sp>
        <p:nvSpPr>
          <p:cNvPr id="3" name="Text 0"/>
          <p:cNvSpPr/>
          <p:nvPr/>
        </p:nvSpPr>
        <p:spPr>
          <a:xfrm>
            <a:off x="457200" y="47548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Frequency Tables · Std 9 Maths I Ch. 7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yebrow"/>
          <p:cNvSpPr txBox="1"/>
          <p:nvPr/>
        </p:nvSpPr>
        <p:spPr>
          <a:xfrm>
            <a:off x="548640" y="1143000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4"/>
                </a:solidFill>
              </a:rPr>
              <a:t>STD 9 MATHEMATICS PART I · CH. 7 STATISTICS</a:t>
            </a:r>
            <a:endParaRPr lang="en-US" sz="12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548640" y="1600200"/>
            <a:ext cx="42062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800" b="1" dirty="0">
                <a:solidFill>
                  <a:schemeClr val="bg1"/>
                </a:solidFill>
              </a:rPr>
              <a:t>Frequency Tables</a:t>
            </a:r>
            <a:endParaRPr lang="en-US" sz="3800" dirty="0"/>
          </a:p>
        </p:txBody>
      </p:sp>
      <p:sp>
        <p:nvSpPr>
          <p:cNvPr id="5" name="Subtitle"/>
          <p:cNvSpPr txBox="1"/>
          <p:nvPr/>
        </p:nvSpPr>
        <p:spPr>
          <a:xfrm>
            <a:off x="548640" y="310896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accent5"/>
                </a:solidFill>
              </a:rPr>
              <a:t>Lesson 2 · Visual Science &amp; Maths</a:t>
            </a:r>
            <a:endParaRPr lang="en-US" sz="1600" dirty="0"/>
          </a:p>
        </p:txBody>
      </p:sp>
      <p:sp>
        <p:nvSpPr>
          <p:cNvPr id="6" name="Title image frame"/>
          <p:cNvSpPr/>
          <p:nvPr/>
        </p:nvSpPr>
        <p:spPr>
          <a:xfrm>
            <a:off x="4901184" y="1197864"/>
            <a:ext cx="3822192" cy="2527161"/>
          </a:xfrm>
          <a:prstGeom prst="roundRect">
            <a:avLst>
              <a:gd name="adj" fmla="val 2895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</p:spPr>
      </p:sp>
      <p:pic>
        <p:nvPicPr>
          <p:cNvPr id="7" name="Title image" descr="/tmp/claude-0/-home-claude/7116491e-74ad-5a48-9637-67025fdd7b6d/scratchpad/deck/frequency-tables/les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37760" y="1234440"/>
            <a:ext cx="3749040" cy="2454009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Thirty marks in a row</a:t>
            </a:r>
            <a:endParaRPr lang="en-US" sz="3000" dirty="0"/>
          </a:p>
        </p:txBody>
      </p:sp>
      <p:sp>
        <p:nvSpPr>
          <p:cNvPr id="4" name="Hook text"/>
          <p:cNvSpPr txBox="1"/>
          <p:nvPr/>
        </p:nvSpPr>
        <p:spPr>
          <a:xfrm>
            <a:off x="457200" y="1143000"/>
            <a:ext cx="39319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23, 35, 41, 12, 28, 30, 45, 19, 33, 27, … Thirty test marks out of 50.</a:t>
            </a:r>
            <a:endParaRPr lang="en-US" sz="1800" dirty="0"/>
          </a:p>
        </p:txBody>
      </p:sp>
      <p:sp>
        <p:nvSpPr>
          <p:cNvPr id="5" name="Question"/>
          <p:cNvSpPr txBox="1"/>
          <p:nvPr/>
        </p:nvSpPr>
        <p:spPr>
          <a:xfrm>
            <a:off x="457200" y="2743200"/>
            <a:ext cx="39319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How many students scored less than 30?</a:t>
            </a:r>
            <a:endParaRPr lang="en-US" sz="1800" dirty="0"/>
          </a:p>
        </p:txBody>
      </p:sp>
      <p:sp>
        <p:nvSpPr>
          <p:cNvPr id="6" name="Hook image frame"/>
          <p:cNvSpPr/>
          <p:nvPr/>
        </p:nvSpPr>
        <p:spPr>
          <a:xfrm>
            <a:off x="4718304" y="1152144"/>
            <a:ext cx="4005072" cy="2646868"/>
          </a:xfrm>
          <a:prstGeom prst="roundRect">
            <a:avLst>
              <a:gd name="adj" fmla="val 2764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</p:spPr>
      </p:sp>
      <p:pic>
        <p:nvPicPr>
          <p:cNvPr id="7" name="Hook image" descr="/tmp/claude-0/-home-claude/7116491e-74ad-5a48-9637-67025fdd7b6d/scratchpad/deck/frequency-tables/grouped1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754880" y="1188720"/>
            <a:ext cx="3931920" cy="2573716"/>
          </a:xfrm>
          <a:prstGeom prst="rect">
            <a:avLst/>
          </a:prstGeom>
        </p:spPr>
      </p:pic>
      <p:sp>
        <p:nvSpPr>
          <p:cNvPr id="8" name="Caption"/>
          <p:cNvSpPr txBox="1"/>
          <p:nvPr/>
        </p:nvSpPr>
        <p:spPr>
          <a:xfrm>
            <a:off x="4754880" y="3872164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Sorted: 5 + 8 = 13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Kinds of data</a:t>
            </a:r>
            <a:endParaRPr lang="en-US" sz="3000" dirty="0"/>
          </a:p>
        </p:txBody>
      </p:sp>
      <p:sp>
        <p:nvSpPr>
          <p:cNvPr id="4" name="Card 1"/>
          <p:cNvSpPr/>
          <p:nvPr/>
        </p:nvSpPr>
        <p:spPr>
          <a:xfrm>
            <a:off x="457200" y="1188720"/>
            <a:ext cx="2602992" cy="3017520"/>
          </a:xfrm>
          <a:prstGeom prst="roundRect">
            <a:avLst>
              <a:gd name="adj" fmla="val 4215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5" name="Big 1"/>
          <p:cNvSpPr txBox="1"/>
          <p:nvPr/>
        </p:nvSpPr>
        <p:spPr>
          <a:xfrm>
            <a:off x="731520" y="1371600"/>
            <a:ext cx="205435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1"/>
                </a:solidFill>
              </a:rPr>
              <a:t>1°</a:t>
            </a:r>
            <a:endParaRPr lang="en-US" sz="3000" dirty="0"/>
          </a:p>
        </p:txBody>
      </p:sp>
      <p:sp>
        <p:nvSpPr>
          <p:cNvPr id="6" name="Card head 1"/>
          <p:cNvSpPr txBox="1"/>
          <p:nvPr/>
        </p:nvSpPr>
        <p:spPr>
          <a:xfrm>
            <a:off x="731520" y="2240280"/>
            <a:ext cx="205435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Primary data</a:t>
            </a:r>
            <a:endParaRPr lang="en-US" sz="1800" dirty="0"/>
          </a:p>
        </p:txBody>
      </p:sp>
      <p:sp>
        <p:nvSpPr>
          <p:cNvPr id="7" name="Card body 1"/>
          <p:cNvSpPr txBox="1"/>
          <p:nvPr/>
        </p:nvSpPr>
        <p:spPr>
          <a:xfrm>
            <a:off x="731520" y="2971800"/>
            <a:ext cx="2054352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Collected by the investigator directly.</a:t>
            </a:r>
            <a:endParaRPr lang="en-US" sz="1400" dirty="0"/>
          </a:p>
        </p:txBody>
      </p:sp>
      <p:sp>
        <p:nvSpPr>
          <p:cNvPr id="8" name="Card 2"/>
          <p:cNvSpPr/>
          <p:nvPr/>
        </p:nvSpPr>
        <p:spPr>
          <a:xfrm>
            <a:off x="3270504" y="1188720"/>
            <a:ext cx="2602992" cy="3017520"/>
          </a:xfrm>
          <a:prstGeom prst="roundRect">
            <a:avLst>
              <a:gd name="adj" fmla="val 4215"/>
            </a:avLst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9" name="Big 2"/>
          <p:cNvSpPr txBox="1"/>
          <p:nvPr/>
        </p:nvSpPr>
        <p:spPr>
          <a:xfrm>
            <a:off x="3544824" y="1371600"/>
            <a:ext cx="205435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2"/>
                </a:solidFill>
              </a:rPr>
              <a:t>2°</a:t>
            </a:r>
            <a:endParaRPr lang="en-US" sz="3000" dirty="0"/>
          </a:p>
        </p:txBody>
      </p:sp>
      <p:sp>
        <p:nvSpPr>
          <p:cNvPr id="10" name="Card head 2"/>
          <p:cNvSpPr txBox="1"/>
          <p:nvPr/>
        </p:nvSpPr>
        <p:spPr>
          <a:xfrm>
            <a:off x="3544824" y="2240280"/>
            <a:ext cx="205435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Secondary data</a:t>
            </a:r>
            <a:endParaRPr lang="en-US" sz="1800" dirty="0"/>
          </a:p>
        </p:txBody>
      </p:sp>
      <p:sp>
        <p:nvSpPr>
          <p:cNvPr id="11" name="Card body 2"/>
          <p:cNvSpPr txBox="1"/>
          <p:nvPr/>
        </p:nvSpPr>
        <p:spPr>
          <a:xfrm>
            <a:off x="3544824" y="2971800"/>
            <a:ext cx="2054352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Taken from records collected by others.</a:t>
            </a:r>
            <a:endParaRPr lang="en-US" sz="1400" dirty="0"/>
          </a:p>
        </p:txBody>
      </p:sp>
      <p:sp>
        <p:nvSpPr>
          <p:cNvPr id="12" name="Card 3"/>
          <p:cNvSpPr/>
          <p:nvPr/>
        </p:nvSpPr>
        <p:spPr>
          <a:xfrm>
            <a:off x="6083808" y="1188720"/>
            <a:ext cx="2602992" cy="3017520"/>
          </a:xfrm>
          <a:prstGeom prst="roundRect">
            <a:avLst>
              <a:gd name="adj" fmla="val 4215"/>
            </a:avLst>
          </a:prstGeom>
          <a:solidFill>
            <a:srgbClr val="FBEAE5"/>
          </a:solidFill>
          <a:ln w="12700">
            <a:solidFill>
              <a:srgbClr val="FBEAE5"/>
            </a:solidFill>
            <a:prstDash val="solid"/>
          </a:ln>
        </p:spPr>
      </p:sp>
      <p:sp>
        <p:nvSpPr>
          <p:cNvPr id="13" name="Big 3"/>
          <p:cNvSpPr txBox="1"/>
          <p:nvPr/>
        </p:nvSpPr>
        <p:spPr>
          <a:xfrm>
            <a:off x="6358128" y="1371600"/>
            <a:ext cx="205435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3"/>
                </a:solidFill>
              </a:rPr>
              <a:t>Raw</a:t>
            </a:r>
            <a:endParaRPr lang="en-US" sz="3000" dirty="0"/>
          </a:p>
        </p:txBody>
      </p:sp>
      <p:sp>
        <p:nvSpPr>
          <p:cNvPr id="14" name="Card head 3"/>
          <p:cNvSpPr txBox="1"/>
          <p:nvPr/>
        </p:nvSpPr>
        <p:spPr>
          <a:xfrm>
            <a:off x="6358128" y="2240280"/>
            <a:ext cx="205435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Raw data</a:t>
            </a:r>
            <a:endParaRPr lang="en-US" sz="1800" dirty="0"/>
          </a:p>
        </p:txBody>
      </p:sp>
      <p:sp>
        <p:nvSpPr>
          <p:cNvPr id="15" name="Card body 3"/>
          <p:cNvSpPr txBox="1"/>
          <p:nvPr/>
        </p:nvSpPr>
        <p:spPr>
          <a:xfrm>
            <a:off x="6358128" y="2971800"/>
            <a:ext cx="2054352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Data as collected, not yet arranged.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Tally marks and frequency</a:t>
            </a:r>
            <a:endParaRPr lang="en-US" sz="3000" dirty="0"/>
          </a:p>
        </p:txBody>
      </p:sp>
      <p:sp>
        <p:nvSpPr>
          <p:cNvPr id="4" name="Points"/>
          <p:cNvSpPr txBox="1"/>
          <p:nvPr/>
        </p:nvSpPr>
        <p:spPr>
          <a:xfrm>
            <a:off x="457200" y="1097280"/>
            <a:ext cx="402336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Frequency: how often a value occurs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Tally: four strokes, the fifth across them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Ungrouped table: one row per value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Frequencies add up to N</a:t>
            </a:r>
            <a:endParaRPr lang="en-US" sz="1600" dirty="0"/>
          </a:p>
        </p:txBody>
      </p:sp>
      <p:sp>
        <p:nvSpPr>
          <p:cNvPr id="5" name="Concept image frame"/>
          <p:cNvSpPr/>
          <p:nvPr/>
        </p:nvSpPr>
        <p:spPr>
          <a:xfrm>
            <a:off x="4809744" y="1106424"/>
            <a:ext cx="3913632" cy="2587015"/>
          </a:xfrm>
          <a:prstGeom prst="roundRect">
            <a:avLst>
              <a:gd name="adj" fmla="val 2828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</p:spPr>
      </p:sp>
      <p:pic>
        <p:nvPicPr>
          <p:cNvPr id="6" name="Concept image" descr="/tmp/claude-0/-home-claude/7116491e-74ad-5a48-9637-67025fdd7b6d/scratchpad/deck/frequency-tables/famil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846320" y="1143000"/>
            <a:ext cx="3840480" cy="2513863"/>
          </a:xfrm>
          <a:prstGeom prst="rect">
            <a:avLst/>
          </a:prstGeom>
        </p:spPr>
      </p:pic>
      <p:sp>
        <p:nvSpPr>
          <p:cNvPr id="7" name="Caption"/>
          <p:cNvSpPr txBox="1"/>
          <p:nvPr/>
        </p:nvSpPr>
        <p:spPr>
          <a:xfrm>
            <a:off x="4846320" y="3766591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Family sizes of 25 students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Classes</a:t>
            </a:r>
            <a:endParaRPr lang="en-US" sz="3000" dirty="0"/>
          </a:p>
        </p:txBody>
      </p:sp>
      <p:sp>
        <p:nvSpPr>
          <p:cNvPr id="4" name="Formula card"/>
          <p:cNvSpPr/>
          <p:nvPr/>
        </p:nvSpPr>
        <p:spPr>
          <a:xfrm>
            <a:off x="4663440" y="1097280"/>
            <a:ext cx="4023360" cy="777240"/>
          </a:xfrm>
          <a:prstGeom prst="roundRect">
            <a:avLst>
              <a:gd name="adj" fmla="val 14118"/>
            </a:avLst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5" name="Formula"/>
          <p:cNvSpPr txBox="1"/>
          <p:nvPr/>
        </p:nvSpPr>
        <p:spPr>
          <a:xfrm>
            <a:off x="4846320" y="1097280"/>
            <a:ext cx="3657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2"/>
                </a:solidFill>
              </a:rPr>
              <a:t>Class mark = (lower + upper) ÷ 2</a:t>
            </a:r>
            <a:endParaRPr lang="en-US" sz="1800" dirty="0"/>
          </a:p>
        </p:txBody>
      </p:sp>
      <p:sp>
        <p:nvSpPr>
          <p:cNvPr id="6" name="Points"/>
          <p:cNvSpPr txBox="1"/>
          <p:nvPr/>
        </p:nvSpPr>
        <p:spPr>
          <a:xfrm>
            <a:off x="4663440" y="2103120"/>
            <a:ext cx="402336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20–30: lower limit 20, upper limit 30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Class width = 30 − 20 = 10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Exclusive 20–30: 30 not included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Inclusive 20–29: both limits included</a:t>
            </a:r>
            <a:endParaRPr lang="en-US" sz="1600" dirty="0"/>
          </a:p>
        </p:txBody>
      </p:sp>
      <p:sp>
        <p:nvSpPr>
          <p:cNvPr id="7" name="Concept image frame"/>
          <p:cNvSpPr/>
          <p:nvPr/>
        </p:nvSpPr>
        <p:spPr>
          <a:xfrm>
            <a:off x="420624" y="1106424"/>
            <a:ext cx="3913632" cy="2587015"/>
          </a:xfrm>
          <a:prstGeom prst="roundRect">
            <a:avLst>
              <a:gd name="adj" fmla="val 2828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</p:spPr>
      </p:sp>
      <p:pic>
        <p:nvPicPr>
          <p:cNvPr id="8" name="Concept image" descr="/tmp/claude-0/-home-claude/7116491e-74ad-5a48-9637-67025fdd7b6d/scratchpad/deck/frequency-tables/grouped1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143000"/>
            <a:ext cx="3840480" cy="2513863"/>
          </a:xfrm>
          <a:prstGeom prst="rect">
            <a:avLst/>
          </a:prstGeom>
        </p:spPr>
      </p:pic>
      <p:sp>
        <p:nvSpPr>
          <p:cNvPr id="9" name="Caption"/>
          <p:cNvSpPr txBox="1"/>
          <p:nvPr/>
        </p:nvSpPr>
        <p:spPr>
          <a:xfrm>
            <a:off x="457200" y="3766591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Width 10, exclusive classes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Cumulative frequency</a:t>
            </a:r>
            <a:endParaRPr lang="en-US" sz="3000" dirty="0"/>
          </a:p>
        </p:txBody>
      </p:sp>
      <p:sp>
        <p:nvSpPr>
          <p:cNvPr id="4" name="Less than image frame"/>
          <p:cNvSpPr/>
          <p:nvPr/>
        </p:nvSpPr>
        <p:spPr>
          <a:xfrm>
            <a:off x="420624" y="1060704"/>
            <a:ext cx="4096512" cy="2706722"/>
          </a:xfrm>
          <a:prstGeom prst="roundRect">
            <a:avLst>
              <a:gd name="adj" fmla="val 2703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</p:spPr>
      </p:sp>
      <p:pic>
        <p:nvPicPr>
          <p:cNvPr id="5" name="Less than image" descr="/tmp/claude-0/-home-claude/7116491e-74ad-5a48-9637-67025fdd7b6d/scratchpad/deck/frequency-tables/les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097280"/>
            <a:ext cx="4023360" cy="2633570"/>
          </a:xfrm>
          <a:prstGeom prst="rect">
            <a:avLst/>
          </a:prstGeom>
        </p:spPr>
      </p:pic>
      <p:sp>
        <p:nvSpPr>
          <p:cNvPr id="6" name="Less than text"/>
          <p:cNvSpPr txBox="1"/>
          <p:nvPr/>
        </p:nvSpPr>
        <p:spPr>
          <a:xfrm>
            <a:off x="457200" y="3868010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Add downwards: 5, 13, 24, 30. Last = N.</a:t>
            </a:r>
            <a:endParaRPr lang="en-US" sz="1400" dirty="0"/>
          </a:p>
        </p:txBody>
      </p:sp>
      <p:sp>
        <p:nvSpPr>
          <p:cNvPr id="7" name="More than image frame"/>
          <p:cNvSpPr/>
          <p:nvPr/>
        </p:nvSpPr>
        <p:spPr>
          <a:xfrm>
            <a:off x="4626864" y="1060704"/>
            <a:ext cx="4096512" cy="2706722"/>
          </a:xfrm>
          <a:prstGeom prst="roundRect">
            <a:avLst>
              <a:gd name="adj" fmla="val 2703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</p:spPr>
      </p:sp>
      <p:pic>
        <p:nvPicPr>
          <p:cNvPr id="8" name="More than image" descr="/tmp/claude-0/-home-claude/7116491e-74ad-5a48-9637-67025fdd7b6d/scratchpad/deck/frequency-tables/mor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63440" y="1097280"/>
            <a:ext cx="4023360" cy="2633570"/>
          </a:xfrm>
          <a:prstGeom prst="rect">
            <a:avLst/>
          </a:prstGeom>
        </p:spPr>
      </p:pic>
      <p:sp>
        <p:nvSpPr>
          <p:cNvPr id="9" name="More than text"/>
          <p:cNvSpPr txBox="1"/>
          <p:nvPr/>
        </p:nvSpPr>
        <p:spPr>
          <a:xfrm>
            <a:off x="4663440" y="3868010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Add upwards: 30, 25, 17, 6. First = N.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Worked examples</a:t>
            </a:r>
            <a:endParaRPr lang="en-US" sz="3000" dirty="0"/>
          </a:p>
        </p:txBody>
      </p:sp>
      <p:sp>
        <p:nvSpPr>
          <p:cNvPr id="4" name="Example card 1"/>
          <p:cNvSpPr/>
          <p:nvPr/>
        </p:nvSpPr>
        <p:spPr>
          <a:xfrm>
            <a:off x="457200" y="1097280"/>
            <a:ext cx="4023360" cy="3429000"/>
          </a:xfrm>
          <a:prstGeom prst="roundRect">
            <a:avLst>
              <a:gd name="adj" fmla="val 32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Example head 1"/>
          <p:cNvSpPr txBox="1"/>
          <p:nvPr/>
        </p:nvSpPr>
        <p:spPr>
          <a:xfrm>
            <a:off x="685800" y="128016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Ungrouped</a:t>
            </a:r>
            <a:endParaRPr lang="en-US" sz="1800" dirty="0"/>
          </a:p>
        </p:txBody>
      </p:sp>
      <p:sp>
        <p:nvSpPr>
          <p:cNvPr id="6" name="Problem 1"/>
          <p:cNvSpPr txBox="1"/>
          <p:nvPr/>
        </p:nvSpPr>
        <p:spPr>
          <a:xfrm>
            <a:off x="685800" y="1737360"/>
            <a:ext cx="3566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i="1" dirty="0">
                <a:solidFill>
                  <a:schemeClr val="tx1"/>
                </a:solidFill>
              </a:rPr>
              <a:t>Family sizes of 25 students, values 2 to 7.</a:t>
            </a:r>
            <a:endParaRPr lang="en-US" sz="1500" dirty="0"/>
          </a:p>
        </p:txBody>
      </p:sp>
      <p:sp>
        <p:nvSpPr>
          <p:cNvPr id="7" name="Solution 1"/>
          <p:cNvSpPr txBox="1"/>
          <p:nvPr/>
        </p:nvSpPr>
        <p:spPr>
          <a:xfrm>
            <a:off x="685800" y="2743200"/>
            <a:ext cx="356616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f: 2, 6, 8, 5, 3, 1</a:t>
            </a:r>
            <a:pPr indent="0" marL="0">
              <a:spcAft>
                <a:spcPts val="800"/>
              </a:spcAft>
              <a:buNone/>
            </a:pPr>
            <a:endParaRPr lang="en-US" sz="15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Total 25 = N; most common: </a:t>
            </a:r>
            <a:pPr indent="0" marL="0">
              <a:spcAft>
                <a:spcPts val="800"/>
              </a:spcAft>
              <a:buNone/>
            </a:pPr>
            <a:r>
              <a:rPr lang="en-US" sz="1500" b="1" dirty="0">
                <a:solidFill>
                  <a:schemeClr val="accent2"/>
                </a:solidFill>
              </a:rPr>
              <a:t>4 members</a:t>
            </a:r>
            <a:endParaRPr lang="en-US" sz="1500" dirty="0"/>
          </a:p>
        </p:txBody>
      </p:sp>
      <p:sp>
        <p:nvSpPr>
          <p:cNvPr id="8" name="Example card 2"/>
          <p:cNvSpPr/>
          <p:nvPr/>
        </p:nvSpPr>
        <p:spPr>
          <a:xfrm>
            <a:off x="4663440" y="1097280"/>
            <a:ext cx="4023360" cy="3429000"/>
          </a:xfrm>
          <a:prstGeom prst="roundRect">
            <a:avLst>
              <a:gd name="adj" fmla="val 32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Example head 2"/>
          <p:cNvSpPr txBox="1"/>
          <p:nvPr/>
        </p:nvSpPr>
        <p:spPr>
          <a:xfrm>
            <a:off x="4892040" y="128016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Grouped</a:t>
            </a:r>
            <a:endParaRPr lang="en-US" sz="1800" dirty="0"/>
          </a:p>
        </p:txBody>
      </p:sp>
      <p:sp>
        <p:nvSpPr>
          <p:cNvPr id="10" name="Problem 2"/>
          <p:cNvSpPr txBox="1"/>
          <p:nvPr/>
        </p:nvSpPr>
        <p:spPr>
          <a:xfrm>
            <a:off x="4892040" y="1737360"/>
            <a:ext cx="3566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i="1" dirty="0">
                <a:solidFill>
                  <a:schemeClr val="tx1"/>
                </a:solidFill>
              </a:rPr>
              <a:t>30 marks in classes 10–20, …, 40–50.</a:t>
            </a:r>
            <a:endParaRPr lang="en-US" sz="1500" dirty="0"/>
          </a:p>
        </p:txBody>
      </p:sp>
      <p:sp>
        <p:nvSpPr>
          <p:cNvPr id="11" name="Solution 2"/>
          <p:cNvSpPr txBox="1"/>
          <p:nvPr/>
        </p:nvSpPr>
        <p:spPr>
          <a:xfrm>
            <a:off x="4892040" y="2743200"/>
            <a:ext cx="356616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f: 5, 8, 11, 6 (total 30)</a:t>
            </a:r>
            <a:pPr indent="0" marL="0">
              <a:spcAft>
                <a:spcPts val="800"/>
              </a:spcAft>
              <a:buNone/>
            </a:pPr>
            <a:endParaRPr lang="en-US" sz="15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Class marks: </a:t>
            </a:r>
            <a:pPr indent="0" marL="0">
              <a:spcAft>
                <a:spcPts val="800"/>
              </a:spcAft>
              <a:buNone/>
            </a:pPr>
            <a:r>
              <a:rPr lang="en-US" sz="1500" b="1" dirty="0">
                <a:solidFill>
                  <a:schemeClr val="accent2"/>
                </a:solidFill>
              </a:rPr>
              <a:t>15, 25, 35, 45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Worked example: cumulative frequency</a:t>
            </a:r>
            <a:endParaRPr lang="en-US" sz="3000" dirty="0"/>
          </a:p>
        </p:txBody>
      </p:sp>
      <p:sp>
        <p:nvSpPr>
          <p:cNvPr id="4" name="Problem 1"/>
          <p:cNvSpPr txBox="1"/>
          <p:nvPr/>
        </p:nvSpPr>
        <p:spPr>
          <a:xfrm>
            <a:off x="457200" y="1097280"/>
            <a:ext cx="4114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i="1" dirty="0">
                <a:solidFill>
                  <a:schemeClr val="tx1"/>
                </a:solidFill>
              </a:rPr>
              <a:t>From the marks table, how many scored less than 30, and how many 30 or more?</a:t>
            </a:r>
            <a:endParaRPr lang="en-US" sz="1500" dirty="0"/>
          </a:p>
        </p:txBody>
      </p:sp>
      <p:sp>
        <p:nvSpPr>
          <p:cNvPr id="5" name="Solution 1"/>
          <p:cNvSpPr txBox="1"/>
          <p:nvPr/>
        </p:nvSpPr>
        <p:spPr>
          <a:xfrm>
            <a:off x="457200" y="2103120"/>
            <a:ext cx="4114800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Less than c.f. of 20–30: </a:t>
            </a:r>
            <a:pPr indent="0" marL="0">
              <a:spcAft>
                <a:spcPts val="800"/>
              </a:spcAft>
              <a:buNone/>
            </a:pPr>
            <a:r>
              <a:rPr lang="en-US" sz="1500" b="1" dirty="0">
                <a:solidFill>
                  <a:schemeClr val="accent1"/>
                </a:solidFill>
              </a:rPr>
              <a:t>13</a:t>
            </a:r>
            <a:endParaRPr lang="en-US" sz="15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More than c.f. of 30–40: </a:t>
            </a:r>
            <a:pPr indent="0" marL="0">
              <a:spcAft>
                <a:spcPts val="800"/>
              </a:spcAft>
              <a:buNone/>
            </a:pPr>
            <a:r>
              <a:rPr lang="en-US" sz="1500" b="1" dirty="0">
                <a:solidFill>
                  <a:schemeClr val="accent2"/>
                </a:solidFill>
              </a:rPr>
              <a:t>17</a:t>
            </a:r>
            <a:endParaRPr lang="en-US" sz="15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Check: 13 + 17 = 30 ✓</a:t>
            </a:r>
            <a:pPr indent="0" marL="0">
              <a:spcAft>
                <a:spcPts val="800"/>
              </a:spcAft>
              <a:buNone/>
            </a:pPr>
            <a:endParaRPr lang="en-US" sz="1500" dirty="0"/>
          </a:p>
        </p:txBody>
      </p:sp>
      <p:sp>
        <p:nvSpPr>
          <p:cNvPr id="6" name="Example image frame"/>
          <p:cNvSpPr/>
          <p:nvPr/>
        </p:nvSpPr>
        <p:spPr>
          <a:xfrm>
            <a:off x="4809744" y="1106424"/>
            <a:ext cx="3913632" cy="2587015"/>
          </a:xfrm>
          <a:prstGeom prst="roundRect">
            <a:avLst>
              <a:gd name="adj" fmla="val 2828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</p:spPr>
      </p:sp>
      <p:pic>
        <p:nvPicPr>
          <p:cNvPr id="7" name="Example image" descr="/tmp/claude-0/-home-claude/7116491e-74ad-5a48-9637-67025fdd7b6d/scratchpad/deck/frequency-tables/mor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846320" y="1143000"/>
            <a:ext cx="3840480" cy="2513863"/>
          </a:xfrm>
          <a:prstGeom prst="rect">
            <a:avLst/>
          </a:prstGeom>
        </p:spPr>
      </p:pic>
      <p:sp>
        <p:nvSpPr>
          <p:cNvPr id="8" name="Caption"/>
          <p:cNvSpPr txBox="1"/>
          <p:nvPr/>
        </p:nvSpPr>
        <p:spPr>
          <a:xfrm>
            <a:off x="4846320" y="3766591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More-than c.f. column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Narrower classes</a:t>
            </a:r>
            <a:endParaRPr lang="en-US" sz="3000" dirty="0"/>
          </a:p>
        </p:txBody>
      </p:sp>
      <p:sp>
        <p:nvSpPr>
          <p:cNvPr id="4" name="Stats image frame"/>
          <p:cNvSpPr/>
          <p:nvPr/>
        </p:nvSpPr>
        <p:spPr>
          <a:xfrm>
            <a:off x="420624" y="1106424"/>
            <a:ext cx="4096512" cy="2706722"/>
          </a:xfrm>
          <a:prstGeom prst="roundRect">
            <a:avLst>
              <a:gd name="adj" fmla="val 2703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</p:spPr>
      </p:sp>
      <p:pic>
        <p:nvPicPr>
          <p:cNvPr id="5" name="Stats image" descr="/tmp/claude-0/-home-claude/7116491e-74ad-5a48-9637-67025fdd7b6d/scratchpad/deck/frequency-tables/grouped5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143000"/>
            <a:ext cx="4023360" cy="2633570"/>
          </a:xfrm>
          <a:prstGeom prst="rect">
            <a:avLst/>
          </a:prstGeom>
        </p:spPr>
      </p:pic>
      <p:sp>
        <p:nvSpPr>
          <p:cNvPr id="6" name="Caption"/>
          <p:cNvSpPr txBox="1"/>
          <p:nvPr/>
        </p:nvSpPr>
        <p:spPr>
          <a:xfrm>
            <a:off x="457200" y="3886298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Same marks, width 5</a:t>
            </a:r>
            <a:endParaRPr lang="en-US" sz="1100" dirty="0"/>
          </a:p>
        </p:txBody>
      </p:sp>
      <p:sp>
        <p:nvSpPr>
          <p:cNvPr id="7" name="Facts"/>
          <p:cNvSpPr txBox="1"/>
          <p:nvPr/>
        </p:nvSpPr>
        <p:spPr>
          <a:xfrm>
            <a:off x="4846320" y="1143000"/>
            <a:ext cx="3840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With class width 5 there are 8 classes:</a:t>
            </a:r>
            <a:endParaRPr lang="en-US" sz="1600" dirty="0"/>
          </a:p>
        </p:txBody>
      </p:sp>
      <p:sp>
        <p:nvSpPr>
          <p:cNvPr id="8" name="Stat card 1"/>
          <p:cNvSpPr/>
          <p:nvPr/>
        </p:nvSpPr>
        <p:spPr>
          <a:xfrm>
            <a:off x="4846320" y="1920240"/>
            <a:ext cx="1828800" cy="1463040"/>
          </a:xfrm>
          <a:prstGeom prst="roundRect">
            <a:avLst>
              <a:gd name="adj" fmla="val 7500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9" name="Stat 1"/>
          <p:cNvSpPr txBox="1"/>
          <p:nvPr/>
        </p:nvSpPr>
        <p:spPr>
          <a:xfrm>
            <a:off x="4983480" y="2011680"/>
            <a:ext cx="1554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chemeClr val="accent1"/>
                </a:solidFill>
              </a:rPr>
              <a:t>30–35</a:t>
            </a:r>
            <a:endParaRPr lang="en-US" sz="2400" dirty="0"/>
          </a:p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fullest class, f = 6</a:t>
            </a:r>
            <a:endParaRPr lang="en-US" sz="2400" dirty="0"/>
          </a:p>
        </p:txBody>
      </p:sp>
      <p:sp>
        <p:nvSpPr>
          <p:cNvPr id="10" name="Stat card 2"/>
          <p:cNvSpPr/>
          <p:nvPr/>
        </p:nvSpPr>
        <p:spPr>
          <a:xfrm>
            <a:off x="6858000" y="1920240"/>
            <a:ext cx="1828800" cy="1463040"/>
          </a:xfrm>
          <a:prstGeom prst="roundRect">
            <a:avLst>
              <a:gd name="adj" fmla="val 7500"/>
            </a:avLst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11" name="Stat 2"/>
          <p:cNvSpPr txBox="1"/>
          <p:nvPr/>
        </p:nvSpPr>
        <p:spPr>
          <a:xfrm>
            <a:off x="6995160" y="2011680"/>
            <a:ext cx="1554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accent2"/>
                </a:solidFill>
              </a:rPr>
              <a:t>32.5</a:t>
            </a:r>
            <a:endParaRPr lang="en-US" sz="2800" dirty="0"/>
          </a:p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its class mark</a:t>
            </a:r>
            <a:endParaRPr lang="en-US" sz="2800" dirty="0"/>
          </a:p>
        </p:txBody>
      </p:sp>
      <p:sp>
        <p:nvSpPr>
          <p:cNvPr id="12" name="Takeaway"/>
          <p:cNvSpPr txBox="1"/>
          <p:nvPr/>
        </p:nvSpPr>
        <p:spPr>
          <a:xfrm>
            <a:off x="4846320" y="3566160"/>
            <a:ext cx="3840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chemeClr val="tx2"/>
                </a:solidFill>
              </a:rPr>
              <a:t>Narrower classes show more detail but give a longer table.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Common mistakes</a:t>
            </a:r>
            <a:endParaRPr lang="en-US" sz="3000" dirty="0"/>
          </a:p>
        </p:txBody>
      </p:sp>
      <p:sp>
        <p:nvSpPr>
          <p:cNvPr id="4" name="Mistake card 1"/>
          <p:cNvSpPr/>
          <p:nvPr/>
        </p:nvSpPr>
        <p:spPr>
          <a:xfrm>
            <a:off x="457200" y="1097280"/>
            <a:ext cx="4023360" cy="1508760"/>
          </a:xfrm>
          <a:prstGeom prst="roundRect">
            <a:avLst>
              <a:gd name="adj" fmla="val 727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pic>
        <p:nvPicPr>
          <p:cNvPr id="5" name="Cross 1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1325880"/>
            <a:ext cx="365760" cy="365760"/>
          </a:xfrm>
          <a:prstGeom prst="rect">
            <a:avLst/>
          </a:prstGeom>
        </p:spPr>
      </p:pic>
      <p:sp>
        <p:nvSpPr>
          <p:cNvPr id="6" name="Mistake 1"/>
          <p:cNvSpPr txBox="1"/>
          <p:nvPr/>
        </p:nvSpPr>
        <p:spPr>
          <a:xfrm>
            <a:off x="1234440" y="128016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Boundary counted twice</a:t>
            </a:r>
            <a:endParaRPr lang="en-US" sz="1700" dirty="0"/>
          </a:p>
        </p:txBody>
      </p:sp>
      <p:sp>
        <p:nvSpPr>
          <p:cNvPr id="7" name="Fix 1"/>
          <p:cNvSpPr txBox="1"/>
          <p:nvPr/>
        </p:nvSpPr>
        <p:spPr>
          <a:xfrm>
            <a:off x="1234440" y="1755648"/>
            <a:ext cx="3063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In exclusive classes 20 is only in 20–30.</a:t>
            </a:r>
            <a:endParaRPr lang="en-US" sz="1400" dirty="0"/>
          </a:p>
        </p:txBody>
      </p:sp>
      <p:sp>
        <p:nvSpPr>
          <p:cNvPr id="8" name="Mistake card 2"/>
          <p:cNvSpPr/>
          <p:nvPr/>
        </p:nvSpPr>
        <p:spPr>
          <a:xfrm>
            <a:off x="4663440" y="1097280"/>
            <a:ext cx="4023360" cy="1508760"/>
          </a:xfrm>
          <a:prstGeom prst="roundRect">
            <a:avLst>
              <a:gd name="adj" fmla="val 727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pic>
        <p:nvPicPr>
          <p:cNvPr id="9" name="Cross 2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92040" y="1325880"/>
            <a:ext cx="365760" cy="365760"/>
          </a:xfrm>
          <a:prstGeom prst="rect">
            <a:avLst/>
          </a:prstGeom>
        </p:spPr>
      </p:pic>
      <p:sp>
        <p:nvSpPr>
          <p:cNvPr id="10" name="Mistake 2"/>
          <p:cNvSpPr txBox="1"/>
          <p:nvPr/>
        </p:nvSpPr>
        <p:spPr>
          <a:xfrm>
            <a:off x="5440680" y="128016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Class mark = width</a:t>
            </a:r>
            <a:endParaRPr lang="en-US" sz="1700" dirty="0"/>
          </a:p>
        </p:txBody>
      </p:sp>
      <p:sp>
        <p:nvSpPr>
          <p:cNvPr id="11" name="Fix 2"/>
          <p:cNvSpPr txBox="1"/>
          <p:nvPr/>
        </p:nvSpPr>
        <p:spPr>
          <a:xfrm>
            <a:off x="5440680" y="1755648"/>
            <a:ext cx="3063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It is (lower + upper) ÷ 2.</a:t>
            </a:r>
            <a:endParaRPr lang="en-US" sz="1400" dirty="0"/>
          </a:p>
        </p:txBody>
      </p:sp>
      <p:sp>
        <p:nvSpPr>
          <p:cNvPr id="12" name="Mistake card 3"/>
          <p:cNvSpPr/>
          <p:nvPr/>
        </p:nvSpPr>
        <p:spPr>
          <a:xfrm>
            <a:off x="457200" y="2788920"/>
            <a:ext cx="4023360" cy="1508760"/>
          </a:xfrm>
          <a:prstGeom prst="roundRect">
            <a:avLst>
              <a:gd name="adj" fmla="val 727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pic>
        <p:nvPicPr>
          <p:cNvPr id="13" name="Cross 3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3017520"/>
            <a:ext cx="365760" cy="365760"/>
          </a:xfrm>
          <a:prstGeom prst="rect">
            <a:avLst/>
          </a:prstGeom>
        </p:spPr>
      </p:pic>
      <p:sp>
        <p:nvSpPr>
          <p:cNvPr id="14" name="Mistake 3"/>
          <p:cNvSpPr txBox="1"/>
          <p:nvPr/>
        </p:nvSpPr>
        <p:spPr>
          <a:xfrm>
            <a:off x="1234440" y="297180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Total not N</a:t>
            </a:r>
            <a:endParaRPr lang="en-US" sz="1700" dirty="0"/>
          </a:p>
        </p:txBody>
      </p:sp>
      <p:sp>
        <p:nvSpPr>
          <p:cNvPr id="15" name="Fix 3"/>
          <p:cNvSpPr txBox="1"/>
          <p:nvPr/>
        </p:nvSpPr>
        <p:spPr>
          <a:xfrm>
            <a:off x="1234440" y="3447288"/>
            <a:ext cx="3063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Add the frequency column every time.</a:t>
            </a:r>
            <a:endParaRPr lang="en-US" sz="1400" dirty="0"/>
          </a:p>
        </p:txBody>
      </p:sp>
      <p:sp>
        <p:nvSpPr>
          <p:cNvPr id="16" name="Mistake card 4"/>
          <p:cNvSpPr/>
          <p:nvPr/>
        </p:nvSpPr>
        <p:spPr>
          <a:xfrm>
            <a:off x="4663440" y="2788920"/>
            <a:ext cx="4023360" cy="1508760"/>
          </a:xfrm>
          <a:prstGeom prst="roundRect">
            <a:avLst>
              <a:gd name="adj" fmla="val 727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pic>
        <p:nvPicPr>
          <p:cNvPr id="17" name="Cross 4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92040" y="3017520"/>
            <a:ext cx="365760" cy="365760"/>
          </a:xfrm>
          <a:prstGeom prst="rect">
            <a:avLst/>
          </a:prstGeom>
        </p:spPr>
      </p:pic>
      <p:sp>
        <p:nvSpPr>
          <p:cNvPr id="18" name="Mistake 4"/>
          <p:cNvSpPr txBox="1"/>
          <p:nvPr/>
        </p:nvSpPr>
        <p:spPr>
          <a:xfrm>
            <a:off x="5440680" y="297180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More-than added down</a:t>
            </a:r>
            <a:endParaRPr lang="en-US" sz="1700" dirty="0"/>
          </a:p>
        </p:txBody>
      </p:sp>
      <p:sp>
        <p:nvSpPr>
          <p:cNvPr id="19" name="Fix 4"/>
          <p:cNvSpPr txBox="1"/>
          <p:nvPr/>
        </p:nvSpPr>
        <p:spPr>
          <a:xfrm>
            <a:off x="5440680" y="3447288"/>
            <a:ext cx="3063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Start from the last class.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Quick check</a:t>
            </a:r>
            <a:endParaRPr lang="en-US" sz="3000" dirty="0"/>
          </a:p>
        </p:txBody>
      </p:sp>
      <p:sp>
        <p:nvSpPr>
          <p:cNvPr id="4" name="Question card 1"/>
          <p:cNvSpPr/>
          <p:nvPr/>
        </p:nvSpPr>
        <p:spPr>
          <a:xfrm>
            <a:off x="457200" y="1143000"/>
            <a:ext cx="4023360" cy="1508760"/>
          </a:xfrm>
          <a:prstGeom prst="roundRect">
            <a:avLst>
              <a:gd name="adj" fmla="val 7273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5" name="Number 1"/>
          <p:cNvSpPr txBox="1"/>
          <p:nvPr/>
        </p:nvSpPr>
        <p:spPr>
          <a:xfrm>
            <a:off x="685800" y="1325880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1"/>
                </a:solidFill>
              </a:rPr>
              <a:t>1</a:t>
            </a:r>
            <a:endParaRPr lang="en-US" sz="3000" dirty="0"/>
          </a:p>
        </p:txBody>
      </p:sp>
      <p:sp>
        <p:nvSpPr>
          <p:cNvPr id="6" name="Question 1"/>
          <p:cNvSpPr txBox="1"/>
          <p:nvPr/>
        </p:nvSpPr>
        <p:spPr>
          <a:xfrm>
            <a:off x="1234440" y="1344168"/>
            <a:ext cx="3063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What is the class mark of 40–50?</a:t>
            </a:r>
            <a:endParaRPr lang="en-US" sz="1600" dirty="0"/>
          </a:p>
        </p:txBody>
      </p:sp>
      <p:sp>
        <p:nvSpPr>
          <p:cNvPr id="7" name="Question card 2"/>
          <p:cNvSpPr/>
          <p:nvPr/>
        </p:nvSpPr>
        <p:spPr>
          <a:xfrm>
            <a:off x="4663440" y="1143000"/>
            <a:ext cx="4023360" cy="1508760"/>
          </a:xfrm>
          <a:prstGeom prst="roundRect">
            <a:avLst>
              <a:gd name="adj" fmla="val 7273"/>
            </a:avLst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8" name="Number 2"/>
          <p:cNvSpPr txBox="1"/>
          <p:nvPr/>
        </p:nvSpPr>
        <p:spPr>
          <a:xfrm>
            <a:off x="4892040" y="1325880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2"/>
                </a:solidFill>
              </a:rPr>
              <a:t>2</a:t>
            </a:r>
            <a:endParaRPr lang="en-US" sz="3000" dirty="0"/>
          </a:p>
        </p:txBody>
      </p:sp>
      <p:sp>
        <p:nvSpPr>
          <p:cNvPr id="9" name="Question 2"/>
          <p:cNvSpPr txBox="1"/>
          <p:nvPr/>
        </p:nvSpPr>
        <p:spPr>
          <a:xfrm>
            <a:off x="5440680" y="1344168"/>
            <a:ext cx="3063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Classes 10–20, 20–30, 30–40: where does 30 go?</a:t>
            </a:r>
            <a:endParaRPr lang="en-US" sz="1600" dirty="0"/>
          </a:p>
        </p:txBody>
      </p:sp>
      <p:sp>
        <p:nvSpPr>
          <p:cNvPr id="10" name="Question card 3"/>
          <p:cNvSpPr/>
          <p:nvPr/>
        </p:nvSpPr>
        <p:spPr>
          <a:xfrm>
            <a:off x="457200" y="2834640"/>
            <a:ext cx="4023360" cy="1508760"/>
          </a:xfrm>
          <a:prstGeom prst="roundRect">
            <a:avLst>
              <a:gd name="adj" fmla="val 7273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1" name="Number 3"/>
          <p:cNvSpPr txBox="1"/>
          <p:nvPr/>
        </p:nvSpPr>
        <p:spPr>
          <a:xfrm>
            <a:off x="685800" y="3017520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1"/>
                </a:solidFill>
              </a:rPr>
              <a:t>3</a:t>
            </a:r>
            <a:endParaRPr lang="en-US" sz="3000" dirty="0"/>
          </a:p>
        </p:txBody>
      </p:sp>
      <p:sp>
        <p:nvSpPr>
          <p:cNvPr id="12" name="Question 3"/>
          <p:cNvSpPr txBox="1"/>
          <p:nvPr/>
        </p:nvSpPr>
        <p:spPr>
          <a:xfrm>
            <a:off x="1234440" y="3035808"/>
            <a:ext cx="3063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Frequencies 4, 7, 9, 5: less-than c.f. of the third class?</a:t>
            </a:r>
            <a:endParaRPr lang="en-US" sz="1600" dirty="0"/>
          </a:p>
        </p:txBody>
      </p:sp>
      <p:sp>
        <p:nvSpPr>
          <p:cNvPr id="13" name="Question card 4"/>
          <p:cNvSpPr/>
          <p:nvPr/>
        </p:nvSpPr>
        <p:spPr>
          <a:xfrm>
            <a:off x="4663440" y="2834640"/>
            <a:ext cx="4023360" cy="1508760"/>
          </a:xfrm>
          <a:prstGeom prst="roundRect">
            <a:avLst>
              <a:gd name="adj" fmla="val 7273"/>
            </a:avLst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14" name="Number 4"/>
          <p:cNvSpPr txBox="1"/>
          <p:nvPr/>
        </p:nvSpPr>
        <p:spPr>
          <a:xfrm>
            <a:off x="4892040" y="3017520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2"/>
                </a:solidFill>
              </a:rPr>
              <a:t>4</a:t>
            </a:r>
            <a:endParaRPr lang="en-US" sz="3000" dirty="0"/>
          </a:p>
        </p:txBody>
      </p:sp>
      <p:sp>
        <p:nvSpPr>
          <p:cNvPr id="15" name="Question 4"/>
          <p:cNvSpPr txBox="1"/>
          <p:nvPr/>
        </p:nvSpPr>
        <p:spPr>
          <a:xfrm>
            <a:off x="5440680" y="3035808"/>
            <a:ext cx="3063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Asking classmates how they travel: primary or secondary data?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1600200"/>
            <a:ext cx="42062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800" b="1" dirty="0">
                <a:solidFill>
                  <a:schemeClr val="bg1"/>
                </a:solidFill>
              </a:rPr>
              <a:t>Sort the data yourself</a:t>
            </a:r>
            <a:endParaRPr lang="en-US" sz="3800" dirty="0"/>
          </a:p>
        </p:txBody>
      </p:sp>
      <p:sp>
        <p:nvSpPr>
          <p:cNvPr id="4" name="Call to action"/>
          <p:cNvSpPr txBox="1"/>
          <p:nvPr/>
        </p:nvSpPr>
        <p:spPr>
          <a:xfrm>
            <a:off x="548640" y="3063240"/>
            <a:ext cx="4023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accent5"/>
                </a:solidFill>
              </a:rPr>
              <a:t>Open the Frequency Tables lesson on the Visual Science &amp; Maths website. Watch each value find its row and the cumulative frequency build up.</a:t>
            </a:r>
            <a:endParaRPr lang="en-US" sz="1500" dirty="0"/>
          </a:p>
        </p:txBody>
      </p:sp>
      <p:sp>
        <p:nvSpPr>
          <p:cNvPr id="5" name="Next lesson"/>
          <p:cNvSpPr txBox="1"/>
          <p:nvPr/>
        </p:nvSpPr>
        <p:spPr>
          <a:xfrm>
            <a:off x="548640" y="416052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4"/>
                </a:solidFill>
              </a:rPr>
              <a:t>Next lesson: Mean, median and mode</a:t>
            </a:r>
            <a:endParaRPr lang="en-US" sz="1400" dirty="0"/>
          </a:p>
        </p:txBody>
      </p:sp>
      <p:sp>
        <p:nvSpPr>
          <p:cNvPr id="6" name="Closing image frame"/>
          <p:cNvSpPr/>
          <p:nvPr/>
        </p:nvSpPr>
        <p:spPr>
          <a:xfrm>
            <a:off x="4901184" y="1197864"/>
            <a:ext cx="3822192" cy="2527161"/>
          </a:xfrm>
          <a:prstGeom prst="roundRect">
            <a:avLst>
              <a:gd name="adj" fmla="val 2895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</p:spPr>
      </p:sp>
      <p:pic>
        <p:nvPicPr>
          <p:cNvPr id="7" name="Closing image" descr="/tmp/claude-0/-home-claude/7116491e-74ad-5a48-9637-67025fdd7b6d/scratchpad/deck/frequency-tables/famil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37760" y="1234440"/>
            <a:ext cx="3749040" cy="2454009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Visual Science &amp; Maths">
  <a:themeElements>
    <a:clrScheme name="Visual Science &amp; Maths">
      <a:dk1>
        <a:srgbClr val="14232B"/>
      </a:dk1>
      <a:lt1>
        <a:srgbClr val="FFFFFF"/>
      </a:lt1>
      <a:dk2>
        <a:srgbClr val="56676F"/>
      </a:dk2>
      <a:lt2>
        <a:srgbClr val="F4F7F6"/>
      </a:lt2>
      <a:accent1>
        <a:srgbClr val="5B3FD6"/>
      </a:accent1>
      <a:accent2>
        <a:srgbClr val="0B8A7A"/>
      </a:accent2>
      <a:accent3>
        <a:srgbClr val="D9512C"/>
      </a:accent3>
      <a:accent4>
        <a:srgbClr val="ECE9FB"/>
      </a:accent4>
      <a:accent5>
        <a:srgbClr val="D6E0DE"/>
      </a:accent5>
      <a:accent6>
        <a:srgbClr val="E3F3F0"/>
      </a:accent6>
      <a:hlink>
        <a:srgbClr val="5B3FD6"/>
      </a:hlink>
      <a:folHlink>
        <a:srgbClr val="3E2A9E"/>
      </a:folHlink>
    </a:clrScheme>
    <a:fontScheme name="Visual Science &amp; Maths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Frequency Tables</dc:title>
  <dc:subject>Std 9 Mathematics Part I, Chapter 7 Statistics</dc:subject>
  <dc:creator>Visual Science &amp; Maths</dc:creator>
  <cp:lastModifiedBy>Visual Science &amp; Maths</cp:lastModifiedBy>
  <cp:revision>1</cp:revision>
  <dcterms:created xsi:type="dcterms:W3CDTF">2026-10-10T00:35:52Z</dcterms:created>
  <dcterms:modified xsi:type="dcterms:W3CDTF">2026-10-10T00:35:52Z</dcterms:modified>
</cp:coreProperties>
</file>