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469feae-7b06-3fc7-6f05-c786bcdf8b99}">
          <p14:sldIdLst>
            <p14:sldId id="256"/>
            <p14:sldId id="257"/>
          </p14:sldIdLst>
        </p14:section>
        <p14:section name="Key ideas" id="{62532d03-b1ac-ea2a-16be-cbc649204956}">
          <p14:sldIdLst>
            <p14:sldId id="258"/>
            <p14:sldId id="259"/>
            <p14:sldId id="260"/>
            <p14:sldId id="261"/>
          </p14:sldIdLst>
        </p14:section>
        <p14:section name="Practice" id="{ae5e761b-9759-4106-bf0c-cae9accea481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6f1213f9-d857-bbd8-830e-7ac9d1aa4fa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A ∩ B and A ∪ B, state their properties, and use n(A ∪ B) = n(A) + n(B) − n(A ∩ B) in word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explain the double counting before showing the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A ∩ B = B ∩ A, A ∩ A = A, A ∩ ∅ = ∅, A ∩ A′ = 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A ∪ B = B ∪ A, A ∪ A = A, A ∪ ∅ =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tokens in the picture to confirm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Shade both sides of De Morgan’s law in the simulation to see they are the same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formula first, then substitute.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Venn diagram from the middle outwards: 15, then 27 and 10, then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the four regions back to n(U) is a good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mistake gives the answer 45 in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{2, 3, 5, 7}. 2) 22. 3) A. 4) 30 + 25 − 50 =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make up a survey word problem for a partner, with a Venn diagram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Union, Intersection and Counting · Std 9 Maths I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1 SETS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Union, Intersection and Counting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nion-and-intersection/u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twice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 students play cricket and 20 play football. That is not 45 students.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not, and how many are there?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646868"/>
          </a:xfrm>
          <a:prstGeom prst="roundRect">
            <a:avLst>
              <a:gd name="adj" fmla="val 27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nion-and-intersection/cr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73716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721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 play both games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Intersection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 ∩ B = {x | x ∈ A and x ∈ B}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Elements common to both 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overlap of the circles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∩ B = ∅: disjoint 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A ⊆ B, then A ∩ B = A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nion-and-intersection/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∩ B = {2, 4, 6, 12}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 ∪ B = {x | x ∈ A or x ∈ B}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Everything in A or B or both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Common elements written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 A ⊆ B, then A ∪ B = 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∪ A′ = U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nion-and-intersection/u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51386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∪ B = {1, 2, 3, 4, 6, 8, 10, 12}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the union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n(A ∪ B) = n(A) + n(B) − n(A ∩ B)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overlap is counted in n(A) and again in n(B)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Subtract it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+ 6 − 4 = 8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nion-and-intersection/un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n(A) = 6, n(B) = 6, n(A ∩ B)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special cases</a:t>
            </a:r>
            <a:endParaRPr lang="en-US" sz="3000" dirty="0"/>
          </a:p>
        </p:txBody>
      </p:sp>
      <p:sp>
        <p:nvSpPr>
          <p:cNvPr id="4" name="Disjoint image frame"/>
          <p:cNvSpPr/>
          <p:nvPr/>
        </p:nvSpPr>
        <p:spPr>
          <a:xfrm>
            <a:off x="42062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isjoint image" descr="/tmp/claude-0/-home-claude/7116491e-74ad-5a48-9637-67025fdd7b6d/scratchpad/deck/union-and-intersection/disj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33570"/>
          </a:xfrm>
          <a:prstGeom prst="rect">
            <a:avLst/>
          </a:prstGeom>
        </p:spPr>
      </p:pic>
      <p:sp>
        <p:nvSpPr>
          <p:cNvPr id="6" name="Disjoint text"/>
          <p:cNvSpPr txBox="1"/>
          <p:nvPr/>
        </p:nvSpPr>
        <p:spPr>
          <a:xfrm>
            <a:off x="45720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overlap: 5 + 2 − 0 = 7.</a:t>
            </a:r>
            <a:endParaRPr lang="en-US" sz="1400" dirty="0"/>
          </a:p>
        </p:txBody>
      </p:sp>
      <p:sp>
        <p:nvSpPr>
          <p:cNvPr id="7" name="De Morgan image frame"/>
          <p:cNvSpPr/>
          <p:nvPr/>
        </p:nvSpPr>
        <p:spPr>
          <a:xfrm>
            <a:off x="4626864" y="106070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De Morgan image" descr="/tmp/claude-0/-home-claude/7116491e-74ad-5a48-9637-67025fdd7b6d/scratchpad/deck/union-and-intersection/demorg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33570"/>
          </a:xfrm>
          <a:prstGeom prst="rect">
            <a:avLst/>
          </a:prstGeom>
        </p:spPr>
      </p:pic>
      <p:sp>
        <p:nvSpPr>
          <p:cNvPr id="9" name="De Morgan text"/>
          <p:cNvSpPr txBox="1"/>
          <p:nvPr/>
        </p:nvSpPr>
        <p:spPr>
          <a:xfrm>
            <a:off x="4663440" y="386801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(A ∪ B)′ = A′ ∩ B′ = {5, 7, 9, 11}.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Sets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= factors of 12, B = even numbers ≤ 12. Verify the formula.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∩ B = {2, 4, 6, 12}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n(A ∪ B) = 6 + 6 − 4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speaks both?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60 people; 38 speak Marathi, 30 Hindi, all at least one.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60 = 38 + 30 − n(M ∩ H)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n(M ∩ H)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Only Hindi: 30 − 8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neither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70 families: 42 have a two-wheeler, 25 a car, 15 both. How many have neither?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n(A ∪ B) = 42 + 25 − 15 = 52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Neither: 70 − 52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87015"/>
          </a:xfrm>
          <a:prstGeom prst="roundRect">
            <a:avLst>
              <a:gd name="adj" fmla="val 28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union-and-intersection/famil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51386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6659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Two-wheeler and car owners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regions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706722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union-and-intersection/cr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63357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8629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40 students, 25 cricket, 20 football, 10 both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with the overlap, then subtract.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cricket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18744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32460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10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football</a:t>
            </a:r>
            <a:endParaRPr lang="en-US" sz="2800" dirty="0"/>
          </a:p>
        </p:txBody>
      </p:sp>
      <p:sp>
        <p:nvSpPr>
          <p:cNvPr id="12" name="Stat card 3"/>
          <p:cNvSpPr/>
          <p:nvPr/>
        </p:nvSpPr>
        <p:spPr>
          <a:xfrm>
            <a:off x="7528560" y="1920240"/>
            <a:ext cx="1158240" cy="1463040"/>
          </a:xfrm>
          <a:prstGeom prst="roundRect">
            <a:avLst>
              <a:gd name="adj" fmla="val 947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tat 3"/>
          <p:cNvSpPr txBox="1"/>
          <p:nvPr/>
        </p:nvSpPr>
        <p:spPr>
          <a:xfrm>
            <a:off x="7665720" y="2011680"/>
            <a:ext cx="88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neither</a:t>
            </a:r>
            <a:endParaRPr lang="en-US" sz="2800" dirty="0"/>
          </a:p>
        </p:txBody>
      </p:sp>
      <p:sp>
        <p:nvSpPr>
          <p:cNvPr id="14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15 + 10 + 10 + 5 = 40 = n(U).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Writing elements twice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{2, 3} ∪ {3, 5} = {2, 3, 5}.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Just adding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Subtract n(A ∩ B) once.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∩ or ∪?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∩ is “and”, ∪ is “or”.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“Only A” = n(A)?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 = n(A) − n(A ∩ 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= {2, 3, 5}, B = {3, 5, 7}. Find A ∪ B.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n(A) = 15, n(B) = 12, n(A ∩ B) = 5. Find n(A ∪ B).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 ⊆ B, what is A ∩ B?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50 students like tea or coffee or both; 30 tea, 25 coffee. How many like both?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without double counting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Union and intersection lesson on the Visual Science &amp; Maths website. Shade A ∩ B and A ∪ B and check the formula.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Real Numbers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527161"/>
          </a:xfrm>
          <a:prstGeom prst="roundRect">
            <a:avLst>
              <a:gd name="adj" fmla="val 289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nion-and-intersection/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4540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Union, Intersection and Counting</dc:title>
  <dc:subject>Std 9 Mathematics Part I, Chapter 1 Sets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