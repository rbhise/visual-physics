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355eb311-6734-7071-522c-a2586f8c3fcd}">
          <p14:sldIdLst>
            <p14:sldId id="256"/>
            <p14:sldId id="257"/>
          </p14:sldIdLst>
        </p14:section>
        <p14:section name="Key ideas" id="{729f0e35-5051-2008-1593-85e44c7b1f6c}">
          <p14:sldIdLst>
            <p14:sldId id="258"/>
            <p14:sldId id="259"/>
            <p14:sldId id="260"/>
            <p14:sldId id="261"/>
          </p14:sldIdLst>
        </p14:section>
        <p14:section name="Practice" id="{98f437a2-a0c2-aaed-f84b-3a3739a2f669}">
          <p14:sldIdLst>
            <p14:sldId id="262"/>
            <p14:sldId id="263"/>
            <p14:sldId id="264"/>
            <p14:sldId id="265"/>
            <p14:sldId id="266"/>
          </p14:sldIdLst>
        </p14:section>
        <p14:section name="Wrap-up" id="{8092ed64-b9f7-b672-26af-88eac01e8d11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Goal: students can use the perpendicular-from-the-centre theorem and Pythagoras to find a chord or its distance from the centre, and know that congruent chords are equidistant from the centre.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students guess before revealing: only the distance of the cut from the centre matters.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Ask: is a radius a chord? (No, only one end point is on the circle.)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theorem and its converse are both in the textbook; students should be able to write the proof of the theorem.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distance of a chord from the centre always means the perpendicular distance 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theorems follow from OA² = OM² + AM²: the radius is fixed, so equal distances give equal half-chords.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Draw OM and OA first every time; the right triangle does the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theorem in numbers: congruent chords, equal distances.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19.08 = 2√(100 − 9) and 14.28 = 2√(100 − 49), both rounded to two decimals.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students which mistake gives an answer bigger than the diameter.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1) 8 cm (√(289 − 225) = √64). 2) 16 cm (half chord √(100 − 36) = 8). 3) 10 cm: equidistant chords are congruent. 4) 90°.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Homework: textbook practice set 6.1, checked with the simulation.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Chords of a Circle · Std 9 Maths II Ch. 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 txBox="1"/>
          <p:nvPr/>
        </p:nvSpPr>
        <p:spPr>
          <a:xfrm>
            <a:off x="548640" y="11430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STD 9 MATHEMATICS PART II · CH. 6 CIRCLE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Chords of a Circle</a:t>
            </a:r>
            <a:endParaRPr lang="en-US" sz="3800" dirty="0"/>
          </a:p>
        </p:txBody>
      </p:sp>
      <p:sp>
        <p:nvSpPr>
          <p:cNvPr id="5" name="Subtitle"/>
          <p:cNvSpPr txBox="1"/>
          <p:nvPr/>
        </p:nvSpPr>
        <p:spPr>
          <a:xfrm>
            <a:off x="548640" y="3108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Lesson 1 · Visual Science &amp; Maths</a:t>
            </a:r>
            <a:endParaRPr lang="en-US" sz="1600" dirty="0"/>
          </a:p>
        </p:txBody>
      </p:sp>
      <p:sp>
        <p:nvSpPr>
          <p:cNvPr id="6" name="Title image frame"/>
          <p:cNvSpPr/>
          <p:nvPr/>
        </p:nvSpPr>
        <p:spPr>
          <a:xfrm>
            <a:off x="4901184" y="1197864"/>
            <a:ext cx="3822192" cy="2411263"/>
          </a:xfrm>
          <a:prstGeom prst="roundRect">
            <a:avLst>
              <a:gd name="adj" fmla="val 3034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Title image" descr="/tmp/claude-0/-home-claude/7116491e-74ad-5a48-9637-67025fdd7b6d/scratchpad/deck/chords-of-a-circle/cho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34440"/>
            <a:ext cx="3749040" cy="233811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Cutting a round cake</a:t>
            </a:r>
            <a:endParaRPr lang="en-US" sz="3000" dirty="0"/>
          </a:p>
        </p:txBody>
      </p:sp>
      <p:sp>
        <p:nvSpPr>
          <p:cNvPr id="4" name="Hook text"/>
          <p:cNvSpPr txBox="1"/>
          <p:nvPr/>
        </p:nvSpPr>
        <p:spPr>
          <a:xfrm>
            <a:off x="457200" y="114300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Cut a round cake straight across. The cut is a chord. Some cuts are long, some are short.</a:t>
            </a:r>
            <a:endParaRPr lang="en-US" sz="1800" dirty="0"/>
          </a:p>
        </p:txBody>
      </p:sp>
      <p:sp>
        <p:nvSpPr>
          <p:cNvPr id="5" name="Question"/>
          <p:cNvSpPr txBox="1"/>
          <p:nvPr/>
        </p:nvSpPr>
        <p:spPr>
          <a:xfrm>
            <a:off x="457200" y="274320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What decides how long the cut is?</a:t>
            </a:r>
            <a:endParaRPr lang="en-US" sz="1800" dirty="0"/>
          </a:p>
        </p:txBody>
      </p:sp>
      <p:sp>
        <p:nvSpPr>
          <p:cNvPr id="6" name="Hook image frame"/>
          <p:cNvSpPr/>
          <p:nvPr/>
        </p:nvSpPr>
        <p:spPr>
          <a:xfrm>
            <a:off x="4718304" y="1152144"/>
            <a:ext cx="4005072" cy="2525317"/>
          </a:xfrm>
          <a:prstGeom prst="roundRect">
            <a:avLst>
              <a:gd name="adj" fmla="val 2897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Hook image" descr="/tmp/claude-0/-home-claude/7116491e-74ad-5a48-9637-67025fdd7b6d/scratchpad/deck/chords-of-a-circle/tw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1188720"/>
            <a:ext cx="3931920" cy="2452165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754880" y="3750613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3 cm from the centre: 19.08 cm. 7 cm from it: 14.28 cm.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Words to know</a:t>
            </a:r>
            <a:endParaRPr lang="en-US" sz="3000" dirty="0"/>
          </a:p>
        </p:txBody>
      </p:sp>
      <p:sp>
        <p:nvSpPr>
          <p:cNvPr id="4" name="Points"/>
          <p:cNvSpPr txBox="1"/>
          <p:nvPr/>
        </p:nvSpPr>
        <p:spPr>
          <a:xfrm>
            <a:off x="457200" y="1097280"/>
            <a:ext cx="40233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Circle: all points in a plane at the same distance from a fixed point, the centre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Radius: that distance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Chord: a segment with both end points on the circle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Diameter: a chord through the centre; it is the longest chord, 2 × radius</a:t>
            </a:r>
            <a:endParaRPr lang="en-US" sz="1600" dirty="0"/>
          </a:p>
        </p:txBody>
      </p:sp>
      <p:sp>
        <p:nvSpPr>
          <p:cNvPr id="5" name="Concept image frame"/>
          <p:cNvSpPr/>
          <p:nvPr/>
        </p:nvSpPr>
        <p:spPr>
          <a:xfrm>
            <a:off x="4809744" y="1106424"/>
            <a:ext cx="3913632" cy="2468290"/>
          </a:xfrm>
          <a:prstGeom prst="roundRect">
            <a:avLst>
              <a:gd name="adj" fmla="val 2964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6" name="Concept image" descr="/tmp/claude-0/-home-claude/7116491e-74ad-5a48-9637-67025fdd7b6d/scratchpad/deck/chords-of-a-circle/di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3840480" cy="2395138"/>
          </a:xfrm>
          <a:prstGeom prst="rect">
            <a:avLst/>
          </a:prstGeom>
        </p:spPr>
      </p:pic>
      <p:sp>
        <p:nvSpPr>
          <p:cNvPr id="7" name="Caption"/>
          <p:cNvSpPr txBox="1"/>
          <p:nvPr/>
        </p:nvSpPr>
        <p:spPr>
          <a:xfrm>
            <a:off x="4846320" y="3647866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Radius 5 cm: diameter AB = 10 cm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The perpendicular from the centre</a:t>
            </a:r>
            <a:endParaRPr lang="en-US" sz="3000" dirty="0"/>
          </a:p>
        </p:txBody>
      </p:sp>
      <p:sp>
        <p:nvSpPr>
          <p:cNvPr id="4" name="Formula card"/>
          <p:cNvSpPr/>
          <p:nvPr/>
        </p:nvSpPr>
        <p:spPr>
          <a:xfrm>
            <a:off x="457200" y="1097280"/>
            <a:ext cx="4023360" cy="777240"/>
          </a:xfrm>
          <a:prstGeom prst="roundRect">
            <a:avLst>
              <a:gd name="adj" fmla="val 14118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Formula"/>
          <p:cNvSpPr txBox="1"/>
          <p:nvPr/>
        </p:nvSpPr>
        <p:spPr>
          <a:xfrm>
            <a:off x="640080" y="10972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OM ⊥ AB  ⇒  AM = MB</a:t>
            </a:r>
            <a:endParaRPr lang="en-US" sz="2200" dirty="0"/>
          </a:p>
        </p:txBody>
      </p:sp>
      <p:sp>
        <p:nvSpPr>
          <p:cNvPr id="6" name="Points"/>
          <p:cNvSpPr txBox="1"/>
          <p:nvPr/>
        </p:nvSpPr>
        <p:spPr>
          <a:xfrm>
            <a:off x="457200" y="2103120"/>
            <a:ext cx="4023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Join OA and OB: both are radii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△OMA and △OMB are congruent (hypotenuse–side test)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Converse: the centre joined to the midpoint of a chord is perpendicular to it</a:t>
            </a:r>
            <a:endParaRPr lang="en-US" sz="1600" dirty="0"/>
          </a:p>
        </p:txBody>
      </p:sp>
      <p:sp>
        <p:nvSpPr>
          <p:cNvPr id="7" name="Concept image frame"/>
          <p:cNvSpPr/>
          <p:nvPr/>
        </p:nvSpPr>
        <p:spPr>
          <a:xfrm>
            <a:off x="4809744" y="1106424"/>
            <a:ext cx="3913632" cy="2468290"/>
          </a:xfrm>
          <a:prstGeom prst="roundRect">
            <a:avLst>
              <a:gd name="adj" fmla="val 2964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Concept image" descr="/tmp/claude-0/-home-claude/7116491e-74ad-5a48-9637-67025fdd7b6d/scratchpad/deck/chords-of-a-circle/cho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3840480" cy="2395138"/>
          </a:xfrm>
          <a:prstGeom prst="rect">
            <a:avLst/>
          </a:prstGeom>
        </p:spPr>
      </p:pic>
      <p:sp>
        <p:nvSpPr>
          <p:cNvPr id="9" name="Caption"/>
          <p:cNvSpPr txBox="1"/>
          <p:nvPr/>
        </p:nvSpPr>
        <p:spPr>
          <a:xfrm>
            <a:off x="4846320" y="3647866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Radius 10 cm, OM = 6 cm, AM = MB = 8 cm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Radius, distance and half-chord</a:t>
            </a:r>
            <a:endParaRPr lang="en-US" sz="3000" dirty="0"/>
          </a:p>
        </p:txBody>
      </p:sp>
      <p:sp>
        <p:nvSpPr>
          <p:cNvPr id="4" name="Formula card"/>
          <p:cNvSpPr/>
          <p:nvPr/>
        </p:nvSpPr>
        <p:spPr>
          <a:xfrm>
            <a:off x="4663440" y="1097280"/>
            <a:ext cx="4023360" cy="777240"/>
          </a:xfrm>
          <a:prstGeom prst="roundRect">
            <a:avLst>
              <a:gd name="adj" fmla="val 14118"/>
            </a:avLst>
          </a:prstGeom>
          <a:solidFill>
            <a:srgbClr val="FBEAE5"/>
          </a:solidFill>
          <a:ln w="12700">
            <a:solidFill>
              <a:srgbClr val="FBEAE5"/>
            </a:solidFill>
            <a:prstDash val="solid"/>
          </a:ln>
        </p:spPr>
      </p:sp>
      <p:sp>
        <p:nvSpPr>
          <p:cNvPr id="5" name="Formula"/>
          <p:cNvSpPr txBox="1"/>
          <p:nvPr/>
        </p:nvSpPr>
        <p:spPr>
          <a:xfrm>
            <a:off x="4846320" y="10972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3"/>
                </a:solidFill>
              </a:rPr>
              <a:t>OA² = OM² + AM²</a:t>
            </a:r>
            <a:endParaRPr lang="en-US" sz="2400" dirty="0"/>
          </a:p>
        </p:txBody>
      </p:sp>
      <p:sp>
        <p:nvSpPr>
          <p:cNvPr id="6" name="Points"/>
          <p:cNvSpPr txBox="1"/>
          <p:nvPr/>
        </p:nvSpPr>
        <p:spPr>
          <a:xfrm>
            <a:off x="4663440" y="2103120"/>
            <a:ext cx="4023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△OMA has a right angle at M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(radius)² = (distance)² + (half the chord)²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Know any two, find the third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Double AM to get the chord</a:t>
            </a:r>
            <a:endParaRPr lang="en-US" sz="1600" dirty="0"/>
          </a:p>
        </p:txBody>
      </p:sp>
      <p:sp>
        <p:nvSpPr>
          <p:cNvPr id="7" name="Concept image frame"/>
          <p:cNvSpPr/>
          <p:nvPr/>
        </p:nvSpPr>
        <p:spPr>
          <a:xfrm>
            <a:off x="420624" y="1106424"/>
            <a:ext cx="3913632" cy="2468290"/>
          </a:xfrm>
          <a:prstGeom prst="roundRect">
            <a:avLst>
              <a:gd name="adj" fmla="val 2964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Concept image" descr="/tmp/claude-0/-home-claude/7116491e-74ad-5a48-9637-67025fdd7b6d/scratchpad/deck/chords-of-a-circle/hal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3840480" cy="2395138"/>
          </a:xfrm>
          <a:prstGeom prst="rect">
            <a:avLst/>
          </a:prstGeom>
        </p:spPr>
      </p:pic>
      <p:sp>
        <p:nvSpPr>
          <p:cNvPr id="9" name="Caption"/>
          <p:cNvSpPr txBox="1"/>
          <p:nvPr/>
        </p:nvSpPr>
        <p:spPr>
          <a:xfrm>
            <a:off x="457200" y="3647866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5² = 4² + 3²: chord AB = 6 cm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Congruent chords</a:t>
            </a:r>
            <a:endParaRPr lang="en-US" sz="3000" dirty="0"/>
          </a:p>
        </p:txBody>
      </p:sp>
      <p:sp>
        <p:nvSpPr>
          <p:cNvPr id="4" name="Equidistant image frame"/>
          <p:cNvSpPr/>
          <p:nvPr/>
        </p:nvSpPr>
        <p:spPr>
          <a:xfrm>
            <a:off x="420624" y="1060704"/>
            <a:ext cx="4096512" cy="2582344"/>
          </a:xfrm>
          <a:prstGeom prst="roundRect">
            <a:avLst>
              <a:gd name="adj" fmla="val 2833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Equidistant image" descr="/tmp/claude-0/-home-claude/7116491e-74ad-5a48-9637-67025fdd7b6d/scratchpad/deck/chords-of-a-circle/equ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4023360" cy="2509192"/>
          </a:xfrm>
          <a:prstGeom prst="rect">
            <a:avLst/>
          </a:prstGeom>
        </p:spPr>
      </p:pic>
      <p:sp>
        <p:nvSpPr>
          <p:cNvPr id="6" name="Equidistant text"/>
          <p:cNvSpPr txBox="1"/>
          <p:nvPr/>
        </p:nvSpPr>
        <p:spPr>
          <a:xfrm>
            <a:off x="457200" y="374363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Both 6 cm from O: AB = CD = 16 cm.</a:t>
            </a:r>
            <a:endParaRPr lang="en-US" sz="1400" dirty="0"/>
          </a:p>
        </p:txBody>
      </p:sp>
      <p:sp>
        <p:nvSpPr>
          <p:cNvPr id="7" name="Not equidistant image frame"/>
          <p:cNvSpPr/>
          <p:nvPr/>
        </p:nvSpPr>
        <p:spPr>
          <a:xfrm>
            <a:off x="4626864" y="1060704"/>
            <a:ext cx="4096512" cy="2582344"/>
          </a:xfrm>
          <a:prstGeom prst="roundRect">
            <a:avLst>
              <a:gd name="adj" fmla="val 2833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Not equidistant image" descr="/tmp/claude-0/-home-claude/7116491e-74ad-5a48-9637-67025fdd7b6d/scratchpad/deck/chords-of-a-circle/tw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097280"/>
            <a:ext cx="4023360" cy="2509192"/>
          </a:xfrm>
          <a:prstGeom prst="rect">
            <a:avLst/>
          </a:prstGeom>
        </p:spPr>
      </p:pic>
      <p:sp>
        <p:nvSpPr>
          <p:cNvPr id="9" name="Not equidistant text"/>
          <p:cNvSpPr txBox="1"/>
          <p:nvPr/>
        </p:nvSpPr>
        <p:spPr>
          <a:xfrm>
            <a:off x="4663440" y="374363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3 cm from O: 19.08 cm. 7 cm from O: 14.28 cm.</a:t>
            </a:r>
            <a:endParaRPr lang="en-US" sz="1400" dirty="0"/>
          </a:p>
        </p:txBody>
      </p:sp>
      <p:sp>
        <p:nvSpPr>
          <p:cNvPr id="10" name="Takeaway"/>
          <p:cNvSpPr txBox="1"/>
          <p:nvPr/>
        </p:nvSpPr>
        <p:spPr>
          <a:xfrm>
            <a:off x="457200" y="42793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Congruent chords are equidistant from the centre, and chords equidistant from the centre are congruent.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Worked examples</a:t>
            </a:r>
            <a:endParaRPr lang="en-US" sz="3000" dirty="0"/>
          </a:p>
        </p:txBody>
      </p:sp>
      <p:sp>
        <p:nvSpPr>
          <p:cNvPr id="4" name="Example card 1"/>
          <p:cNvSpPr/>
          <p:nvPr/>
        </p:nvSpPr>
        <p:spPr>
          <a:xfrm>
            <a:off x="457200" y="1097280"/>
            <a:ext cx="40233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Example head 1"/>
          <p:cNvSpPr txBox="1"/>
          <p:nvPr/>
        </p:nvSpPr>
        <p:spPr>
          <a:xfrm>
            <a:off x="68580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Distance of a chord</a:t>
            </a:r>
            <a:endParaRPr lang="en-US" sz="1800" dirty="0"/>
          </a:p>
        </p:txBody>
      </p:sp>
      <p:sp>
        <p:nvSpPr>
          <p:cNvPr id="6" name="Problem 1"/>
          <p:cNvSpPr txBox="1"/>
          <p:nvPr/>
        </p:nvSpPr>
        <p:spPr>
          <a:xfrm>
            <a:off x="685800" y="1737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Radius 15 cm, chord AB = 24 cm. How far is AB from the centre?</a:t>
            </a:r>
            <a:endParaRPr lang="en-US" sz="1500" dirty="0"/>
          </a:p>
        </p:txBody>
      </p:sp>
      <p:sp>
        <p:nvSpPr>
          <p:cNvPr id="7" name="Solution 1"/>
          <p:cNvSpPr txBox="1"/>
          <p:nvPr/>
        </p:nvSpPr>
        <p:spPr>
          <a:xfrm>
            <a:off x="685800" y="274320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AM = 12 cm</a:t>
            </a:r>
            <a:pPr indent="0" marL="0">
              <a:spcAft>
                <a:spcPts val="800"/>
              </a:spcAft>
              <a:buNone/>
            </a:pP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OM² = 225 − 144 = 81</a:t>
            </a:r>
            <a:pPr indent="0" marL="0">
              <a:spcAft>
                <a:spcPts val="800"/>
              </a:spcAft>
              <a:buNone/>
            </a:pP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OM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9 cm</a:t>
            </a:r>
            <a:endParaRPr lang="en-US" sz="1500" dirty="0"/>
          </a:p>
        </p:txBody>
      </p:sp>
      <p:sp>
        <p:nvSpPr>
          <p:cNvPr id="8" name="Example card 2"/>
          <p:cNvSpPr/>
          <p:nvPr/>
        </p:nvSpPr>
        <p:spPr>
          <a:xfrm>
            <a:off x="4663440" y="1097280"/>
            <a:ext cx="40233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Example head 2"/>
          <p:cNvSpPr txBox="1"/>
          <p:nvPr/>
        </p:nvSpPr>
        <p:spPr>
          <a:xfrm>
            <a:off x="489204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Length of a chord</a:t>
            </a:r>
            <a:endParaRPr lang="en-US" sz="1800" dirty="0"/>
          </a:p>
        </p:txBody>
      </p:sp>
      <p:sp>
        <p:nvSpPr>
          <p:cNvPr id="10" name="Problem 2"/>
          <p:cNvSpPr txBox="1"/>
          <p:nvPr/>
        </p:nvSpPr>
        <p:spPr>
          <a:xfrm>
            <a:off x="4892040" y="1737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Radius 8.5 cm, chord 4 cm from the centre. Find the chord.</a:t>
            </a:r>
            <a:endParaRPr lang="en-US" sz="1500" dirty="0"/>
          </a:p>
        </p:txBody>
      </p:sp>
      <p:sp>
        <p:nvSpPr>
          <p:cNvPr id="11" name="Solution 2"/>
          <p:cNvSpPr txBox="1"/>
          <p:nvPr/>
        </p:nvSpPr>
        <p:spPr>
          <a:xfrm>
            <a:off x="4892040" y="274320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AM² = 72.25 − 16 = 56.25</a:t>
            </a:r>
            <a:pPr indent="0" marL="0">
              <a:spcAft>
                <a:spcPts val="800"/>
              </a:spcAft>
              <a:buNone/>
            </a:pP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AM = 7.5 cm</a:t>
            </a:r>
            <a:pPr indent="0" marL="0">
              <a:spcAft>
                <a:spcPts val="800"/>
              </a:spcAft>
              <a:buNone/>
            </a:pP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AB = 2 × 7.5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15 cm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Worked example: two chords</a:t>
            </a:r>
            <a:endParaRPr lang="en-US" sz="3000" dirty="0"/>
          </a:p>
        </p:txBody>
      </p:sp>
      <p:sp>
        <p:nvSpPr>
          <p:cNvPr id="4" name="Problem 1"/>
          <p:cNvSpPr txBox="1"/>
          <p:nvPr/>
        </p:nvSpPr>
        <p:spPr>
          <a:xfrm>
            <a:off x="457200" y="109728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In a circle of radius 5 cm, chords AB and CD are each 8 cm long. How far is each from the centre?</a:t>
            </a:r>
            <a:endParaRPr lang="en-US" sz="1500" dirty="0"/>
          </a:p>
        </p:txBody>
      </p:sp>
      <p:sp>
        <p:nvSpPr>
          <p:cNvPr id="5" name="Solution 1"/>
          <p:cNvSpPr txBox="1"/>
          <p:nvPr/>
        </p:nvSpPr>
        <p:spPr>
          <a:xfrm>
            <a:off x="457200" y="2103120"/>
            <a:ext cx="41148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Half of each chord = 4 cm</a:t>
            </a:r>
            <a:pPr indent="0" marL="0">
              <a:spcAft>
                <a:spcPts val="800"/>
              </a:spcAft>
              <a:buNone/>
            </a:pP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Distance = √(25 − 16) = 3 cm</a:t>
            </a:r>
            <a:pPr indent="0" marL="0">
              <a:spcAft>
                <a:spcPts val="800"/>
              </a:spcAft>
              <a:buNone/>
            </a:pP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OM = ON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3 cm</a:t>
            </a:r>
            <a:endParaRPr lang="en-US" sz="1500" dirty="0"/>
          </a:p>
        </p:txBody>
      </p:sp>
      <p:sp>
        <p:nvSpPr>
          <p:cNvPr id="6" name="Example image frame"/>
          <p:cNvSpPr/>
          <p:nvPr/>
        </p:nvSpPr>
        <p:spPr>
          <a:xfrm>
            <a:off x="4809744" y="1106424"/>
            <a:ext cx="3913632" cy="2468290"/>
          </a:xfrm>
          <a:prstGeom prst="roundRect">
            <a:avLst>
              <a:gd name="adj" fmla="val 2964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Example image" descr="/tmp/claude-0/-home-claude/7116491e-74ad-5a48-9637-67025fdd7b6d/scratchpad/deck/chords-of-a-circle/co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3840480" cy="2395138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846320" y="3647866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Radius 5 cm, AB = CD = 8 cm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Nearer means longer</a:t>
            </a:r>
            <a:endParaRPr lang="en-US" sz="3000" dirty="0"/>
          </a:p>
        </p:txBody>
      </p:sp>
      <p:sp>
        <p:nvSpPr>
          <p:cNvPr id="4" name="Stats image frame"/>
          <p:cNvSpPr/>
          <p:nvPr/>
        </p:nvSpPr>
        <p:spPr>
          <a:xfrm>
            <a:off x="420624" y="1106424"/>
            <a:ext cx="4096512" cy="2582344"/>
          </a:xfrm>
          <a:prstGeom prst="roundRect">
            <a:avLst>
              <a:gd name="adj" fmla="val 2833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Stats image" descr="/tmp/claude-0/-home-claude/7116491e-74ad-5a48-9637-67025fdd7b6d/scratchpad/deck/chords-of-a-circle/tw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4023360" cy="2509192"/>
          </a:xfrm>
          <a:prstGeom prst="rect">
            <a:avLst/>
          </a:prstGeom>
        </p:spPr>
      </p:pic>
      <p:sp>
        <p:nvSpPr>
          <p:cNvPr id="6" name="Caption"/>
          <p:cNvSpPr txBox="1"/>
          <p:nvPr/>
        </p:nvSpPr>
        <p:spPr>
          <a:xfrm>
            <a:off x="457200" y="376192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Radius 10 cm</a:t>
            </a:r>
            <a:endParaRPr lang="en-US" sz="1100" dirty="0"/>
          </a:p>
        </p:txBody>
      </p:sp>
      <p:sp>
        <p:nvSpPr>
          <p:cNvPr id="7" name="Facts"/>
          <p:cNvSpPr txBox="1"/>
          <p:nvPr/>
        </p:nvSpPr>
        <p:spPr>
          <a:xfrm>
            <a:off x="4846320" y="114300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Same circle, two chords:</a:t>
            </a:r>
            <a:endParaRPr lang="en-US" sz="1600" dirty="0"/>
          </a:p>
        </p:txBody>
      </p:sp>
      <p:sp>
        <p:nvSpPr>
          <p:cNvPr id="8" name="Stat card 1"/>
          <p:cNvSpPr/>
          <p:nvPr/>
        </p:nvSpPr>
        <p:spPr>
          <a:xfrm>
            <a:off x="4846320" y="1920240"/>
            <a:ext cx="1828800" cy="1463040"/>
          </a:xfrm>
          <a:prstGeom prst="roundRect">
            <a:avLst>
              <a:gd name="adj" fmla="val 75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Stat 1"/>
          <p:cNvSpPr txBox="1"/>
          <p:nvPr/>
        </p:nvSpPr>
        <p:spPr>
          <a:xfrm>
            <a:off x="4983480" y="201168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19.08 cm</a:t>
            </a:r>
            <a:endParaRPr lang="en-US" sz="24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chord 3 cm from O</a:t>
            </a:r>
            <a:endParaRPr lang="en-US" sz="2400" dirty="0"/>
          </a:p>
        </p:txBody>
      </p:sp>
      <p:sp>
        <p:nvSpPr>
          <p:cNvPr id="10" name="Stat card 2"/>
          <p:cNvSpPr/>
          <p:nvPr/>
        </p:nvSpPr>
        <p:spPr>
          <a:xfrm>
            <a:off x="6858000" y="1920240"/>
            <a:ext cx="1828800" cy="1463040"/>
          </a:xfrm>
          <a:prstGeom prst="roundRect">
            <a:avLst>
              <a:gd name="adj" fmla="val 75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1" name="Stat 2"/>
          <p:cNvSpPr txBox="1"/>
          <p:nvPr/>
        </p:nvSpPr>
        <p:spPr>
          <a:xfrm>
            <a:off x="6995160" y="201168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14.28 cm</a:t>
            </a:r>
            <a:endParaRPr lang="en-US" sz="24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chord 7 cm from O</a:t>
            </a:r>
            <a:endParaRPr lang="en-US" sz="2400" dirty="0"/>
          </a:p>
        </p:txBody>
      </p:sp>
      <p:sp>
        <p:nvSpPr>
          <p:cNvPr id="12" name="Takeaway"/>
          <p:cNvSpPr txBox="1"/>
          <p:nvPr/>
        </p:nvSpPr>
        <p:spPr>
          <a:xfrm>
            <a:off x="4846320" y="356616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The nearer a chord is to the centre, the longer it is. At distance 0 it is the diameter, 20 cm.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Common mistakes</a:t>
            </a:r>
            <a:endParaRPr lang="en-US" sz="3000" dirty="0"/>
          </a:p>
        </p:txBody>
      </p:sp>
      <p:sp>
        <p:nvSpPr>
          <p:cNvPr id="4" name="Mistake card 1"/>
          <p:cNvSpPr/>
          <p:nvPr/>
        </p:nvSpPr>
        <p:spPr>
          <a:xfrm>
            <a:off x="457200" y="10972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5" name="Cross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25880"/>
            <a:ext cx="365760" cy="365760"/>
          </a:xfrm>
          <a:prstGeom prst="rect">
            <a:avLst/>
          </a:prstGeom>
        </p:spPr>
      </p:pic>
      <p:sp>
        <p:nvSpPr>
          <p:cNvPr id="6" name="Mistake 1"/>
          <p:cNvSpPr txBox="1"/>
          <p:nvPr/>
        </p:nvSpPr>
        <p:spPr>
          <a:xfrm>
            <a:off x="123444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The whole chord in Pythagoras</a:t>
            </a:r>
            <a:endParaRPr lang="en-US" sz="1700" dirty="0"/>
          </a:p>
        </p:txBody>
      </p:sp>
      <p:sp>
        <p:nvSpPr>
          <p:cNvPr id="7" name="Fix 1"/>
          <p:cNvSpPr txBox="1"/>
          <p:nvPr/>
        </p:nvSpPr>
        <p:spPr>
          <a:xfrm>
            <a:off x="1234440" y="1755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right triangle OMA has AM, half the chord.</a:t>
            </a:r>
            <a:endParaRPr lang="en-US" sz="1400" dirty="0"/>
          </a:p>
        </p:txBody>
      </p:sp>
      <p:sp>
        <p:nvSpPr>
          <p:cNvPr id="8" name="Mistake card 2"/>
          <p:cNvSpPr/>
          <p:nvPr/>
        </p:nvSpPr>
        <p:spPr>
          <a:xfrm>
            <a:off x="4663440" y="10972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9" name="Cross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325880"/>
            <a:ext cx="365760" cy="365760"/>
          </a:xfrm>
          <a:prstGeom prst="rect">
            <a:avLst/>
          </a:prstGeom>
        </p:spPr>
      </p:pic>
      <p:sp>
        <p:nvSpPr>
          <p:cNvPr id="10" name="Mistake 2"/>
          <p:cNvSpPr txBox="1"/>
          <p:nvPr/>
        </p:nvSpPr>
        <p:spPr>
          <a:xfrm>
            <a:off x="544068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Slanted distance</a:t>
            </a:r>
            <a:endParaRPr lang="en-US" sz="1700" dirty="0"/>
          </a:p>
        </p:txBody>
      </p:sp>
      <p:sp>
        <p:nvSpPr>
          <p:cNvPr id="11" name="Fix 2"/>
          <p:cNvSpPr txBox="1"/>
          <p:nvPr/>
        </p:nvSpPr>
        <p:spPr>
          <a:xfrm>
            <a:off x="5440680" y="1755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Distance from the centre is the perpendicular OM.</a:t>
            </a:r>
            <a:endParaRPr lang="en-US" sz="1400" dirty="0"/>
          </a:p>
        </p:txBody>
      </p:sp>
      <p:sp>
        <p:nvSpPr>
          <p:cNvPr id="12" name="Mistake card 3"/>
          <p:cNvSpPr/>
          <p:nvPr/>
        </p:nvSpPr>
        <p:spPr>
          <a:xfrm>
            <a:off x="457200" y="27889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3" name="Cross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017520"/>
            <a:ext cx="365760" cy="365760"/>
          </a:xfrm>
          <a:prstGeom prst="rect">
            <a:avLst/>
          </a:prstGeom>
        </p:spPr>
      </p:pic>
      <p:sp>
        <p:nvSpPr>
          <p:cNvPr id="14" name="Mistake 3"/>
          <p:cNvSpPr txBox="1"/>
          <p:nvPr/>
        </p:nvSpPr>
        <p:spPr>
          <a:xfrm>
            <a:off x="123444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Forgetting to double</a:t>
            </a:r>
            <a:endParaRPr lang="en-US" sz="1700" dirty="0"/>
          </a:p>
        </p:txBody>
      </p:sp>
      <p:sp>
        <p:nvSpPr>
          <p:cNvPr id="15" name="Fix 3"/>
          <p:cNvSpPr txBox="1"/>
          <p:nvPr/>
        </p:nvSpPr>
        <p:spPr>
          <a:xfrm>
            <a:off x="1234440" y="3447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After finding AM, the chord is 2 × AM.</a:t>
            </a:r>
            <a:endParaRPr lang="en-US" sz="1400" dirty="0"/>
          </a:p>
        </p:txBody>
      </p:sp>
      <p:sp>
        <p:nvSpPr>
          <p:cNvPr id="16" name="Mistake card 4"/>
          <p:cNvSpPr/>
          <p:nvPr/>
        </p:nvSpPr>
        <p:spPr>
          <a:xfrm>
            <a:off x="4663440" y="27889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7" name="Cross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017520"/>
            <a:ext cx="365760" cy="365760"/>
          </a:xfrm>
          <a:prstGeom prst="rect">
            <a:avLst/>
          </a:prstGeom>
        </p:spPr>
      </p:pic>
      <p:sp>
        <p:nvSpPr>
          <p:cNvPr id="18" name="Mistake 4"/>
          <p:cNvSpPr txBox="1"/>
          <p:nvPr/>
        </p:nvSpPr>
        <p:spPr>
          <a:xfrm>
            <a:off x="544068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“Far chords are longer”</a:t>
            </a:r>
            <a:endParaRPr lang="en-US" sz="1700" dirty="0"/>
          </a:p>
        </p:txBody>
      </p:sp>
      <p:sp>
        <p:nvSpPr>
          <p:cNvPr id="19" name="Fix 4"/>
          <p:cNvSpPr txBox="1"/>
          <p:nvPr/>
        </p:nvSpPr>
        <p:spPr>
          <a:xfrm>
            <a:off x="5440680" y="3447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Nearer the centre means longer; the diameter is longest.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Quick check</a:t>
            </a:r>
            <a:endParaRPr lang="en-US" sz="3000" dirty="0"/>
          </a:p>
        </p:txBody>
      </p:sp>
      <p:sp>
        <p:nvSpPr>
          <p:cNvPr id="4" name="Question card 1"/>
          <p:cNvSpPr/>
          <p:nvPr/>
        </p:nvSpPr>
        <p:spPr>
          <a:xfrm>
            <a:off x="45720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Number 1"/>
          <p:cNvSpPr txBox="1"/>
          <p:nvPr/>
        </p:nvSpPr>
        <p:spPr>
          <a:xfrm>
            <a:off x="68580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1</a:t>
            </a:r>
            <a:endParaRPr lang="en-US" sz="3000" dirty="0"/>
          </a:p>
        </p:txBody>
      </p:sp>
      <p:sp>
        <p:nvSpPr>
          <p:cNvPr id="6" name="Question 1"/>
          <p:cNvSpPr txBox="1"/>
          <p:nvPr/>
        </p:nvSpPr>
        <p:spPr>
          <a:xfrm>
            <a:off x="1234440" y="13441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Radius 17 cm, chord 30 cm. How far is the chord from the centre?</a:t>
            </a:r>
            <a:endParaRPr lang="en-US" sz="1600" dirty="0"/>
          </a:p>
        </p:txBody>
      </p:sp>
      <p:sp>
        <p:nvSpPr>
          <p:cNvPr id="7" name="Question card 2"/>
          <p:cNvSpPr/>
          <p:nvPr/>
        </p:nvSpPr>
        <p:spPr>
          <a:xfrm>
            <a:off x="466344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Number 2"/>
          <p:cNvSpPr txBox="1"/>
          <p:nvPr/>
        </p:nvSpPr>
        <p:spPr>
          <a:xfrm>
            <a:off x="489204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2</a:t>
            </a:r>
            <a:endParaRPr lang="en-US" sz="3000" dirty="0"/>
          </a:p>
        </p:txBody>
      </p:sp>
      <p:sp>
        <p:nvSpPr>
          <p:cNvPr id="9" name="Question 2"/>
          <p:cNvSpPr txBox="1"/>
          <p:nvPr/>
        </p:nvSpPr>
        <p:spPr>
          <a:xfrm>
            <a:off x="5440680" y="13441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Radius 10 cm, chord 6 cm from the centre. How long is the chord?</a:t>
            </a:r>
            <a:endParaRPr lang="en-US" sz="1600" dirty="0"/>
          </a:p>
        </p:txBody>
      </p:sp>
      <p:sp>
        <p:nvSpPr>
          <p:cNvPr id="10" name="Question card 3"/>
          <p:cNvSpPr/>
          <p:nvPr/>
        </p:nvSpPr>
        <p:spPr>
          <a:xfrm>
            <a:off x="45720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Number 3"/>
          <p:cNvSpPr txBox="1"/>
          <p:nvPr/>
        </p:nvSpPr>
        <p:spPr>
          <a:xfrm>
            <a:off x="68580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3</a:t>
            </a:r>
            <a:endParaRPr lang="en-US" sz="3000" dirty="0"/>
          </a:p>
        </p:txBody>
      </p:sp>
      <p:sp>
        <p:nvSpPr>
          <p:cNvPr id="12" name="Question 3"/>
          <p:cNvSpPr txBox="1"/>
          <p:nvPr/>
        </p:nvSpPr>
        <p:spPr>
          <a:xfrm>
            <a:off x="1234440" y="30358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Two chords are each 4 cm from the centre. One is 10 cm. The other?</a:t>
            </a:r>
            <a:endParaRPr lang="en-US" sz="1600" dirty="0"/>
          </a:p>
        </p:txBody>
      </p:sp>
      <p:sp>
        <p:nvSpPr>
          <p:cNvPr id="13" name="Question card 4"/>
          <p:cNvSpPr/>
          <p:nvPr/>
        </p:nvSpPr>
        <p:spPr>
          <a:xfrm>
            <a:off x="466344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4" name="Number 4"/>
          <p:cNvSpPr txBox="1"/>
          <p:nvPr/>
        </p:nvSpPr>
        <p:spPr>
          <a:xfrm>
            <a:off x="489204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4</a:t>
            </a:r>
            <a:endParaRPr lang="en-US" sz="3000" dirty="0"/>
          </a:p>
        </p:txBody>
      </p:sp>
      <p:sp>
        <p:nvSpPr>
          <p:cNvPr id="15" name="Question 4"/>
          <p:cNvSpPr txBox="1"/>
          <p:nvPr/>
        </p:nvSpPr>
        <p:spPr>
          <a:xfrm>
            <a:off x="5440680" y="30358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M is the midpoint of chord PQ and O the centre. Find ∠OMP.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Drag the chords yourself</a:t>
            </a:r>
            <a:endParaRPr lang="en-US" sz="3800" dirty="0"/>
          </a:p>
        </p:txBody>
      </p:sp>
      <p:sp>
        <p:nvSpPr>
          <p:cNvPr id="4" name="Call to action"/>
          <p:cNvSpPr txBox="1"/>
          <p:nvPr/>
        </p:nvSpPr>
        <p:spPr>
          <a:xfrm>
            <a:off x="548640" y="306324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Open the Chords of a Circle lesson on the Visual Science &amp; Maths website. Drag A and B round the circle and watch OM bisect the chord.</a:t>
            </a:r>
            <a:endParaRPr lang="en-US" sz="1500" dirty="0"/>
          </a:p>
        </p:txBody>
      </p:sp>
      <p:sp>
        <p:nvSpPr>
          <p:cNvPr id="5" name="Next lesson"/>
          <p:cNvSpPr txBox="1"/>
          <p:nvPr/>
        </p:nvSpPr>
        <p:spPr>
          <a:xfrm>
            <a:off x="548640" y="41605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Next lesson: Incircle and circumcircle</a:t>
            </a:r>
            <a:endParaRPr lang="en-US" sz="1400" dirty="0"/>
          </a:p>
        </p:txBody>
      </p:sp>
      <p:sp>
        <p:nvSpPr>
          <p:cNvPr id="6" name="Closing image frame"/>
          <p:cNvSpPr/>
          <p:nvPr/>
        </p:nvSpPr>
        <p:spPr>
          <a:xfrm>
            <a:off x="4901184" y="1197864"/>
            <a:ext cx="3822192" cy="2411263"/>
          </a:xfrm>
          <a:prstGeom prst="roundRect">
            <a:avLst>
              <a:gd name="adj" fmla="val 3034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Closing image" descr="/tmp/claude-0/-home-claude/7116491e-74ad-5a48-9637-67025fdd7b6d/scratchpad/deck/chords-of-a-circle/equ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34440"/>
            <a:ext cx="3749040" cy="233811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Visual Science &amp; Maths">
  <a:themeElements>
    <a:clrScheme name="Visual Science &amp; Maths">
      <a:dk1>
        <a:srgbClr val="14232B"/>
      </a:dk1>
      <a:lt1>
        <a:srgbClr val="FFFFFF"/>
      </a:lt1>
      <a:dk2>
        <a:srgbClr val="56676F"/>
      </a:dk2>
      <a:lt2>
        <a:srgbClr val="F4F7F6"/>
      </a:lt2>
      <a:accent1>
        <a:srgbClr val="5B3FD6"/>
      </a:accent1>
      <a:accent2>
        <a:srgbClr val="0B8A7A"/>
      </a:accent2>
      <a:accent3>
        <a:srgbClr val="D9512C"/>
      </a:accent3>
      <a:accent4>
        <a:srgbClr val="ECE9FB"/>
      </a:accent4>
      <a:accent5>
        <a:srgbClr val="D6E0DE"/>
      </a:accent5>
      <a:accent6>
        <a:srgbClr val="E3F3F0"/>
      </a:accent6>
      <a:hlink>
        <a:srgbClr val="5B3FD6"/>
      </a:hlink>
      <a:folHlink>
        <a:srgbClr val="3E2A9E"/>
      </a:folHlink>
    </a:clrScheme>
    <a:fontScheme name="Visual Science &amp; Math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Chords of a Circle</dc:title>
  <dc:subject>Std 9 Mathematics Part II, Chapter 6 Circle</dc:subject>
  <dc:creator>Visual Science &amp; Maths</dc:creator>
  <cp:lastModifiedBy>Visual Science &amp; Maths</cp:lastModifiedBy>
  <cp:revision>1</cp:revision>
  <dcterms:created xsi:type="dcterms:W3CDTF">2026-10-10T01:09:51Z</dcterms:created>
  <dcterms:modified xsi:type="dcterms:W3CDTF">2026-10-10T01:09:51Z</dcterms:modified>
</cp:coreProperties>
</file>