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7b936f22-4848-dfae-69df-e7a4bf711eb5}">
          <p14:sldIdLst>
            <p14:sldId id="256"/>
            <p14:sldId id="257"/>
          </p14:sldIdLst>
        </p14:section>
        <p14:section name="Key ideas" id="{f6923dd7-55fb-31e7-4548-1099ae880d38}">
          <p14:sldIdLst>
            <p14:sldId id="258"/>
            <p14:sldId id="259"/>
            <p14:sldId id="260"/>
            <p14:sldId id="261"/>
          </p14:sldIdLst>
        </p14:section>
        <p14:section name="Practice" id="{2074454d-fac1-f265-8045-9a84c0f79156}">
          <p14:sldIdLst>
            <p14:sldId id="262"/>
            <p14:sldId id="263"/>
            <p14:sldId id="264"/>
            <p14:sldId id="265"/>
            <p14:sldId id="266"/>
          </p14:sldIdLst>
        </p14:section>
        <p14:section name="Wrap-up" id="{b6f5822f-aa8c-faa8-11a4-15e0ebbff069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state and use invertendo, alternando, componendo, dividendo and componendo-dividendo.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check 14/8 = 7/4 and 21/12 = 7/4 by hand.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a, b, c, d positive; for componendo-dividendo a ≠ b and c ≠ 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Alternando: first terms together, second terms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Componendo is “add 1 to both sides”; dividendo is “subtract 1 from both sides”.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 = b, a − b = 0 and we cannot divide.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second example, make the ratio 5a/4b before applying componendo-dividendo.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x terms cancel in the denominator and the constants cancel in the numerator.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property is just one step of ordinary algebra.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a wrong worked line for each and let students spot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5/3. 2) 7/3. 3) 14/4 = 7/2. 4) Alternando.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Homework: textbook practice set on properties of equal ratios, checked in the simulation.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Properties of Equal Ratios · Std 9 Maths I Ch. 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MATHEMATICS PART I · CH. 4 RATIO AND PROPORTION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Properties of Equal Ratios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2 · Visual Science &amp; Maths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411263"/>
          </a:xfrm>
          <a:prstGeom prst="roundRect">
            <a:avLst>
              <a:gd name="adj" fmla="val 303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properties-of-equal-ratios/com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3381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Change both, stay equal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6/8 = 9/12. Add each bottom to its top: 14/8 and 21/12.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Are they still equal?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525317"/>
          </a:xfrm>
          <a:prstGeom prst="roundRect">
            <a:avLst>
              <a:gd name="adj" fmla="val 289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properties-of-equal-ratios/hal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452165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750613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The denominators slide up to join the numerators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Five properties of a/b = c/d</a:t>
            </a:r>
            <a:endParaRPr lang="en-US" sz="3000" dirty="0"/>
          </a:p>
        </p:txBody>
      </p:sp>
      <p:graphicFrame>
        <p:nvGraphicFramePr>
          <p:cNvPr id="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291840"/>
                <a:gridCol w="23774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Property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Result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6/8 = 9/12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Invertendo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b/a = d/c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8/6 = 12/9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Alternando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a/c = b/d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6/9 = 8/12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Componendo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(a + b)/b = (c + d)/d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14/8 = 21/12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Dividendo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(a − b)/b = (c − d)/d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−2/8 = −3/12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Componendo-dividendo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(a + b)/(a − b) = (c + d)/(c − d)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14/−2 = 21/−3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Turn and swap</a:t>
            </a:r>
            <a:endParaRPr lang="en-US" sz="3000" dirty="0"/>
          </a:p>
        </p:txBody>
      </p:sp>
      <p:sp>
        <p:nvSpPr>
          <p:cNvPr id="4" name="Invertendo image frame"/>
          <p:cNvSpPr/>
          <p:nvPr/>
        </p:nvSpPr>
        <p:spPr>
          <a:xfrm>
            <a:off x="420624" y="1060704"/>
            <a:ext cx="4096512" cy="2582344"/>
          </a:xfrm>
          <a:prstGeom prst="roundRect">
            <a:avLst>
              <a:gd name="adj" fmla="val 283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Invertendo image" descr="/tmp/claude-0/-home-claude/7116491e-74ad-5a48-9637-67025fdd7b6d/scratchpad/deck/properties-of-equal-ratios/in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509192"/>
          </a:xfrm>
          <a:prstGeom prst="rect">
            <a:avLst/>
          </a:prstGeom>
        </p:spPr>
      </p:pic>
      <p:sp>
        <p:nvSpPr>
          <p:cNvPr id="6" name="Invertendo text"/>
          <p:cNvSpPr txBox="1"/>
          <p:nvPr/>
        </p:nvSpPr>
        <p:spPr>
          <a:xfrm>
            <a:off x="457200" y="37436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8/6 = 12/9 = 4/3.</a:t>
            </a:r>
            <a:endParaRPr lang="en-US" sz="1400" dirty="0"/>
          </a:p>
        </p:txBody>
      </p:sp>
      <p:sp>
        <p:nvSpPr>
          <p:cNvPr id="7" name="Alternando image frame"/>
          <p:cNvSpPr/>
          <p:nvPr/>
        </p:nvSpPr>
        <p:spPr>
          <a:xfrm>
            <a:off x="4626864" y="1060704"/>
            <a:ext cx="4096512" cy="2582344"/>
          </a:xfrm>
          <a:prstGeom prst="roundRect">
            <a:avLst>
              <a:gd name="adj" fmla="val 283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Alternando image" descr="/tmp/claude-0/-home-claude/7116491e-74ad-5a48-9637-67025fdd7b6d/scratchpad/deck/properties-of-equal-ratios/a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509192"/>
          </a:xfrm>
          <a:prstGeom prst="rect">
            <a:avLst/>
          </a:prstGeom>
        </p:spPr>
      </p:pic>
      <p:sp>
        <p:nvSpPr>
          <p:cNvPr id="9" name="Alternando text"/>
          <p:cNvSpPr txBox="1"/>
          <p:nvPr/>
        </p:nvSpPr>
        <p:spPr>
          <a:xfrm>
            <a:off x="4663440" y="37436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6/9 = 8/12 = 2/3.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Add and take away</a:t>
            </a:r>
            <a:endParaRPr lang="en-US" sz="3000" dirty="0"/>
          </a:p>
        </p:txBody>
      </p:sp>
      <p:sp>
        <p:nvSpPr>
          <p:cNvPr id="4" name="Componendo image frame"/>
          <p:cNvSpPr/>
          <p:nvPr/>
        </p:nvSpPr>
        <p:spPr>
          <a:xfrm>
            <a:off x="420624" y="1060704"/>
            <a:ext cx="4096512" cy="2582344"/>
          </a:xfrm>
          <a:prstGeom prst="roundRect">
            <a:avLst>
              <a:gd name="adj" fmla="val 283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Componendo image" descr="/tmp/claude-0/-home-claude/7116491e-74ad-5a48-9637-67025fdd7b6d/scratchpad/deck/properties-of-equal-ratios/com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509192"/>
          </a:xfrm>
          <a:prstGeom prst="rect">
            <a:avLst/>
          </a:prstGeom>
        </p:spPr>
      </p:pic>
      <p:sp>
        <p:nvSpPr>
          <p:cNvPr id="6" name="Componendo text"/>
          <p:cNvSpPr txBox="1"/>
          <p:nvPr/>
        </p:nvSpPr>
        <p:spPr>
          <a:xfrm>
            <a:off x="457200" y="37436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(6 + 8)/8 = (9 + 12)/12 = 7/4.</a:t>
            </a:r>
            <a:endParaRPr lang="en-US" sz="1400" dirty="0"/>
          </a:p>
        </p:txBody>
      </p:sp>
      <p:sp>
        <p:nvSpPr>
          <p:cNvPr id="7" name="Dividendo image frame"/>
          <p:cNvSpPr/>
          <p:nvPr/>
        </p:nvSpPr>
        <p:spPr>
          <a:xfrm>
            <a:off x="4626864" y="1060704"/>
            <a:ext cx="4096512" cy="2582344"/>
          </a:xfrm>
          <a:prstGeom prst="roundRect">
            <a:avLst>
              <a:gd name="adj" fmla="val 283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Dividendo image" descr="/tmp/claude-0/-home-claude/7116491e-74ad-5a48-9637-67025fdd7b6d/scratchpad/deck/properties-of-equal-ratios/di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509192"/>
          </a:xfrm>
          <a:prstGeom prst="rect">
            <a:avLst/>
          </a:prstGeom>
        </p:spPr>
      </p:pic>
      <p:sp>
        <p:nvSpPr>
          <p:cNvPr id="9" name="Dividendo text"/>
          <p:cNvSpPr txBox="1"/>
          <p:nvPr/>
        </p:nvSpPr>
        <p:spPr>
          <a:xfrm>
            <a:off x="4663440" y="37436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(10 − 4)/4 = (15 − 6)/6 = 3/2.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Componendo-dividendo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(a + b)/(a − b) = (c + d)/(c − d)</a:t>
            </a:r>
            <a:endParaRPr lang="en-US" sz="1800" dirty="0"/>
          </a:p>
        </p:txBody>
      </p:sp>
      <p:sp>
        <p:nvSpPr>
          <p:cNvPr id="6" name="Points"/>
          <p:cNvSpPr txBox="1"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Divide the componendo result by the dividendo result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Needs a ≠ b and c ≠ 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Great for solving equations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809744" y="1106424"/>
            <a:ext cx="3913632" cy="2468290"/>
          </a:xfrm>
          <a:prstGeom prst="roundRect">
            <a:avLst>
              <a:gd name="adj" fmla="val 296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properties-of-equal-ratios/c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395138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846320" y="364786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14/6 = 21/9 = 7/3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Use the rules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a/b = 5/3. Find (a + b)/b and (a − b)/b.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Componendo: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8/3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Dividendo: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2/3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New ratio first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a/b = 7/4. Find (5a + 4b)/(5a − 4b).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5a/4b = 35/16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(35 + 16)/(35 − 16)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51/19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solve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Solve (x + 4)/(x − 4) = 5/3.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Componendo-dividendo: 2x/8 = 8/2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x/4 = 4,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x = 16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Check: 20/12 = 5/3 ✓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468290"/>
          </a:xfrm>
          <a:prstGeom prst="roundRect">
            <a:avLst>
              <a:gd name="adj" fmla="val 296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properties-of-equal-ratios/e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395138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64786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20/12 = 5/3: both sides give 4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Why they work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Big 1"/>
          <p:cNvSpPr txBox="1"/>
          <p:nvPr/>
        </p:nvSpPr>
        <p:spPr>
          <a:xfrm>
            <a:off x="731520" y="1371600"/>
            <a:ext cx="13510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 ÷</a:t>
            </a:r>
            <a:endParaRPr lang="en-US" sz="3000" dirty="0"/>
          </a:p>
        </p:txBody>
      </p:sp>
      <p:sp>
        <p:nvSpPr>
          <p:cNvPr id="6" name="Card head 1"/>
          <p:cNvSpPr txBox="1"/>
          <p:nvPr/>
        </p:nvSpPr>
        <p:spPr>
          <a:xfrm>
            <a:off x="731520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Invertendo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Take 1 ÷ each side.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2567178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Big 2"/>
          <p:cNvSpPr txBox="1"/>
          <p:nvPr/>
        </p:nvSpPr>
        <p:spPr>
          <a:xfrm>
            <a:off x="2841498" y="1371600"/>
            <a:ext cx="13510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÷ cd</a:t>
            </a:r>
            <a:endParaRPr lang="en-US" sz="3000" dirty="0"/>
          </a:p>
        </p:txBody>
      </p:sp>
      <p:sp>
        <p:nvSpPr>
          <p:cNvPr id="10" name="Card head 2"/>
          <p:cNvSpPr txBox="1"/>
          <p:nvPr/>
        </p:nvSpPr>
        <p:spPr>
          <a:xfrm>
            <a:off x="2841498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Alternando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2841498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 = bc, divide by cd.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4677156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13" name="Big 3"/>
          <p:cNvSpPr txBox="1"/>
          <p:nvPr/>
        </p:nvSpPr>
        <p:spPr>
          <a:xfrm>
            <a:off x="4951476" y="1371600"/>
            <a:ext cx="13510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+ 1</a:t>
            </a:r>
            <a:endParaRPr lang="en-US" sz="3000" dirty="0"/>
          </a:p>
        </p:txBody>
      </p:sp>
      <p:sp>
        <p:nvSpPr>
          <p:cNvPr id="14" name="Card head 3"/>
          <p:cNvSpPr txBox="1"/>
          <p:nvPr/>
        </p:nvSpPr>
        <p:spPr>
          <a:xfrm>
            <a:off x="4951476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Componendo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4951476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a/b + 1 = c/d + 1.</a:t>
            </a:r>
            <a:endParaRPr lang="en-US" sz="1400" dirty="0"/>
          </a:p>
        </p:txBody>
      </p:sp>
      <p:sp>
        <p:nvSpPr>
          <p:cNvPr id="16" name="Card 4"/>
          <p:cNvSpPr/>
          <p:nvPr/>
        </p:nvSpPr>
        <p:spPr>
          <a:xfrm>
            <a:off x="6787134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Big 4"/>
          <p:cNvSpPr txBox="1"/>
          <p:nvPr/>
        </p:nvSpPr>
        <p:spPr>
          <a:xfrm>
            <a:off x="7061454" y="1371600"/>
            <a:ext cx="13510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− 1</a:t>
            </a:r>
            <a:endParaRPr lang="en-US" sz="3000" dirty="0"/>
          </a:p>
        </p:txBody>
      </p:sp>
      <p:sp>
        <p:nvSpPr>
          <p:cNvPr id="18" name="Card head 4"/>
          <p:cNvSpPr txBox="1"/>
          <p:nvPr/>
        </p:nvSpPr>
        <p:spPr>
          <a:xfrm>
            <a:off x="7061454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Dividendo</a:t>
            </a:r>
            <a:endParaRPr lang="en-US" sz="1800" dirty="0"/>
          </a:p>
        </p:txBody>
      </p:sp>
      <p:sp>
        <p:nvSpPr>
          <p:cNvPr id="19" name="Card body 4"/>
          <p:cNvSpPr txBox="1"/>
          <p:nvPr/>
        </p:nvSpPr>
        <p:spPr>
          <a:xfrm>
            <a:off x="7061454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a/b − 1 = c/d − 1.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Changing one side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 the same to both ratios.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Alternando wrongly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a/c = b/d, not a/d = b/c.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Dividing by zero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Componendo-dividendo needs a ≠ b.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Mixed differences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− b on the left, c − d on the right.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a/b = 3/5. By invertendo, b/a = ?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a/b = 4/3. Find (a + b)/b.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x/y = 9/5. Find (x + y)/(x − y).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Which property turns a/b = c/d into a/c = b/d?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Watch the tapes move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Properties of equal ratios lesson on the Visual Science &amp; Maths website. Pick a property and press “Show the step”.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lesson: Theorem on equal ratios and the k method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411263"/>
          </a:xfrm>
          <a:prstGeom prst="roundRect">
            <a:avLst>
              <a:gd name="adj" fmla="val 303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properties-of-equal-ratios/c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3381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Science &amp; Maths">
  <a:themeElements>
    <a:clrScheme name="Visual Science &amp; Math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Science &amp; Math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Properties of Equal Ratios</dc:title>
  <dc:subject>Std 9 Mathematics Part I, Chapter 4 Ratio and Proportion</dc:subject>
  <dc:creator>Visual Science &amp; Maths</dc:creator>
  <cp:lastModifiedBy>Visual Science &amp; Maths</cp:lastModifiedBy>
  <cp:revision>1</cp:revision>
  <dcterms:created xsi:type="dcterms:W3CDTF">2026-10-08T09:26:01Z</dcterms:created>
  <dcterms:modified xsi:type="dcterms:W3CDTF">2026-10-08T09:26:01Z</dcterms:modified>
</cp:coreProperties>
</file>