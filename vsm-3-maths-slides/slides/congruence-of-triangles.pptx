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58f4e3d9-1393-fe5d-6600-b57f5677427c}">
          <p14:sldIdLst>
            <p14:sldId id="256"/>
            <p14:sldId id="257"/>
          </p14:sldIdLst>
        </p14:section>
        <p14:section name="Key ideas" id="{0b45e4d5-422c-ae7f-ee80-4aff88858f00}">
          <p14:sldIdLst>
            <p14:sldId id="258"/>
            <p14:sldId id="259"/>
            <p14:sldId id="260"/>
            <p14:sldId id="261"/>
          </p14:sldIdLst>
        </p14:section>
        <p14:section name="Practice" id="{56263fa8-d6d2-7a4a-0af2-729c7a88e79a}">
          <p14:sldIdLst>
            <p14:sldId id="262"/>
            <p14:sldId id="263"/>
            <p14:sldId id="264"/>
            <p14:sldId id="265"/>
            <p14:sldId id="266"/>
          </p14:sldIdLst>
        </p14:section>
        <p14:section name="Wrap-up" id="{a50daf5c-2589-b6b6-89ec-08927ac36593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Goal: students know the five tests of congruence, can name the test in a given situation, and know why SSA and AAA fail.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some sets of three are enough; some are not.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order of letters records the matching.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of these fixes exactly one triangle.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simulation draws every triangle that fits; here there is only ever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key visual of the lesson: let students find their own two-triangle S-S-A case.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c.s.c.t.: corresponding sides of congruent triangles.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right angle is the third given part.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Constructions of triangles is the next textbook chapter and relies on these tests.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S-S-A slide again when discussing the first mistake.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1) A-A-A. 2) S-A-S. 3) YZ. 4) 12 cm.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Homework: textbook practice set 3.2.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Congruence of Triangles · Std 9 Maths II Ch. 3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 txBox="1"/>
          <p:nvPr/>
        </p:nvSpPr>
        <p:spPr>
          <a:xfrm>
            <a:off x="548640" y="11430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STD 9 MATHEMATICS PART II · CH. 3 TRIANGLES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Congruence of Triangles</a:t>
            </a:r>
            <a:endParaRPr lang="en-US" sz="3800" dirty="0"/>
          </a:p>
        </p:txBody>
      </p:sp>
      <p:sp>
        <p:nvSpPr>
          <p:cNvPr id="5" name="Subtitle"/>
          <p:cNvSpPr txBox="1"/>
          <p:nvPr/>
        </p:nvSpPr>
        <p:spPr>
          <a:xfrm>
            <a:off x="548640" y="3108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Lesson 2 · Visual Science &amp; Maths</a:t>
            </a:r>
            <a:endParaRPr lang="en-US" sz="1600" dirty="0"/>
          </a:p>
        </p:txBody>
      </p:sp>
      <p:sp>
        <p:nvSpPr>
          <p:cNvPr id="6" name="Title image frame"/>
          <p:cNvSpPr/>
          <p:nvPr/>
        </p:nvSpPr>
        <p:spPr>
          <a:xfrm>
            <a:off x="4901184" y="1197864"/>
            <a:ext cx="3822192" cy="2411263"/>
          </a:xfrm>
          <a:prstGeom prst="roundRect">
            <a:avLst>
              <a:gd name="adj" fmla="val 3034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Title image" descr="/tmp/claude-0/-home-claude/7116491e-74ad-5a48-9637-67025fdd7b6d/scratchpad/deck/congruence-of-triangles/s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234440"/>
            <a:ext cx="3749040" cy="233811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Do we need all six?</a:t>
            </a:r>
            <a:endParaRPr lang="en-US" sz="3000" dirty="0"/>
          </a:p>
        </p:txBody>
      </p:sp>
      <p:sp>
        <p:nvSpPr>
          <p:cNvPr id="4" name="Hook text"/>
          <p:cNvSpPr txBox="1"/>
          <p:nvPr/>
        </p:nvSpPr>
        <p:spPr>
          <a:xfrm>
            <a:off x="457200" y="1143000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A triangle has three sides and three angles. To show two triangles are identical, must we check all six?</a:t>
            </a:r>
            <a:endParaRPr lang="en-US" sz="1800" dirty="0"/>
          </a:p>
        </p:txBody>
      </p:sp>
      <p:sp>
        <p:nvSpPr>
          <p:cNvPr id="5" name="Question"/>
          <p:cNvSpPr txBox="1"/>
          <p:nvPr/>
        </p:nvSpPr>
        <p:spPr>
          <a:xfrm>
            <a:off x="457200" y="274320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Which three parts are enough?</a:t>
            </a:r>
            <a:endParaRPr lang="en-US" sz="1800" dirty="0"/>
          </a:p>
        </p:txBody>
      </p:sp>
      <p:sp>
        <p:nvSpPr>
          <p:cNvPr id="6" name="Hook image frame"/>
          <p:cNvSpPr/>
          <p:nvPr/>
        </p:nvSpPr>
        <p:spPr>
          <a:xfrm>
            <a:off x="4718304" y="1152144"/>
            <a:ext cx="4005072" cy="2525317"/>
          </a:xfrm>
          <a:prstGeom prst="roundRect">
            <a:avLst>
              <a:gd name="adj" fmla="val 2897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Hook image" descr="/tmp/claude-0/-home-claude/7116491e-74ad-5a48-9637-67025fdd7b6d/scratchpad/deck/congruence-of-triangles/s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1188720"/>
            <a:ext cx="3931920" cy="2452165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4754880" y="3750613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Two sides and the angle between: one triangle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Congruent triangles</a:t>
            </a:r>
            <a:endParaRPr lang="en-US" sz="3000" dirty="0"/>
          </a:p>
        </p:txBody>
      </p:sp>
      <p:sp>
        <p:nvSpPr>
          <p:cNvPr id="4" name="Points"/>
          <p:cNvSpPr txBox="1"/>
          <p:nvPr/>
        </p:nvSpPr>
        <p:spPr>
          <a:xfrm>
            <a:off x="457200" y="1097280"/>
            <a:ext cx="40233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Corresponding sides and angles equal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One fits exactly on the other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△ABC ≅ △PQR: A↔P, B↔Q, C↔R</a:t>
            </a:r>
            <a:endParaRPr lang="en-US" sz="1600" dirty="0"/>
          </a:p>
        </p:txBody>
      </p:sp>
      <p:sp>
        <p:nvSpPr>
          <p:cNvPr id="5" name="Concept image frame"/>
          <p:cNvSpPr/>
          <p:nvPr/>
        </p:nvSpPr>
        <p:spPr>
          <a:xfrm>
            <a:off x="4809744" y="1106424"/>
            <a:ext cx="3913632" cy="2468290"/>
          </a:xfrm>
          <a:prstGeom prst="roundRect">
            <a:avLst>
              <a:gd name="adj" fmla="val 2964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6" name="Concept image" descr="/tmp/claude-0/-home-claude/7116491e-74ad-5a48-9637-67025fdd7b6d/scratchpad/deck/congruence-of-triangles/as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143000"/>
            <a:ext cx="3840480" cy="2395138"/>
          </a:xfrm>
          <a:prstGeom prst="rect">
            <a:avLst/>
          </a:prstGeom>
        </p:spPr>
      </p:pic>
      <p:sp>
        <p:nvSpPr>
          <p:cNvPr id="7" name="Caption"/>
          <p:cNvSpPr txBox="1"/>
          <p:nvPr/>
        </p:nvSpPr>
        <p:spPr>
          <a:xfrm>
            <a:off x="4846320" y="3647866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A-S-A fixes the triangle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Tests of congruence</a:t>
            </a:r>
            <a:endParaRPr lang="en-US" sz="3000" dirty="0"/>
          </a:p>
        </p:txBody>
      </p:sp>
      <p:graphicFrame>
        <p:nvGraphicFramePr>
          <p:cNvPr id="5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585216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1"/>
                          </a:solidFill>
                        </a:rPr>
                        <a:t>Test</a:t>
                      </a:r>
                      <a:endParaRPr lang="en-US" sz="16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Equal parts</a:t>
                      </a:r>
                      <a:endParaRPr lang="en-US" sz="16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2"/>
                          </a:solidFill>
                        </a:rPr>
                        <a:t>S-S-S</a:t>
                      </a:r>
                      <a:endParaRPr lang="en-US" sz="16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All three sides</a:t>
                      </a:r>
                      <a:endParaRPr lang="en-US" sz="16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2"/>
                          </a:solidFill>
                        </a:rPr>
                        <a:t>S-A-S</a:t>
                      </a:r>
                      <a:endParaRPr lang="en-US" sz="16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Two sides and the angle between them</a:t>
                      </a:r>
                      <a:endParaRPr lang="en-US" sz="16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2"/>
                          </a:solidFill>
                        </a:rPr>
                        <a:t>A-S-A</a:t>
                      </a:r>
                      <a:endParaRPr lang="en-US" sz="16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Two angles and the side between them</a:t>
                      </a:r>
                      <a:endParaRPr lang="en-US" sz="16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2"/>
                          </a:solidFill>
                        </a:rPr>
                        <a:t>A-A-S</a:t>
                      </a:r>
                      <a:endParaRPr lang="en-US" sz="16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Two angles and a side not between them</a:t>
                      </a:r>
                      <a:endParaRPr lang="en-US" sz="16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2"/>
                          </a:solidFill>
                        </a:rPr>
                        <a:t>Hypotenuse–side</a:t>
                      </a:r>
                      <a:endParaRPr lang="en-US" sz="16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Right triangles: hypotenuse and one side</a:t>
                      </a:r>
                      <a:endParaRPr lang="en-US" sz="16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Parts that fix a triangle</a:t>
            </a:r>
            <a:endParaRPr lang="en-US" sz="3000" dirty="0"/>
          </a:p>
        </p:txBody>
      </p:sp>
      <p:sp>
        <p:nvSpPr>
          <p:cNvPr id="4" name="S-S-S image frame"/>
          <p:cNvSpPr/>
          <p:nvPr/>
        </p:nvSpPr>
        <p:spPr>
          <a:xfrm>
            <a:off x="420624" y="1060704"/>
            <a:ext cx="4096512" cy="2582344"/>
          </a:xfrm>
          <a:prstGeom prst="roundRect">
            <a:avLst>
              <a:gd name="adj" fmla="val 2833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5" name="S-S-S image" descr="/tmp/claude-0/-home-claude/7116491e-74ad-5a48-9637-67025fdd7b6d/scratchpad/deck/congruence-of-triangles/s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4023360" cy="2509192"/>
          </a:xfrm>
          <a:prstGeom prst="rect">
            <a:avLst/>
          </a:prstGeom>
        </p:spPr>
      </p:pic>
      <p:sp>
        <p:nvSpPr>
          <p:cNvPr id="6" name="S-S-S text"/>
          <p:cNvSpPr txBox="1"/>
          <p:nvPr/>
        </p:nvSpPr>
        <p:spPr>
          <a:xfrm>
            <a:off x="457200" y="374363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5, 7 and 6 cm: only one triangle.</a:t>
            </a:r>
            <a:endParaRPr lang="en-US" sz="1400" dirty="0"/>
          </a:p>
        </p:txBody>
      </p:sp>
      <p:sp>
        <p:nvSpPr>
          <p:cNvPr id="7" name="Hypotenuse–side image frame"/>
          <p:cNvSpPr/>
          <p:nvPr/>
        </p:nvSpPr>
        <p:spPr>
          <a:xfrm>
            <a:off x="4626864" y="1060704"/>
            <a:ext cx="4096512" cy="2582344"/>
          </a:xfrm>
          <a:prstGeom prst="roundRect">
            <a:avLst>
              <a:gd name="adj" fmla="val 2833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Hypotenuse–side image" descr="/tmp/claude-0/-home-claude/7116491e-74ad-5a48-9637-67025fdd7b6d/scratchpad/deck/congruence-of-triangles/rh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097280"/>
            <a:ext cx="4023360" cy="2509192"/>
          </a:xfrm>
          <a:prstGeom prst="rect">
            <a:avLst/>
          </a:prstGeom>
        </p:spPr>
      </p:pic>
      <p:sp>
        <p:nvSpPr>
          <p:cNvPr id="9" name="Hypotenuse–side text"/>
          <p:cNvSpPr txBox="1"/>
          <p:nvPr/>
        </p:nvSpPr>
        <p:spPr>
          <a:xfrm>
            <a:off x="4663440" y="374363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10 cm and 6 cm: the third side must be 8 cm.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Parts that do not</a:t>
            </a:r>
            <a:endParaRPr lang="en-US" sz="3000" dirty="0"/>
          </a:p>
        </p:txBody>
      </p:sp>
      <p:sp>
        <p:nvSpPr>
          <p:cNvPr id="4" name="S-S-A image frame"/>
          <p:cNvSpPr/>
          <p:nvPr/>
        </p:nvSpPr>
        <p:spPr>
          <a:xfrm>
            <a:off x="420624" y="1060704"/>
            <a:ext cx="4096512" cy="2582344"/>
          </a:xfrm>
          <a:prstGeom prst="roundRect">
            <a:avLst>
              <a:gd name="adj" fmla="val 2833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5" name="S-S-A image" descr="/tmp/claude-0/-home-claude/7116491e-74ad-5a48-9637-67025fdd7b6d/scratchpad/deck/congruence-of-triangles/ss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4023360" cy="2509192"/>
          </a:xfrm>
          <a:prstGeom prst="rect">
            <a:avLst/>
          </a:prstGeom>
        </p:spPr>
      </p:pic>
      <p:sp>
        <p:nvSpPr>
          <p:cNvPr id="6" name="S-S-A text"/>
          <p:cNvSpPr txBox="1"/>
          <p:nvPr/>
        </p:nvSpPr>
        <p:spPr>
          <a:xfrm>
            <a:off x="457200" y="374363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Same two sides and angle, two different triangles.</a:t>
            </a:r>
            <a:endParaRPr lang="en-US" sz="1400" dirty="0"/>
          </a:p>
        </p:txBody>
      </p:sp>
      <p:sp>
        <p:nvSpPr>
          <p:cNvPr id="7" name="A-A-A image frame"/>
          <p:cNvSpPr/>
          <p:nvPr/>
        </p:nvSpPr>
        <p:spPr>
          <a:xfrm>
            <a:off x="4626864" y="1060704"/>
            <a:ext cx="4096512" cy="2582344"/>
          </a:xfrm>
          <a:prstGeom prst="roundRect">
            <a:avLst>
              <a:gd name="adj" fmla="val 2833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A-A-A image" descr="/tmp/claude-0/-home-claude/7116491e-74ad-5a48-9637-67025fdd7b6d/scratchpad/deck/congruence-of-triangles/aa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097280"/>
            <a:ext cx="4023360" cy="2509192"/>
          </a:xfrm>
          <a:prstGeom prst="rect">
            <a:avLst/>
          </a:prstGeom>
        </p:spPr>
      </p:pic>
      <p:sp>
        <p:nvSpPr>
          <p:cNvPr id="9" name="A-A-A text"/>
          <p:cNvSpPr txBox="1"/>
          <p:nvPr/>
        </p:nvSpPr>
        <p:spPr>
          <a:xfrm>
            <a:off x="4663440" y="374363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Same angles, any size: similar, not congruent.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Worked examples</a:t>
            </a:r>
            <a:endParaRPr lang="en-US" sz="3000" dirty="0"/>
          </a:p>
        </p:txBody>
      </p:sp>
      <p:sp>
        <p:nvSpPr>
          <p:cNvPr id="4" name="Example card 1"/>
          <p:cNvSpPr/>
          <p:nvPr/>
        </p:nvSpPr>
        <p:spPr>
          <a:xfrm>
            <a:off x="457200" y="1097280"/>
            <a:ext cx="4023360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Example head 1"/>
          <p:cNvSpPr txBox="1"/>
          <p:nvPr/>
        </p:nvSpPr>
        <p:spPr>
          <a:xfrm>
            <a:off x="68580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Name the test</a:t>
            </a:r>
            <a:endParaRPr lang="en-US" sz="1800" dirty="0"/>
          </a:p>
        </p:txBody>
      </p:sp>
      <p:sp>
        <p:nvSpPr>
          <p:cNvPr id="6" name="Problem 1"/>
          <p:cNvSpPr txBox="1"/>
          <p:nvPr/>
        </p:nvSpPr>
        <p:spPr>
          <a:xfrm>
            <a:off x="685800" y="17373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AB = PQ = 5 cm, ∠B = ∠Q = 50°, BC = QR = 7 cm.</a:t>
            </a:r>
            <a:endParaRPr lang="en-US" sz="1500" dirty="0"/>
          </a:p>
        </p:txBody>
      </p:sp>
      <p:sp>
        <p:nvSpPr>
          <p:cNvPr id="7" name="Solution 1"/>
          <p:cNvSpPr txBox="1"/>
          <p:nvPr/>
        </p:nvSpPr>
        <p:spPr>
          <a:xfrm>
            <a:off x="685800" y="274320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The angle is between the sides</a:t>
            </a:r>
            <a:pPr indent="0" marL="0">
              <a:spcAft>
                <a:spcPts val="800"/>
              </a:spcAft>
              <a:buNone/>
            </a:pP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Congruent by S-A-S</a:t>
            </a:r>
            <a:endParaRPr lang="en-US" sz="1500" dirty="0"/>
          </a:p>
        </p:txBody>
      </p:sp>
      <p:sp>
        <p:nvSpPr>
          <p:cNvPr id="8" name="Example card 2"/>
          <p:cNvSpPr/>
          <p:nvPr/>
        </p:nvSpPr>
        <p:spPr>
          <a:xfrm>
            <a:off x="4663440" y="1097280"/>
            <a:ext cx="4023360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Example head 2"/>
          <p:cNvSpPr txBox="1"/>
          <p:nvPr/>
        </p:nvSpPr>
        <p:spPr>
          <a:xfrm>
            <a:off x="489204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Use c.s.c.t.</a:t>
            </a:r>
            <a:endParaRPr lang="en-US" sz="1800" dirty="0"/>
          </a:p>
        </p:txBody>
      </p:sp>
      <p:sp>
        <p:nvSpPr>
          <p:cNvPr id="10" name="Problem 2"/>
          <p:cNvSpPr txBox="1"/>
          <p:nvPr/>
        </p:nvSpPr>
        <p:spPr>
          <a:xfrm>
            <a:off x="4892040" y="17373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PS = RS, ∠PSQ = ∠RSQ, SQ common. Show PQ = RQ.</a:t>
            </a:r>
            <a:endParaRPr lang="en-US" sz="1500" dirty="0"/>
          </a:p>
        </p:txBody>
      </p:sp>
      <p:sp>
        <p:nvSpPr>
          <p:cNvPr id="11" name="Solution 2"/>
          <p:cNvSpPr txBox="1"/>
          <p:nvPr/>
        </p:nvSpPr>
        <p:spPr>
          <a:xfrm>
            <a:off x="4892040" y="274320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△PSQ ≅ △RSQ by S-A-S</a:t>
            </a:r>
            <a:pPr indent="0" marL="0">
              <a:spcAft>
                <a:spcPts val="800"/>
              </a:spcAft>
              <a:buNone/>
            </a:pP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So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PQ = RQ (c.s.c.t.)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Right triangles</a:t>
            </a:r>
            <a:endParaRPr lang="en-US" sz="3000" dirty="0"/>
          </a:p>
        </p:txBody>
      </p:sp>
      <p:sp>
        <p:nvSpPr>
          <p:cNvPr id="4" name="Stats image frame"/>
          <p:cNvSpPr/>
          <p:nvPr/>
        </p:nvSpPr>
        <p:spPr>
          <a:xfrm>
            <a:off x="420624" y="1106424"/>
            <a:ext cx="4096512" cy="2582344"/>
          </a:xfrm>
          <a:prstGeom prst="roundRect">
            <a:avLst>
              <a:gd name="adj" fmla="val 2833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5" name="Stats image" descr="/tmp/claude-0/-home-claude/7116491e-74ad-5a48-9637-67025fdd7b6d/scratchpad/deck/congruence-of-triangles/rh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4023360" cy="2509192"/>
          </a:xfrm>
          <a:prstGeom prst="rect">
            <a:avLst/>
          </a:prstGeom>
        </p:spPr>
      </p:pic>
      <p:sp>
        <p:nvSpPr>
          <p:cNvPr id="6" name="Caption"/>
          <p:cNvSpPr txBox="1"/>
          <p:nvPr/>
        </p:nvSpPr>
        <p:spPr>
          <a:xfrm>
            <a:off x="457200" y="376192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Hypotenuse 10 cm, side 6 cm</a:t>
            </a:r>
            <a:endParaRPr lang="en-US" sz="1100" dirty="0"/>
          </a:p>
        </p:txBody>
      </p:sp>
      <p:sp>
        <p:nvSpPr>
          <p:cNvPr id="7" name="Facts"/>
          <p:cNvSpPr txBox="1"/>
          <p:nvPr/>
        </p:nvSpPr>
        <p:spPr>
          <a:xfrm>
            <a:off x="4846320" y="114300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Hypotenuse–side test, then Pythagoras:</a:t>
            </a:r>
            <a:endParaRPr lang="en-US" sz="1600" dirty="0"/>
          </a:p>
        </p:txBody>
      </p:sp>
      <p:sp>
        <p:nvSpPr>
          <p:cNvPr id="8" name="Stat card 1"/>
          <p:cNvSpPr/>
          <p:nvPr/>
        </p:nvSpPr>
        <p:spPr>
          <a:xfrm>
            <a:off x="4846320" y="1920240"/>
            <a:ext cx="1828800" cy="1463040"/>
          </a:xfrm>
          <a:prstGeom prst="roundRect">
            <a:avLst>
              <a:gd name="adj" fmla="val 75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9" name="Stat 1"/>
          <p:cNvSpPr txBox="1"/>
          <p:nvPr/>
        </p:nvSpPr>
        <p:spPr>
          <a:xfrm>
            <a:off x="4983480" y="201168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Congruent</a:t>
            </a:r>
            <a:endParaRPr lang="en-US" sz="20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by hypotenuse–side</a:t>
            </a:r>
            <a:endParaRPr lang="en-US" sz="2000" dirty="0"/>
          </a:p>
        </p:txBody>
      </p:sp>
      <p:sp>
        <p:nvSpPr>
          <p:cNvPr id="10" name="Stat card 2"/>
          <p:cNvSpPr/>
          <p:nvPr/>
        </p:nvSpPr>
        <p:spPr>
          <a:xfrm>
            <a:off x="6858000" y="1920240"/>
            <a:ext cx="1828800" cy="1463040"/>
          </a:xfrm>
          <a:prstGeom prst="roundRect">
            <a:avLst>
              <a:gd name="adj" fmla="val 75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1" name="Stat 2"/>
          <p:cNvSpPr txBox="1"/>
          <p:nvPr/>
        </p:nvSpPr>
        <p:spPr>
          <a:xfrm>
            <a:off x="6995160" y="201168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2"/>
                </a:solidFill>
              </a:rPr>
              <a:t>8 cm</a:t>
            </a:r>
            <a:endParaRPr lang="en-US" sz="28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third side √(100 − 36)</a:t>
            </a:r>
            <a:endParaRPr lang="en-US" sz="2800" dirty="0"/>
          </a:p>
        </p:txBody>
      </p:sp>
      <p:sp>
        <p:nvSpPr>
          <p:cNvPr id="12" name="Takeaway"/>
          <p:cNvSpPr txBox="1"/>
          <p:nvPr/>
        </p:nvSpPr>
        <p:spPr>
          <a:xfrm>
            <a:off x="4846320" y="356616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Two right triangles with the same hypotenuse and one side are identical.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Where congruence is used</a:t>
            </a:r>
            <a:endParaRPr lang="en-US" sz="3000" dirty="0"/>
          </a:p>
        </p:txBody>
      </p:sp>
      <p:sp>
        <p:nvSpPr>
          <p:cNvPr id="4" name="Card 1"/>
          <p:cNvSpPr/>
          <p:nvPr/>
        </p:nvSpPr>
        <p:spPr>
          <a:xfrm>
            <a:off x="457200" y="1188720"/>
            <a:ext cx="2602992" cy="3017520"/>
          </a:xfrm>
          <a:prstGeom prst="roundRect">
            <a:avLst>
              <a:gd name="adj" fmla="val 4215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5" name="Icon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63040"/>
            <a:ext cx="548640" cy="548640"/>
          </a:xfrm>
          <a:prstGeom prst="rect">
            <a:avLst/>
          </a:prstGeom>
        </p:spPr>
      </p:pic>
      <p:sp>
        <p:nvSpPr>
          <p:cNvPr id="6" name="Card head 1"/>
          <p:cNvSpPr txBox="1"/>
          <p:nvPr/>
        </p:nvSpPr>
        <p:spPr>
          <a:xfrm>
            <a:off x="731520" y="2240280"/>
            <a:ext cx="2054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Proofs</a:t>
            </a:r>
            <a:endParaRPr lang="en-US" sz="1800" dirty="0"/>
          </a:p>
        </p:txBody>
      </p:sp>
      <p:sp>
        <p:nvSpPr>
          <p:cNvPr id="7" name="Card body 1"/>
          <p:cNvSpPr txBox="1"/>
          <p:nvPr/>
        </p:nvSpPr>
        <p:spPr>
          <a:xfrm>
            <a:off x="731520" y="2971800"/>
            <a:ext cx="2054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Show sides or angles equal through congruent triangles.</a:t>
            </a:r>
            <a:endParaRPr lang="en-US" sz="1400" dirty="0"/>
          </a:p>
        </p:txBody>
      </p:sp>
      <p:sp>
        <p:nvSpPr>
          <p:cNvPr id="8" name="Card 2"/>
          <p:cNvSpPr/>
          <p:nvPr/>
        </p:nvSpPr>
        <p:spPr>
          <a:xfrm>
            <a:off x="3270504" y="1188720"/>
            <a:ext cx="2602992" cy="3017520"/>
          </a:xfrm>
          <a:prstGeom prst="roundRect">
            <a:avLst>
              <a:gd name="adj" fmla="val 4215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9" name="Icon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4824" y="1463040"/>
            <a:ext cx="548640" cy="548640"/>
          </a:xfrm>
          <a:prstGeom prst="rect">
            <a:avLst/>
          </a:prstGeom>
        </p:spPr>
      </p:pic>
      <p:sp>
        <p:nvSpPr>
          <p:cNvPr id="10" name="Card head 2"/>
          <p:cNvSpPr txBox="1"/>
          <p:nvPr/>
        </p:nvSpPr>
        <p:spPr>
          <a:xfrm>
            <a:off x="3544824" y="2240280"/>
            <a:ext cx="2054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Manufacturing</a:t>
            </a:r>
            <a:endParaRPr lang="en-US" sz="1800" dirty="0"/>
          </a:p>
        </p:txBody>
      </p:sp>
      <p:sp>
        <p:nvSpPr>
          <p:cNvPr id="11" name="Card body 2"/>
          <p:cNvSpPr txBox="1"/>
          <p:nvPr/>
        </p:nvSpPr>
        <p:spPr>
          <a:xfrm>
            <a:off x="3544824" y="2971800"/>
            <a:ext cx="2054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Identical parts are congruent shapes.</a:t>
            </a:r>
            <a:endParaRPr lang="en-US" sz="1400" dirty="0"/>
          </a:p>
        </p:txBody>
      </p:sp>
      <p:sp>
        <p:nvSpPr>
          <p:cNvPr id="12" name="Card 3"/>
          <p:cNvSpPr/>
          <p:nvPr/>
        </p:nvSpPr>
        <p:spPr>
          <a:xfrm>
            <a:off x="6083808" y="1188720"/>
            <a:ext cx="2602992" cy="3017520"/>
          </a:xfrm>
          <a:prstGeom prst="roundRect">
            <a:avLst>
              <a:gd name="adj" fmla="val 4215"/>
            </a:avLst>
          </a:prstGeom>
          <a:solidFill>
            <a:srgbClr val="FBEAE5"/>
          </a:solidFill>
          <a:ln w="12700">
            <a:solidFill>
              <a:srgbClr val="FBEAE5"/>
            </a:solidFill>
            <a:prstDash val="solid"/>
          </a:ln>
        </p:spPr>
      </p:sp>
      <p:pic>
        <p:nvPicPr>
          <p:cNvPr id="13" name="Icon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8128" y="1463040"/>
            <a:ext cx="548640" cy="548640"/>
          </a:xfrm>
          <a:prstGeom prst="rect">
            <a:avLst/>
          </a:prstGeom>
        </p:spPr>
      </p:pic>
      <p:sp>
        <p:nvSpPr>
          <p:cNvPr id="14" name="Card head 3"/>
          <p:cNvSpPr txBox="1"/>
          <p:nvPr/>
        </p:nvSpPr>
        <p:spPr>
          <a:xfrm>
            <a:off x="6358128" y="2240280"/>
            <a:ext cx="2054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Constructions</a:t>
            </a:r>
            <a:endParaRPr lang="en-US" sz="1800" dirty="0"/>
          </a:p>
        </p:txBody>
      </p:sp>
      <p:sp>
        <p:nvSpPr>
          <p:cNvPr id="15" name="Card body 3"/>
          <p:cNvSpPr txBox="1"/>
          <p:nvPr/>
        </p:nvSpPr>
        <p:spPr>
          <a:xfrm>
            <a:off x="6358128" y="2971800"/>
            <a:ext cx="2054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tests tell you which measurements fix a triangle.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Common mistakes</a:t>
            </a:r>
            <a:endParaRPr lang="en-US" sz="3000" dirty="0"/>
          </a:p>
        </p:txBody>
      </p:sp>
      <p:sp>
        <p:nvSpPr>
          <p:cNvPr id="4" name="Mistake card 1"/>
          <p:cNvSpPr/>
          <p:nvPr/>
        </p:nvSpPr>
        <p:spPr>
          <a:xfrm>
            <a:off x="457200" y="109728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5" name="Cross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325880"/>
            <a:ext cx="365760" cy="365760"/>
          </a:xfrm>
          <a:prstGeom prst="rect">
            <a:avLst/>
          </a:prstGeom>
        </p:spPr>
      </p:pic>
      <p:sp>
        <p:nvSpPr>
          <p:cNvPr id="6" name="Mistake 1"/>
          <p:cNvSpPr txBox="1"/>
          <p:nvPr/>
        </p:nvSpPr>
        <p:spPr>
          <a:xfrm>
            <a:off x="1234440" y="1280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S-S-A as a test</a:t>
            </a:r>
            <a:endParaRPr lang="en-US" sz="1700" dirty="0"/>
          </a:p>
        </p:txBody>
      </p:sp>
      <p:sp>
        <p:nvSpPr>
          <p:cNvPr id="7" name="Fix 1"/>
          <p:cNvSpPr txBox="1"/>
          <p:nvPr/>
        </p:nvSpPr>
        <p:spPr>
          <a:xfrm>
            <a:off x="1234440" y="175564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It can fit two triangles.</a:t>
            </a:r>
            <a:endParaRPr lang="en-US" sz="1400" dirty="0"/>
          </a:p>
        </p:txBody>
      </p:sp>
      <p:sp>
        <p:nvSpPr>
          <p:cNvPr id="8" name="Mistake card 2"/>
          <p:cNvSpPr/>
          <p:nvPr/>
        </p:nvSpPr>
        <p:spPr>
          <a:xfrm>
            <a:off x="4663440" y="109728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9" name="Cross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325880"/>
            <a:ext cx="365760" cy="365760"/>
          </a:xfrm>
          <a:prstGeom prst="rect">
            <a:avLst/>
          </a:prstGeom>
        </p:spPr>
      </p:pic>
      <p:sp>
        <p:nvSpPr>
          <p:cNvPr id="10" name="Mistake 2"/>
          <p:cNvSpPr txBox="1"/>
          <p:nvPr/>
        </p:nvSpPr>
        <p:spPr>
          <a:xfrm>
            <a:off x="5440680" y="1280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A-A-A as a test</a:t>
            </a:r>
            <a:endParaRPr lang="en-US" sz="1700" dirty="0"/>
          </a:p>
        </p:txBody>
      </p:sp>
      <p:sp>
        <p:nvSpPr>
          <p:cNvPr id="11" name="Fix 2"/>
          <p:cNvSpPr txBox="1"/>
          <p:nvPr/>
        </p:nvSpPr>
        <p:spPr>
          <a:xfrm>
            <a:off x="5440680" y="175564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Same shape, not the same size.</a:t>
            </a:r>
            <a:endParaRPr lang="en-US" sz="1400" dirty="0"/>
          </a:p>
        </p:txBody>
      </p:sp>
      <p:sp>
        <p:nvSpPr>
          <p:cNvPr id="12" name="Mistake card 3"/>
          <p:cNvSpPr/>
          <p:nvPr/>
        </p:nvSpPr>
        <p:spPr>
          <a:xfrm>
            <a:off x="457200" y="278892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3" name="Cross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017520"/>
            <a:ext cx="365760" cy="365760"/>
          </a:xfrm>
          <a:prstGeom prst="rect">
            <a:avLst/>
          </a:prstGeom>
        </p:spPr>
      </p:pic>
      <p:sp>
        <p:nvSpPr>
          <p:cNvPr id="14" name="Mistake 3"/>
          <p:cNvSpPr txBox="1"/>
          <p:nvPr/>
        </p:nvSpPr>
        <p:spPr>
          <a:xfrm>
            <a:off x="1234440" y="29718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Mismatched order</a:t>
            </a:r>
            <a:endParaRPr lang="en-US" sz="1700" dirty="0"/>
          </a:p>
        </p:txBody>
      </p:sp>
      <p:sp>
        <p:nvSpPr>
          <p:cNvPr id="15" name="Fix 3"/>
          <p:cNvSpPr txBox="1"/>
          <p:nvPr/>
        </p:nvSpPr>
        <p:spPr>
          <a:xfrm>
            <a:off x="1234440" y="344728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Keep A↔P, B↔Q, C↔R.</a:t>
            </a:r>
            <a:endParaRPr lang="en-US" sz="1400" dirty="0"/>
          </a:p>
        </p:txBody>
      </p:sp>
      <p:sp>
        <p:nvSpPr>
          <p:cNvPr id="16" name="Mistake card 4"/>
          <p:cNvSpPr/>
          <p:nvPr/>
        </p:nvSpPr>
        <p:spPr>
          <a:xfrm>
            <a:off x="4663440" y="278892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7" name="Cross 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3017520"/>
            <a:ext cx="365760" cy="365760"/>
          </a:xfrm>
          <a:prstGeom prst="rect">
            <a:avLst/>
          </a:prstGeom>
        </p:spPr>
      </p:pic>
      <p:sp>
        <p:nvSpPr>
          <p:cNvPr id="18" name="Mistake 4"/>
          <p:cNvSpPr txBox="1"/>
          <p:nvPr/>
        </p:nvSpPr>
        <p:spPr>
          <a:xfrm>
            <a:off x="5440680" y="29718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Wrong angle in S-A-S</a:t>
            </a:r>
            <a:endParaRPr lang="en-US" sz="1700" dirty="0"/>
          </a:p>
        </p:txBody>
      </p:sp>
      <p:sp>
        <p:nvSpPr>
          <p:cNvPr id="19" name="Fix 4"/>
          <p:cNvSpPr txBox="1"/>
          <p:nvPr/>
        </p:nvSpPr>
        <p:spPr>
          <a:xfrm>
            <a:off x="5440680" y="344728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angle must be between the two sides.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Quick check</a:t>
            </a:r>
            <a:endParaRPr lang="en-US" sz="3000" dirty="0"/>
          </a:p>
        </p:txBody>
      </p:sp>
      <p:sp>
        <p:nvSpPr>
          <p:cNvPr id="4" name="Question card 1"/>
          <p:cNvSpPr/>
          <p:nvPr/>
        </p:nvSpPr>
        <p:spPr>
          <a:xfrm>
            <a:off x="457200" y="114300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Number 1"/>
          <p:cNvSpPr txBox="1"/>
          <p:nvPr/>
        </p:nvSpPr>
        <p:spPr>
          <a:xfrm>
            <a:off x="685800" y="1325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1</a:t>
            </a:r>
            <a:endParaRPr lang="en-US" sz="3000" dirty="0"/>
          </a:p>
        </p:txBody>
      </p:sp>
      <p:sp>
        <p:nvSpPr>
          <p:cNvPr id="6" name="Question 1"/>
          <p:cNvSpPr txBox="1"/>
          <p:nvPr/>
        </p:nvSpPr>
        <p:spPr>
          <a:xfrm>
            <a:off x="1234440" y="134416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Which does not prove congruence: S-S-S, A-S-A, A-A-A or S-A-S?</a:t>
            </a:r>
            <a:endParaRPr lang="en-US" sz="1600" dirty="0"/>
          </a:p>
        </p:txBody>
      </p:sp>
      <p:sp>
        <p:nvSpPr>
          <p:cNvPr id="7" name="Question card 2"/>
          <p:cNvSpPr/>
          <p:nvPr/>
        </p:nvSpPr>
        <p:spPr>
          <a:xfrm>
            <a:off x="4663440" y="114300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8" name="Number 2"/>
          <p:cNvSpPr txBox="1"/>
          <p:nvPr/>
        </p:nvSpPr>
        <p:spPr>
          <a:xfrm>
            <a:off x="4892040" y="1325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2</a:t>
            </a:r>
            <a:endParaRPr lang="en-US" sz="3000" dirty="0"/>
          </a:p>
        </p:txBody>
      </p:sp>
      <p:sp>
        <p:nvSpPr>
          <p:cNvPr id="9" name="Question 2"/>
          <p:cNvSpPr txBox="1"/>
          <p:nvPr/>
        </p:nvSpPr>
        <p:spPr>
          <a:xfrm>
            <a:off x="5440680" y="134416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AB = DE, BC = EF and ∠B = ∠E. Which test applies?</a:t>
            </a:r>
            <a:endParaRPr lang="en-US" sz="1600" dirty="0"/>
          </a:p>
        </p:txBody>
      </p:sp>
      <p:sp>
        <p:nvSpPr>
          <p:cNvPr id="10" name="Question card 3"/>
          <p:cNvSpPr/>
          <p:nvPr/>
        </p:nvSpPr>
        <p:spPr>
          <a:xfrm>
            <a:off x="457200" y="283464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Number 3"/>
          <p:cNvSpPr txBox="1"/>
          <p:nvPr/>
        </p:nvSpPr>
        <p:spPr>
          <a:xfrm>
            <a:off x="685800" y="30175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3</a:t>
            </a:r>
            <a:endParaRPr lang="en-US" sz="3000" dirty="0"/>
          </a:p>
        </p:txBody>
      </p:sp>
      <p:sp>
        <p:nvSpPr>
          <p:cNvPr id="12" name="Question 3"/>
          <p:cNvSpPr txBox="1"/>
          <p:nvPr/>
        </p:nvSpPr>
        <p:spPr>
          <a:xfrm>
            <a:off x="1234440" y="303580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If △PQR ≅ △XYZ, which side equals QR?</a:t>
            </a:r>
            <a:endParaRPr lang="en-US" sz="1600" dirty="0"/>
          </a:p>
        </p:txBody>
      </p:sp>
      <p:sp>
        <p:nvSpPr>
          <p:cNvPr id="13" name="Question card 4"/>
          <p:cNvSpPr/>
          <p:nvPr/>
        </p:nvSpPr>
        <p:spPr>
          <a:xfrm>
            <a:off x="4663440" y="283464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4" name="Number 4"/>
          <p:cNvSpPr txBox="1"/>
          <p:nvPr/>
        </p:nvSpPr>
        <p:spPr>
          <a:xfrm>
            <a:off x="4892040" y="30175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4</a:t>
            </a:r>
            <a:endParaRPr lang="en-US" sz="3000" dirty="0"/>
          </a:p>
        </p:txBody>
      </p:sp>
      <p:sp>
        <p:nvSpPr>
          <p:cNvPr id="15" name="Question 4"/>
          <p:cNvSpPr txBox="1"/>
          <p:nvPr/>
        </p:nvSpPr>
        <p:spPr>
          <a:xfrm>
            <a:off x="5440680" y="303580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Right triangles with hypotenuse 13 cm and one side 5 cm: find the third side.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Test the tests yourself</a:t>
            </a:r>
            <a:endParaRPr lang="en-US" sz="3800" dirty="0"/>
          </a:p>
        </p:txBody>
      </p:sp>
      <p:sp>
        <p:nvSpPr>
          <p:cNvPr id="4" name="Call to action"/>
          <p:cNvSpPr txBox="1"/>
          <p:nvPr/>
        </p:nvSpPr>
        <p:spPr>
          <a:xfrm>
            <a:off x="548640" y="306324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Open the Congruence lesson on the Visual Science &amp; Maths website. Try to build two different triangles from the same parts.</a:t>
            </a:r>
            <a:endParaRPr lang="en-US" sz="1500" dirty="0"/>
          </a:p>
        </p:txBody>
      </p:sp>
      <p:sp>
        <p:nvSpPr>
          <p:cNvPr id="5" name="Next lesson"/>
          <p:cNvSpPr txBox="1"/>
          <p:nvPr/>
        </p:nvSpPr>
        <p:spPr>
          <a:xfrm>
            <a:off x="548640" y="41605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Next lesson: Isosceles and right triangles</a:t>
            </a:r>
            <a:endParaRPr lang="en-US" sz="1400" dirty="0"/>
          </a:p>
        </p:txBody>
      </p:sp>
      <p:sp>
        <p:nvSpPr>
          <p:cNvPr id="6" name="Closing image frame"/>
          <p:cNvSpPr/>
          <p:nvPr/>
        </p:nvSpPr>
        <p:spPr>
          <a:xfrm>
            <a:off x="4901184" y="1197864"/>
            <a:ext cx="3822192" cy="2411263"/>
          </a:xfrm>
          <a:prstGeom prst="roundRect">
            <a:avLst>
              <a:gd name="adj" fmla="val 3034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Closing image" descr="/tmp/claude-0/-home-claude/7116491e-74ad-5a48-9637-67025fdd7b6d/scratchpad/deck/congruence-of-triangles/ss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234440"/>
            <a:ext cx="3749040" cy="233811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Visual Science &amp; Maths">
  <a:themeElements>
    <a:clrScheme name="Visual Science &amp; Maths">
      <a:dk1>
        <a:srgbClr val="14232B"/>
      </a:dk1>
      <a:lt1>
        <a:srgbClr val="FFFFFF"/>
      </a:lt1>
      <a:dk2>
        <a:srgbClr val="56676F"/>
      </a:dk2>
      <a:lt2>
        <a:srgbClr val="F4F7F6"/>
      </a:lt2>
      <a:accent1>
        <a:srgbClr val="5B3FD6"/>
      </a:accent1>
      <a:accent2>
        <a:srgbClr val="0B8A7A"/>
      </a:accent2>
      <a:accent3>
        <a:srgbClr val="D9512C"/>
      </a:accent3>
      <a:accent4>
        <a:srgbClr val="ECE9FB"/>
      </a:accent4>
      <a:accent5>
        <a:srgbClr val="D6E0DE"/>
      </a:accent5>
      <a:accent6>
        <a:srgbClr val="E3F3F0"/>
      </a:accent6>
      <a:hlink>
        <a:srgbClr val="5B3FD6"/>
      </a:hlink>
      <a:folHlink>
        <a:srgbClr val="3E2A9E"/>
      </a:folHlink>
    </a:clrScheme>
    <a:fontScheme name="Visual Science &amp; Math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Congruence of Triangles</dc:title>
  <dc:subject>Std 9 Mathematics Part II, Chapter 3 Triangles</dc:subject>
  <dc:creator>Visual Science &amp; Maths</dc:creator>
  <cp:lastModifiedBy>Visual Science &amp; Maths</cp:lastModifiedBy>
  <cp:revision>1</cp:revision>
  <dcterms:created xsi:type="dcterms:W3CDTF">2026-10-08T00:46:01Z</dcterms:created>
  <dcterms:modified xsi:type="dcterms:W3CDTF">2026-10-08T00:46:01Z</dcterms:modified>
</cp:coreProperties>
</file>