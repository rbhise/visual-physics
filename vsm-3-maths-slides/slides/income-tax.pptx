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72df875-b034-7363-251a-f9bf2d801ff4}">
          <p14:sldIdLst>
            <p14:sldId id="256"/>
            <p14:sldId id="257"/>
          </p14:sldIdLst>
        </p14:section>
        <p14:section name="Key ideas" id="{30aa8c8b-c447-d49a-5062-f5c289f5eac9}">
          <p14:sldIdLst>
            <p14:sldId id="258"/>
            <p14:sldId id="259"/>
            <p14:sldId id="260"/>
            <p14:sldId id="261"/>
          </p14:sldIdLst>
        </p14:section>
        <p14:section name="Practice" id="{2a4df600-2202-ae85-2abd-438354074d87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2584d9d8-2380-ca5c-a06c-70fbba057131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find taxable income after deductions and compute income tax and cess with the textbook's slab table (financial year 2017–18). Stress that rates change every Union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Paying taxes honestly is a citizen's duty.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Financial year: 1 April to 31 March. FY 2017–18 is assessed in assessment year 2018–19.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Mr Patil saved ₹1,70,000 under 80C but only ₹1,50,000 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Rates change in every Union Budget; these are the textbook's, not today's. Current rates: incometax.gov.in. Then add education cess 2% and secondary and higher education cess 1% of the income tax.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nil limit is ₹2,50,000, ₹3,00,000 or ₹5,00,000 depending on 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Cess is a percentage of the income tax, not of the income.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₹1,10,000 = 5% of 2,00,000 + 20% of 5,00,000 for the 60 to 80 age group.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deductions: 12,500 + 20% of 4,60,000 = 1,04,500; cess 3,135; total ₹1,07,635. Compare with ₹74,675 to see the saving.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errors come from skipping the taxable-income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Income tax. 2) ₹5,500. 3) Nil. 4) ₹600.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textbook practice set on income tax, checked with the simulation.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Income Tax · Std 9 Maths I Ch. 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 · CH. 6 FINANCIAL PLANNING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Income Tax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2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income-tax/pat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Who pays for the roads?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Schools, hospitals, roads, railways and defence all cost money. The government collects most of it as taxes.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much tax does a person earning ₹4,20,000 a year pay?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525317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income-tax/jos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45216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750613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With the textbook slabs: ₹8,755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Taxes and PAN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Direct tax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Paid directly to the government, e.g. income tax.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824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Indirect tax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Collected by the seller from the buyer, e.g. GST.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128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PAN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10-character Permanent Account Number from the Income Tax Department.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Taxable income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Taxable = Income − Deductions</a:t>
            </a:r>
            <a:endParaRPr lang="en-US" sz="20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80C: PPF, GPF, LIC, NSC, tuition fees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80C deduction is at most ₹1,50,000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80G: donations, e.g. PM's National Relief Fund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income-tax/pat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95138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₹9,60,000 − ₹1,60,000 = ₹8,00,000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Textbook slab rates (FY 2017–18)</a:t>
            </a:r>
            <a:endParaRPr lang="en-US" sz="30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011680"/>
                <a:gridCol w="1920240"/>
                <a:gridCol w="19202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Taxable income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Below 60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60 to 80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Above 80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Up to ₹2,50,000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Nil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Nil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Nil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₹2,50,001–₹3,00,000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5% above 2.5 L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Nil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Nil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₹3,00,001–₹5,00,000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5% above 2.5 L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5% above 3 L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Nil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₹5,00,001–₹10,00,000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₹12,500 + 20%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₹10,000 + 20%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20% above 5 L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Above ₹10,00,000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₹1,12,500 + 30%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₹1,10,000 + 30%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₹1,00,000 + 30%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Age matters</a:t>
            </a:r>
            <a:endParaRPr lang="en-US" sz="3000" dirty="0"/>
          </a:p>
        </p:txBody>
      </p:sp>
      <p:sp>
        <p:nvSpPr>
          <p:cNvPr id="4" name="Age 32 image frame"/>
          <p:cNvSpPr/>
          <p:nvPr/>
        </p:nvSpPr>
        <p:spPr>
          <a:xfrm>
            <a:off x="42062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Age 32 image" descr="/tmp/claude-0/-home-claude/7116491e-74ad-5a48-9637-67025fdd7b6d/scratchpad/deck/income-tax/jos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09192"/>
          </a:xfrm>
          <a:prstGeom prst="rect">
            <a:avLst/>
          </a:prstGeom>
        </p:spPr>
      </p:pic>
      <p:sp>
        <p:nvSpPr>
          <p:cNvPr id="6" name="Age 32 text"/>
          <p:cNvSpPr txBox="1"/>
          <p:nvPr/>
        </p:nvSpPr>
        <p:spPr>
          <a:xfrm>
            <a:off x="45720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₹4,20,000 is in the 5% slab: total tax ₹8,755.</a:t>
            </a:r>
            <a:endParaRPr lang="en-US" sz="1400" dirty="0"/>
          </a:p>
        </p:txBody>
      </p:sp>
      <p:sp>
        <p:nvSpPr>
          <p:cNvPr id="7" name="Age 82 image frame"/>
          <p:cNvSpPr/>
          <p:nvPr/>
        </p:nvSpPr>
        <p:spPr>
          <a:xfrm>
            <a:off x="462686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Age 82 image" descr="/tmp/claude-0/-home-claude/7116491e-74ad-5a48-9637-67025fdd7b6d/scratchpad/deck/income-tax/senior8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09192"/>
          </a:xfrm>
          <a:prstGeom prst="rect">
            <a:avLst/>
          </a:prstGeom>
        </p:spPr>
      </p:pic>
      <p:sp>
        <p:nvSpPr>
          <p:cNvPr id="9" name="Age 82 text"/>
          <p:cNvSpPr txBox="1"/>
          <p:nvPr/>
        </p:nvSpPr>
        <p:spPr>
          <a:xfrm>
            <a:off x="466344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same income is in the nil slab: no tax.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5% slab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Age 32, taxable income ₹4,20,000.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5% of (4,20,000 − 2,50,000) = 8,500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Cess 170 + 85; total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₹8,755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Deductions first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Age 45, income ₹9,60,000, 80C ₹1,70,000, donation ₹10,000.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Taxable = 9,60,000 − 1,60,000 = 8,00,000</a:t>
            </a:r>
            <a:pPr indent="0" marL="0">
              <a:spcAft>
                <a:spcPts val="800"/>
              </a:spcAft>
              <a:buNone/>
            </a:pP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12,500 + 20% of 3,00,000 = 72,500</a:t>
            </a:r>
            <a:pPr indent="0" marL="0">
              <a:spcAft>
                <a:spcPts val="800"/>
              </a:spcAft>
              <a:buNone/>
            </a:pP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+ 1,450 + 725 =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₹74,675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a senior citizen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Mrs Rao is 68. Her taxable income is ₹12,40,000. Find her total tax.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1,10,000 + 30% of 2,40,000 = 1,82,000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Cess: 3,640 + 1,820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Total tax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₹1,87,460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income-tax/r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9513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Age 68, taxable income ₹12,40,000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Why deductions help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income-tax/pat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509192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761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Mr Patil, age 45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Income ₹9,60,000; deductions ₹1,60,000: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₹8,00,000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taxable income</a:t>
            </a:r>
            <a:endParaRPr lang="en-US" sz="22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₹74,675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total tax</a:t>
            </a:r>
            <a:endParaRPr lang="en-US" sz="22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Without deductions the taxable income would be ₹9,60,000 and the tax higher: ₹1,07,635.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Whole income at 5%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5% applies only above the nil limit.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All 80C savings deducted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 most ₹1,50,000.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Cess on income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Cess is 2% + 1% of the income tax.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Wrong age column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the age first.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Is GST or income tax a direct tax?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Age 40, taxable ₹3,60,000: income tax before cess?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Age 70, taxable ₹2,90,000: income tax?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Income tax ₹20,000: total cess at 2% + 1%?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Fill the slabs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Income Tax lesson on the Visual Science &amp; Maths website. Change the income, age and deductions and watch the slabs fill.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chapter: Statistics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income-tax/r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Income Tax</dc:title>
  <dc:subject>Std 9 Mathematics Part I, Chapter 6 Financial Planning</dc:subject>
  <dc:creator>Visual Science &amp; Maths</dc:creator>
  <cp:lastModifiedBy>Visual Science &amp; Maths</cp:lastModifiedBy>
  <cp:revision>1</cp:revision>
  <dcterms:created xsi:type="dcterms:W3CDTF">2026-10-10T00:36:22Z</dcterms:created>
  <dcterms:modified xsi:type="dcterms:W3CDTF">2026-10-10T00:36:22Z</dcterms:modified>
</cp:coreProperties>
</file>