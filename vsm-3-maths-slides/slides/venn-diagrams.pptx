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e1b27d6-b3de-c6f8-587b-0b6784644c66}">
          <p14:sldIdLst>
            <p14:sldId id="256"/>
            <p14:sldId id="257"/>
          </p14:sldIdLst>
        </p14:section>
        <p14:section name="Key ideas" id="{77500d80-072e-4b2d-12f3-2c1ba6a4fc49}">
          <p14:sldIdLst>
            <p14:sldId id="258"/>
            <p14:sldId id="259"/>
            <p14:sldId id="260"/>
            <p14:sldId id="261"/>
          </p14:sldIdLst>
        </p14:section>
        <p14:section name="Practice" id="{e965923a-565b-c69a-2e23-84c4328729eb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58fdcb85-dab3-6fcc-3d87-4e9044370e9e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draw a Venn diagram, test whether one set is a subset of another, and find the complement of a set in a universal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sketch first; then show the nested circles.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name comes from the English mathematician John Venn.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 mention N ⊆ W ⊆ 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element outside A is enough to show B is not a subset.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complement always depends on the chosen universal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out both sets in full before deciding.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often forget ∅ and the set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A′ = {1, 4, 6, 8, 9, 10}. Note that 1 is not prime.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correct a wrong statement for each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{1, 3, 5, 7}. 2) True. 3) 4: ∅, {x}, {y}, {x, y}. 4)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Homework: draw Venn diagrams for N, W and I using a few elements of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Venn Diagrams, Subsets and Complements · Std 9 Maths I Ch.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MATHEMATICS PART I · CH. 1 SETS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Venn Diagrams, Subsets and Complements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2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527161"/>
          </a:xfrm>
          <a:prstGeom prst="roundRect">
            <a:avLst>
              <a:gd name="adj" fmla="val 289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venn-diagrams/subs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4540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Inside or outside?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Every factor of 6 is also a factor of 12. A picture makes this obvious.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How would you draw it?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646868"/>
          </a:xfrm>
          <a:prstGeom prst="roundRect">
            <a:avLst>
              <a:gd name="adj" fmla="val 27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venn-diagrams/subs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573716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87216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Factors of 6 inside factors of 12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Venn diagrams</a:t>
            </a:r>
            <a:endParaRPr lang="en-US" sz="3000" dirty="0"/>
          </a:p>
        </p:txBody>
      </p:sp>
      <p:sp>
        <p:nvSpPr>
          <p:cNvPr id="4" name="Points"/>
          <p:cNvSpPr txBox="1"/>
          <p:nvPr/>
        </p:nvSpPr>
        <p:spPr>
          <a:xfrm>
            <a:off x="457200" y="109728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closed figure stands for a set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Elements are written inside it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universal set U is a rectangle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Every set we discuss lies inside U</a:t>
            </a:r>
            <a:endParaRPr lang="en-US" sz="1600" dirty="0"/>
          </a:p>
        </p:txBody>
      </p:sp>
      <p:sp>
        <p:nvSpPr>
          <p:cNvPr id="5" name="Concept image frame"/>
          <p:cNvSpPr/>
          <p:nvPr/>
        </p:nvSpPr>
        <p:spPr>
          <a:xfrm>
            <a:off x="4809744" y="1106424"/>
            <a:ext cx="3913632" cy="2587015"/>
          </a:xfrm>
          <a:prstGeom prst="roundRect">
            <a:avLst>
              <a:gd name="adj" fmla="val 2828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ncept image" descr="/tmp/claude-0/-home-claude/7116491e-74ad-5a48-9637-67025fdd7b6d/scratchpad/deck/venn-diagrams/plai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513863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846320" y="3766591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U = {1, …, 12}, A = factors of 12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Subset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66344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484632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B ⊆ A</a:t>
            </a:r>
            <a:endParaRPr lang="en-US" sz="2600" dirty="0"/>
          </a:p>
        </p:txBody>
      </p:sp>
      <p:sp>
        <p:nvSpPr>
          <p:cNvPr id="6" name="Lead"/>
          <p:cNvSpPr txBox="1"/>
          <p:nvPr/>
        </p:nvSpPr>
        <p:spPr>
          <a:xfrm>
            <a:off x="4663440" y="21031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If every element of B is also an element of A, B is a subset of A.</a:t>
            </a:r>
            <a:endParaRPr lang="en-US" sz="1600" dirty="0"/>
          </a:p>
        </p:txBody>
      </p:sp>
      <p:sp>
        <p:nvSpPr>
          <p:cNvPr id="7" name="Points"/>
          <p:cNvSpPr txBox="1"/>
          <p:nvPr/>
        </p:nvSpPr>
        <p:spPr>
          <a:xfrm>
            <a:off x="4663440" y="2816352"/>
            <a:ext cx="402336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⊆ A for every set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∅ ⊆ every set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⊆ B and B ⊆ A means A = B</a:t>
            </a:r>
            <a:endParaRPr lang="en-US" sz="1600" dirty="0"/>
          </a:p>
        </p:txBody>
      </p:sp>
      <p:sp>
        <p:nvSpPr>
          <p:cNvPr id="8" name="Concept image frame"/>
          <p:cNvSpPr/>
          <p:nvPr/>
        </p:nvSpPr>
        <p:spPr>
          <a:xfrm>
            <a:off x="420624" y="1106424"/>
            <a:ext cx="3913632" cy="2587015"/>
          </a:xfrm>
          <a:prstGeom prst="roundRect">
            <a:avLst>
              <a:gd name="adj" fmla="val 2828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9" name="Concept image" descr="/tmp/claude-0/-home-claude/7116491e-74ad-5a48-9637-67025fdd7b6d/scratchpad/deck/venn-diagrams/subs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513863"/>
          </a:xfrm>
          <a:prstGeom prst="rect">
            <a:avLst/>
          </a:prstGeom>
        </p:spPr>
      </p:pic>
      <p:sp>
        <p:nvSpPr>
          <p:cNvPr id="10" name="Caption"/>
          <p:cNvSpPr txBox="1"/>
          <p:nvPr/>
        </p:nvSpPr>
        <p:spPr>
          <a:xfrm>
            <a:off x="457200" y="3766591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{1, 2, 3, 6} ⊆ {1, 2, 3, 4, 6, 12}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Subset or not?</a:t>
            </a:r>
            <a:endParaRPr lang="en-US" sz="3000" dirty="0"/>
          </a:p>
        </p:txBody>
      </p:sp>
      <p:sp>
        <p:nvSpPr>
          <p:cNvPr id="4" name="Factors image frame"/>
          <p:cNvSpPr/>
          <p:nvPr/>
        </p:nvSpPr>
        <p:spPr>
          <a:xfrm>
            <a:off x="420624" y="1060704"/>
            <a:ext cx="4096512" cy="2706722"/>
          </a:xfrm>
          <a:prstGeom prst="roundRect">
            <a:avLst>
              <a:gd name="adj" fmla="val 270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Factors image" descr="/tmp/claude-0/-home-claude/7116491e-74ad-5a48-9637-67025fdd7b6d/scratchpad/deck/venn-diagrams/subs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633570"/>
          </a:xfrm>
          <a:prstGeom prst="rect">
            <a:avLst/>
          </a:prstGeom>
        </p:spPr>
      </p:pic>
      <p:sp>
        <p:nvSpPr>
          <p:cNvPr id="6" name="Factors text"/>
          <p:cNvSpPr txBox="1"/>
          <p:nvPr/>
        </p:nvSpPr>
        <p:spPr>
          <a:xfrm>
            <a:off x="457200" y="386801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element of B is in A: B ⊆ A.</a:t>
            </a:r>
            <a:endParaRPr lang="en-US" sz="1400" dirty="0"/>
          </a:p>
        </p:txBody>
      </p:sp>
      <p:sp>
        <p:nvSpPr>
          <p:cNvPr id="7" name="Evens and multiples of 3 image frame"/>
          <p:cNvSpPr/>
          <p:nvPr/>
        </p:nvSpPr>
        <p:spPr>
          <a:xfrm>
            <a:off x="4626864" y="1060704"/>
            <a:ext cx="4096512" cy="2706722"/>
          </a:xfrm>
          <a:prstGeom prst="roundRect">
            <a:avLst>
              <a:gd name="adj" fmla="val 270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Evens and multiples of 3 image" descr="/tmp/claude-0/-home-claude/7116491e-74ad-5a48-9637-67025fdd7b6d/scratchpad/deck/venn-diagrams/notsu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633570"/>
          </a:xfrm>
          <a:prstGeom prst="rect">
            <a:avLst/>
          </a:prstGeom>
        </p:spPr>
      </p:pic>
      <p:sp>
        <p:nvSpPr>
          <p:cNvPr id="9" name="Evens and multiples of 3 text"/>
          <p:cNvSpPr txBox="1"/>
          <p:nvPr/>
        </p:nvSpPr>
        <p:spPr>
          <a:xfrm>
            <a:off x="4663440" y="386801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 ∈ B but 3 ∉ A: not a subset.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Complement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A′ = {x | x ∈ U, x ∉ A}</a:t>
            </a:r>
            <a:endParaRPr lang="en-US" sz="20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part of U outside 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(A′)′ = 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U′ = ∅ and ∅′ = U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n(A) + n(A′) = n(U)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587015"/>
          </a:xfrm>
          <a:prstGeom prst="roundRect">
            <a:avLst>
              <a:gd name="adj" fmla="val 2828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venn-diagrams/com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513863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3766591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U = {1, …, 10}, A = primes: A′ shaded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Complement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U = {1, …, 10}, A = odd numbers in U. Find A′.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 = {1, 3, 5, 7, 9}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A′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{2, 4, 6, 8, 10}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Check: 5 + 5 = 10 = n(U)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Subset?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P = multiples of 4 up to 20, Q = even numbers up to 20.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Every multiple of 4 is even: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P ⊆ Q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2 ∈ Q, 2 ∉ P: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Q ⊄ P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all subsets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Write all the subsets of M = {p, q}.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No element: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∅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One element: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{p}, {q}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Both: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{p, q}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4 subsets in all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587015"/>
          </a:xfrm>
          <a:prstGeom prst="roundRect">
            <a:avLst>
              <a:gd name="adj" fmla="val 2828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venn-diagrams/od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513863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766591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A′ for A = odd numbers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Complement check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2706722"/>
          </a:xfrm>
          <a:prstGeom prst="roundRect">
            <a:avLst>
              <a:gd name="adj" fmla="val 270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venn-diagrams/com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633570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388629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U = {1, …, 10}, A = {2, 3, 5, 7}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and A′ share nothing and together fill U.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n(A) = 4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primes</a:t>
            </a:r>
            <a:endParaRPr lang="en-US" sz="22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n(A′) = 6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rest</a:t>
            </a:r>
            <a:endParaRPr lang="en-US" sz="22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4 + 6 = 10 = n(U).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Writing 2 ⊆ A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 ∈ A, but {2} ⊆ A.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 ⊆ A backwards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 is the one drawn inside.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Forgetting U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A′ changes if U changes.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Missing subsets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∅ and the set itself count.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 = {1, …, 8}, A = {2, 4, 6, 8}. Find A′.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True or false: {1, 2} ⊆ {1, 2, 3}.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How many subsets does {x, y} have?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n(U) = 9 and n(A) = 4. Find n(A′).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Drag elements between circles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Venn diagrams lesson on the Visual Science &amp; Maths website. Move numbers and watch the subset test change.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Union, intersection and counting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527161"/>
          </a:xfrm>
          <a:prstGeom prst="roundRect">
            <a:avLst>
              <a:gd name="adj" fmla="val 289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venn-diagrams/notsu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45400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Venn Diagrams, Subsets and Complements</dc:title>
  <dc:subject>Std 9 Mathematics Part I, Chapter 1 Sets</dc:subject>
  <dc:creator>Visual Science &amp; Maths</dc:creator>
  <cp:lastModifiedBy>Visual Science &amp; Maths</cp:lastModifiedBy>
  <cp:revision>1</cp:revision>
  <dcterms:created xsi:type="dcterms:W3CDTF">2026-10-08T09:26:01Z</dcterms:created>
  <dcterms:modified xsi:type="dcterms:W3CDTF">2026-10-08T09:26:01Z</dcterms:modified>
</cp:coreProperties>
</file>