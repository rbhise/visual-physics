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711d891-b152-1555-1cd6-92206bc2decb}">
          <p14:sldIdLst>
            <p14:sldId id="256"/>
            <p14:sldId id="257"/>
          </p14:sldIdLst>
        </p14:section>
        <p14:section name="Key ideas" id="{503f28f7-402a-1e82-1200-13b345543543}">
          <p14:sldIdLst>
            <p14:sldId id="258"/>
          </p14:sldIdLst>
        </p14:section>
        <p14:section name="Indicators" id="{ee519833-029c-afdb-dbf8-cf3d8554a5dc}">
          <p14:sldIdLst>
            <p14:sldId id="259"/>
            <p14:sldId id="260"/>
            <p14:sldId id="261"/>
          </p14:sldIdLst>
        </p14:section>
        <p14:section name="pH" id="{4361fcfb-f915-b079-c5ac-3467c95cad5f}">
          <p14:sldIdLst>
            <p14:sldId id="262"/>
          </p14:sldIdLst>
        </p14:section>
        <p14:section name="Practice" id="{0441a206-9276-5054-e444-def30fd25664}">
          <p14:sldIdLst>
            <p14:sldId id="263"/>
            <p14:sldId id="264"/>
            <p14:sldId id="265"/>
            <p14:sldId id="266"/>
          </p14:sldIdLst>
        </p14:section>
        <p14:section name="Wrap-up" id="{7b2ebff4-0f7e-6bfc-078a-d57cf9052f07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define acids and bases (Arrhenius), tell strong from weak, use indicators, and read the pH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taste or touch lab chemicals; indicators let us test safely.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 acids: HCl, H₂SO₄, HNO₃. Weak: acetic, citric. Strong bases: NaOH, KOH. Weak: ammonia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Natural indicators: turmeric, beetroot, red cabbage, hibiscus, rose petals.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Phenolphthalein cannot tell an acid from a neutral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turmeric stain turns red when washed with soap for this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 4 has 10 times the H⁺ of pH 5, and 1000 times that of pure water.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 scale is logarithmic; students only need the factor-of-ten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Choosing the right indicator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the factor-of-ten misconception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H⁺ ions. 2) Blue. 3) Strongly basic. 4) 100 times.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make a red cabbage indicator at home and test lemon juice, soap and baking soda.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Acids, Bases, Indicators and pH · Std 9 Ch. 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5 ACIDS, BASES AND SALTS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Acids, Bases, Indicators and pH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indicators-and-ph/univers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They all look the same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Ten clear solutions: some are acids, some are bases, one is pure water.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can we tell them apart safely?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424905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indicators-and-ph/n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3517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6502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Without an indicator, they look alike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Acids and bases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H⁺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Acid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Gives H⁺ ions in water. Sour taste. HCl → H⁺ + Cl⁻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OH⁻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Base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Gives OH⁻ ions in water. Bitter, soapy. NaOH → Na⁺ + OH⁻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Strong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or weak?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Strong ones break up fully into ions; weak ones only partly.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Indicator colours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03120"/>
                <a:gridCol w="1828800"/>
                <a:gridCol w="1920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Indicator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Acid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Neutral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Base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Litmus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Red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Purple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Blue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Phenolphthalein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Colourless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Colourless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Pink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Methyl orange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Red (strong acids)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Yellow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Yellow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Turmeric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Yellow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Yellow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Red-brown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Litmus and phenolphthalein</a:t>
            </a:r>
            <a:endParaRPr lang="en-US" sz="3000" dirty="0"/>
          </a:p>
        </p:txBody>
      </p:sp>
      <p:sp>
        <p:nvSpPr>
          <p:cNvPr id="4" name="Litmus image frame"/>
          <p:cNvSpPr/>
          <p:nvPr/>
        </p:nvSpPr>
        <p:spPr>
          <a:xfrm>
            <a:off x="42062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Litmus image" descr="/tmp/claude-0/-home-claude/7116491e-74ad-5a48-9637-67025fdd7b6d/scratchpad/deck/indicators-and-ph/litm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06445"/>
          </a:xfrm>
          <a:prstGeom prst="rect">
            <a:avLst/>
          </a:prstGeom>
        </p:spPr>
      </p:pic>
      <p:sp>
        <p:nvSpPr>
          <p:cNvPr id="6" name="Litmus text"/>
          <p:cNvSpPr txBox="1"/>
          <p:nvPr/>
        </p:nvSpPr>
        <p:spPr>
          <a:xfrm>
            <a:off x="45720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 in acids, purple when neutral, blue in bases.</a:t>
            </a:r>
            <a:endParaRPr lang="en-US" sz="1400" dirty="0"/>
          </a:p>
        </p:txBody>
      </p:sp>
      <p:sp>
        <p:nvSpPr>
          <p:cNvPr id="7" name="Phenolphthalein image frame"/>
          <p:cNvSpPr/>
          <p:nvPr/>
        </p:nvSpPr>
        <p:spPr>
          <a:xfrm>
            <a:off x="462686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Phenolphthalein image" descr="/tmp/claude-0/-home-claude/7116491e-74ad-5a48-9637-67025fdd7b6d/scratchpad/deck/indicators-and-ph/phen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06445"/>
          </a:xfrm>
          <a:prstGeom prst="rect">
            <a:avLst/>
          </a:prstGeom>
        </p:spPr>
      </p:pic>
      <p:sp>
        <p:nvSpPr>
          <p:cNvPr id="9" name="Phenolphthalein text"/>
          <p:cNvSpPr txBox="1"/>
          <p:nvPr/>
        </p:nvSpPr>
        <p:spPr>
          <a:xfrm>
            <a:off x="466344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Pink only in bases.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Methyl orange and turmeric</a:t>
            </a:r>
            <a:endParaRPr lang="en-US" sz="3000" dirty="0"/>
          </a:p>
        </p:txBody>
      </p:sp>
      <p:sp>
        <p:nvSpPr>
          <p:cNvPr id="4" name="Methyl orange image frame"/>
          <p:cNvSpPr/>
          <p:nvPr/>
        </p:nvSpPr>
        <p:spPr>
          <a:xfrm>
            <a:off x="42062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Methyl orange image" descr="/tmp/claude-0/-home-claude/7116491e-74ad-5a48-9637-67025fdd7b6d/scratchpad/deck/indicators-and-ph/methy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06445"/>
          </a:xfrm>
          <a:prstGeom prst="rect">
            <a:avLst/>
          </a:prstGeom>
        </p:spPr>
      </p:pic>
      <p:sp>
        <p:nvSpPr>
          <p:cNvPr id="6" name="Methyl orange text"/>
          <p:cNvSpPr txBox="1"/>
          <p:nvPr/>
        </p:nvSpPr>
        <p:spPr>
          <a:xfrm>
            <a:off x="45720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 in strong acids, yellow otherwise.</a:t>
            </a:r>
            <a:endParaRPr lang="en-US" sz="1400" dirty="0"/>
          </a:p>
        </p:txBody>
      </p:sp>
      <p:sp>
        <p:nvSpPr>
          <p:cNvPr id="7" name="Turmeric image frame"/>
          <p:cNvSpPr/>
          <p:nvPr/>
        </p:nvSpPr>
        <p:spPr>
          <a:xfrm>
            <a:off x="462686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Turmeric image" descr="/tmp/claude-0/-home-claude/7116491e-74ad-5a48-9637-67025fdd7b6d/scratchpad/deck/indicators-and-ph/turmer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06445"/>
          </a:xfrm>
          <a:prstGeom prst="rect">
            <a:avLst/>
          </a:prstGeom>
        </p:spPr>
      </p:pic>
      <p:sp>
        <p:nvSpPr>
          <p:cNvPr id="9" name="Turmeric text"/>
          <p:cNvSpPr txBox="1"/>
          <p:nvPr/>
        </p:nvSpPr>
        <p:spPr>
          <a:xfrm>
            <a:off x="466344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Turns red-brown in bases, like soap.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pH scale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 ← acid · 7 · base → 14</a:t>
            </a:r>
            <a:endParaRPr lang="en-US" sz="20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Below 7: acidic; lower is more acidic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7: neutral (pure water)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Above 7: basic; higher is more basic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step = 10 times more or fewer H⁺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indicators-and-ph/univers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Universal indicator shows the whole scale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Reading the scale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Classify pH 3, pH 9 and pH 7.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pH 3: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acidic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pH 9: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basic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pH 7: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neutral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Factors of ten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Vinegar pH 3, tomato juice pH 4. How many times more H⁺ in vinegar?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pH unit: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 times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Versus water (pH 7):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10 000 times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choosing an indicator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solution stays colourless with phenolphthalein. Is it acidic?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Colourless means acidic or neutral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So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not necessarily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Use litmus or universal indicator to decide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indicators-and-ph/phen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Phenolphthalein: colourless in acids and neutral solutions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pH as a ruler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step is a factor of ten.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Lower pH = weaker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Lower pH is more acidic.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Phenolphthalein for acids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shows only bases (pink).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All bases are alkalis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soluble bases are alkalis.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ions does an acid give in water?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colour does red litmus turn in soap solution?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solution has pH 12. Is it acidic, neutral or basic?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many times more H⁺ does pH 2 have than pH 4?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Test solutions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Indicators and pH lesson on the Visual Science &amp; Maths website. Switch indicators and tap each tube.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Neutralisation and salts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indicators-and-ph/litm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Acids, Bases, Indicators and pH</dc:title>
  <dc:subject>Std 9 Science, Chapter 5 Acids, Bases and Salts</dc:subject>
  <dc:creator>Visual Science &amp; Maths</dc:creator>
  <cp:lastModifiedBy>Visual Science &amp; Maths</cp:lastModifiedBy>
  <cp:revision>1</cp:revision>
  <dcterms:created xsi:type="dcterms:W3CDTF">2026-10-08T00:44:44Z</dcterms:created>
  <dcterms:modified xsi:type="dcterms:W3CDTF">2026-10-08T00:44:44Z</dcterms:modified>
</cp:coreProperties>
</file>