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cd3ff15-19c4-9e80-be77-80a38106df52}">
          <p14:sldIdLst>
            <p14:sldId id="256"/>
            <p14:sldId id="257"/>
          </p14:sldIdLst>
        </p14:section>
        <p14:section name="Key ideas" id="{c34035a3-dbdd-ee59-1026-9e91a2d147ad}">
          <p14:sldIdLst>
            <p14:sldId id="258"/>
            <p14:sldId id="259"/>
            <p14:sldId id="260"/>
            <p14:sldId id="261"/>
          </p14:sldIdLst>
        </p14:section>
        <p14:section name="Practice" id="{68fe4537-01a7-10d7-20c4-7203d16abc49}">
          <p14:sldIdLst>
            <p14:sldId id="262"/>
            <p14:sldId id="263"/>
            <p14:sldId id="264"/>
            <p14:sldId id="265"/>
            <p14:sldId id="266"/>
          </p14:sldIdLst>
        </p14:section>
        <p14:section name="Wrap-up" id="{bc2e1bcd-9ad5-2213-393d-cefe20c57360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use valencies, including radicals and variable valency, to write formulae by the criss-cross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element's combining capacity: its valency.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Roman numeral in a name shows which valency is 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Radicals such as NH₄⁺ and SO₄²⁻ behave as single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Check: total positive valency equals total negative valency.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brackets, CaOH₂ would mean one oxygen and two hydrogen atoms.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valency check: 2 × 3 = 6 and 3 × 2 =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Variable valency is shown in the name.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Brackets keep each ammonium group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Bracket errors are the most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MgCl₂. 2) 2. 3) Na₂SO₄. 4) A group of atoms acting as one unit with its own valency, such as SO₄²⁻.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write formulae for ten compounds from the ion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Valency and Chemical Formulae · Std 9 Ch. 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4 MEASUREMENT OF MATTER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Valency and Chemical Formulae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4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013179"/>
          </a:xfrm>
          <a:prstGeom prst="roundRect">
            <a:avLst>
              <a:gd name="adj" fmla="val 36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valency-and-formulae/al2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19400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Why H₂O but NaCl?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Water has two hydrogen atoms for each oxygen. Table salt has one sodium for each chlorine. Aluminium oxide has two aluminium for every three oxygen.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decides these numbers?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107815"/>
          </a:xfrm>
          <a:prstGeom prst="roundRect">
            <a:avLst>
              <a:gd name="adj" fmla="val 3471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valency-and-formulae/al2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03466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33311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Valencies 3 and 2 cross over to give Al₂O₃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Valency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combining capacity of an element.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Valency 1: H, Na, K, Cl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Valency 2: O, Mg, Ca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Valency 3: Al; carbon usually 4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Variable: iron 2 or 3, copper 1 or 2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060497"/>
          </a:xfrm>
          <a:prstGeom prst="roundRect">
            <a:avLst>
              <a:gd name="adj" fmla="val 35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valency-and-formulae/fecl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198734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24007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Iron(III) chloride: FeCl₃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ions</a:t>
            </a:r>
            <a:endParaRPr lang="en-US" sz="3000" dirty="0"/>
          </a:p>
        </p:txBody>
      </p:sp>
      <p:graphicFrame>
        <p:nvGraphicFramePr>
          <p:cNvPr id="5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383280"/>
                <a:gridCol w="33832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Valency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Positive ions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3"/>
                          </a:solidFill>
                        </a:rPr>
                        <a:t>Negative ions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Na⁺, K⁺, NH₄⁺, H⁺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Cl⁻, OH⁻, NO₃⁻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Mg²⁺, Ca²⁺, Cu²⁺, Fe²⁺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O²⁻, SO₄²⁻, CO₃²⁻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Al³⁺, Fe³⁺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PO₄³⁻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criss-cross method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Big 1"/>
          <p:cNvSpPr txBox="1"/>
          <p:nvPr/>
        </p:nvSpPr>
        <p:spPr>
          <a:xfrm>
            <a:off x="731520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Write symbols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Positive part first, with valencies above.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Big 2"/>
          <p:cNvSpPr txBox="1"/>
          <p:nvPr/>
        </p:nvSpPr>
        <p:spPr>
          <a:xfrm>
            <a:off x="2841498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Cross over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Each valency becomes the other's subscript.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13" name="Big 3"/>
          <p:cNvSpPr txBox="1"/>
          <p:nvPr/>
        </p:nvSpPr>
        <p:spPr>
          <a:xfrm>
            <a:off x="4951476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3</a:t>
            </a:r>
            <a:endParaRPr lang="en-US" sz="3000" dirty="0"/>
          </a:p>
        </p:txBody>
      </p:sp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Simplify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Divide by any common factor.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Big 4"/>
          <p:cNvSpPr txBox="1"/>
          <p:nvPr/>
        </p:nvSpPr>
        <p:spPr>
          <a:xfrm>
            <a:off x="7061454" y="1371600"/>
            <a:ext cx="135102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4</a:t>
            </a:r>
            <a:endParaRPr lang="en-US" sz="3000" dirty="0"/>
          </a:p>
        </p:txBody>
      </p:sp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Brackets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Bracket a radical if there is more than 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Simplify and bracket</a:t>
            </a:r>
            <a:endParaRPr lang="en-US" sz="3000" dirty="0"/>
          </a:p>
        </p:txBody>
      </p:sp>
      <p:sp>
        <p:nvSpPr>
          <p:cNvPr id="4" name="Magnesium oxide image frame"/>
          <p:cNvSpPr/>
          <p:nvPr/>
        </p:nvSpPr>
        <p:spPr>
          <a:xfrm>
            <a:off x="420624" y="1060704"/>
            <a:ext cx="4096512" cy="2155133"/>
          </a:xfrm>
          <a:prstGeom prst="roundRect">
            <a:avLst>
              <a:gd name="adj" fmla="val 33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Magnesium oxide image" descr="/tmp/claude-0/-home-claude/7116491e-74ad-5a48-9637-67025fdd7b6d/scratchpad/deck/valency-and-formulae/m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081981"/>
          </a:xfrm>
          <a:prstGeom prst="rect">
            <a:avLst/>
          </a:prstGeom>
        </p:spPr>
      </p:pic>
      <p:sp>
        <p:nvSpPr>
          <p:cNvPr id="6" name="Magnesium oxide text"/>
          <p:cNvSpPr txBox="1"/>
          <p:nvPr/>
        </p:nvSpPr>
        <p:spPr>
          <a:xfrm>
            <a:off x="457200" y="3316421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Mg₂O₂ simplifies to MgO.</a:t>
            </a:r>
            <a:endParaRPr lang="en-US" sz="1400" dirty="0"/>
          </a:p>
        </p:txBody>
      </p:sp>
      <p:sp>
        <p:nvSpPr>
          <p:cNvPr id="7" name="Calcium hydroxide image frame"/>
          <p:cNvSpPr/>
          <p:nvPr/>
        </p:nvSpPr>
        <p:spPr>
          <a:xfrm>
            <a:off x="4626864" y="1060704"/>
            <a:ext cx="4096512" cy="2155133"/>
          </a:xfrm>
          <a:prstGeom prst="roundRect">
            <a:avLst>
              <a:gd name="adj" fmla="val 33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alcium hydroxide image" descr="/tmp/claude-0/-home-claude/7116491e-74ad-5a48-9637-67025fdd7b6d/scratchpad/deck/valency-and-formulae/caoh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081981"/>
          </a:xfrm>
          <a:prstGeom prst="rect">
            <a:avLst/>
          </a:prstGeom>
        </p:spPr>
      </p:pic>
      <p:sp>
        <p:nvSpPr>
          <p:cNvPr id="9" name="Calcium hydroxide text"/>
          <p:cNvSpPr txBox="1"/>
          <p:nvPr/>
        </p:nvSpPr>
        <p:spPr>
          <a:xfrm>
            <a:off x="4663440" y="3316421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 OH groups: Ca(OH)₂.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aluminium oxide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Write the formula of aluminium oxide and find its formula mass (Al = 27, O = 16).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Al 3, O 2 →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Al₂O₃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 × 27 + 3 × 16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102 u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060497"/>
          </a:xfrm>
          <a:prstGeom prst="roundRect">
            <a:avLst>
              <a:gd name="adj" fmla="val 35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valency-and-formulae/al2o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1987345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240073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2 × 3 = 3 × 2 = 6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Calcium hydroxide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Write the formula of calcium hydroxide.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Ca 2, OH 1 → Ca₁(OH)₂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Ca(OH)₂, 74 u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Iron chlorides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Write iron(II) chloride and iron(III) chloride.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Iron(II):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FeCl₂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Iron(III):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FeCl₃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radicals together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155133"/>
          </a:xfrm>
          <a:prstGeom prst="roundRect">
            <a:avLst>
              <a:gd name="adj" fmla="val 33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valency-and-formulae/nh4so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081981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334709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Ammonium sulphate, a fertiliser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NH₄ valency 1, SO₄ valency 2: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(NH₄)₂SO₄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formula</a:t>
            </a:r>
            <a:endParaRPr lang="en-US" sz="20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132 u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formula mass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2 × (14 + 4) + 32 + 4 × 16 = 132 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 simplifying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Mg₂O₂ → MgO.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Missing brackets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Ca(OH)₂, not CaOH₂.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Negative part first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Write NaCl, not ClNa.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Ignoring the name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Iron(III) oxide is Fe₂O₃.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the formula of magnesium chloride.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valency of oxygen?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the formula of sodium sulphate.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a radical?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Write formulae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Valency lesson on the Visual Science &amp; Maths website. Pick any two ions and follow the criss-cross.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chapter: Acids, bases and salts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013179"/>
          </a:xfrm>
          <a:prstGeom prst="roundRect">
            <a:avLst>
              <a:gd name="adj" fmla="val 363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valency-and-formulae/nh4so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19400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Valency and Chemical Formulae</dc:title>
  <dc:subject>Std 9 Science, Chapter 4 Measurement of Matter</dc:subject>
  <dc:creator>Visual Science &amp; Maths</dc:creator>
  <cp:lastModifiedBy>Visual Science &amp; Maths</cp:lastModifiedBy>
  <cp:revision>1</cp:revision>
  <dcterms:created xsi:type="dcterms:W3CDTF">2026-10-08T00:44:43Z</dcterms:created>
  <dcterms:modified xsi:type="dcterms:W3CDTF">2026-10-08T00:44:43Z</dcterms:modified>
</cp:coreProperties>
</file>