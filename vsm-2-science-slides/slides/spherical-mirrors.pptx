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e0b8735-74f5-106b-beeb-94a1ce1828e3}">
          <p14:sldIdLst>
            <p14:sldId id="256"/>
            <p14:sldId id="257"/>
          </p14:sldIdLst>
        </p14:section>
        <p14:section name="Key ideas" id="{af4f87e0-9073-2dce-30db-dfe3d53e17e1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Practice" id="{9edf4e79-417d-a0f3-1fa4-a2dead5b86b8}">
          <p14:sldIdLst>
            <p14:sldId id="265"/>
            <p14:sldId id="266"/>
            <p14:sldId id="267"/>
          </p14:sldIdLst>
        </p14:section>
        <p14:section name="Wrap-up" id="{3b51baed-a41e-f88a-3dab-7926beb17f08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name the parts of a spherical mirror, draw ray diagrams with the three rules, and describe the images for each object position.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try with real spoons before the explanation.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are pieces of a hollow sphere; which side is silvered decides the 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 is halfway between P and 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 two rays are enough; the third is a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object in with the simulation's Play button and tick off each 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images form where rays really meet; virtual ones where they only seem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why the image in a car's side mirror looks further away than it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Also: convex mirrors at sharp bends in hill roads and in shops.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Locate C first, then use the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sketch the diagram rather than memorise the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At the principal focus F. 2) At F. 3) At C, same size, real and inverted. 4) They give a wide field of view with an erect 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Homework: draw all six concave-mirror ray diagrams on graph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Spherical Mirrors and Ray Diagrams · Std 9 Ch. 11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11 REFLECTION OF LIGHT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Spherical Mirrors and Ray Diagrams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3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315521"/>
          </a:xfrm>
          <a:prstGeom prst="roundRect">
            <a:avLst>
              <a:gd name="adj" fmla="val 315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spherical-mirrors/beyond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2423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spoon test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Look into the hollow of a steel spoon: you are upside down. Bring it very close: you are huge and upright. Turn it over: you are small and upright.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How can one spoon do all three?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424905"/>
          </a:xfrm>
          <a:prstGeom prst="roundRect">
            <a:avLst>
              <a:gd name="adj" fmla="val 301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spherical-mirrors/inside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351753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650201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Object inside F: large and upright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Concave and convex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5720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Concave: the hollow side reflects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Concave mirrors converge parallel rays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Convex: the bulging side reflects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Convex mirrors make parallel rays diverge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80974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spherical-mirrors/conv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297061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84632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Convex mirror: rays spread out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Words you need</a:t>
            </a:r>
            <a:endParaRPr lang="en-US" sz="3000" dirty="0"/>
          </a:p>
        </p:txBody>
      </p:sp>
      <p:graphicFrame>
        <p:nvGraphicFramePr>
          <p:cNvPr id="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accent1"/>
                          </a:solidFill>
                        </a:rPr>
                        <a:t>Term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</a:rPr>
                        <a:t>Meaning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Pole P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Centre of the mirror's surface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Centre of curvature C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Centre of the sphere the mirror is part of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Radius of curvature R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Radius of that sphere, PC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Principal axis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Line through P and C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Principal focus F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Where parallel rays meet (or seem to come from)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2"/>
                          </a:solidFill>
                        </a:rPr>
                        <a:t>Focal length f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PF; f = R ÷ 2</a:t>
                      </a:r>
                      <a:endParaRPr lang="en-US" sz="15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Three rays to find an image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Big 1"/>
          <p:cNvSpPr txBox="1"/>
          <p:nvPr/>
        </p:nvSpPr>
        <p:spPr>
          <a:xfrm>
            <a:off x="731520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Ray 1</a:t>
            </a:r>
            <a:endParaRPr lang="en-US" sz="3000" dirty="0"/>
          </a:p>
        </p:txBody>
      </p:sp>
      <p:sp>
        <p:nvSpPr>
          <p:cNvPr id="6" name="Card head 1"/>
          <p:cNvSpPr txBox="1"/>
          <p:nvPr/>
        </p:nvSpPr>
        <p:spPr>
          <a:xfrm>
            <a:off x="731520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Parallel to the axis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Reflects through F (or seems to come from F).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3270504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Big 2"/>
          <p:cNvSpPr txBox="1"/>
          <p:nvPr/>
        </p:nvSpPr>
        <p:spPr>
          <a:xfrm>
            <a:off x="3544824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Ray 2</a:t>
            </a:r>
            <a:endParaRPr lang="en-US" sz="3000" dirty="0"/>
          </a:p>
        </p:txBody>
      </p:sp>
      <p:sp>
        <p:nvSpPr>
          <p:cNvPr id="10" name="Card head 2"/>
          <p:cNvSpPr txBox="1"/>
          <p:nvPr/>
        </p:nvSpPr>
        <p:spPr>
          <a:xfrm>
            <a:off x="3544824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Through F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3544824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Reflects parallel to the axis.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6083808" y="1188720"/>
            <a:ext cx="2602992" cy="3017520"/>
          </a:xfrm>
          <a:prstGeom prst="roundRect">
            <a:avLst>
              <a:gd name="adj" fmla="val 4215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3" name="Big 3"/>
          <p:cNvSpPr txBox="1"/>
          <p:nvPr/>
        </p:nvSpPr>
        <p:spPr>
          <a:xfrm>
            <a:off x="6358128" y="1371600"/>
            <a:ext cx="2054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Ray 3</a:t>
            </a:r>
            <a:endParaRPr lang="en-US" sz="3000" dirty="0"/>
          </a:p>
        </p:txBody>
      </p:sp>
      <p:sp>
        <p:nvSpPr>
          <p:cNvPr id="14" name="Card head 3"/>
          <p:cNvSpPr txBox="1"/>
          <p:nvPr/>
        </p:nvSpPr>
        <p:spPr>
          <a:xfrm>
            <a:off x="6358128" y="2240280"/>
            <a:ext cx="20543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Through C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6358128" y="2971800"/>
            <a:ext cx="205435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Hits at right angles and comes straight back.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Images formed by a concave mirror</a:t>
            </a:r>
            <a:endParaRPr lang="en-US" sz="3000" dirty="0"/>
          </a:p>
        </p:txBody>
      </p:sp>
      <p:graphicFrame>
        <p:nvGraphicFramePr>
          <p:cNvPr id="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194560"/>
                <a:gridCol w="1920240"/>
                <a:gridCol w="20116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Object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3"/>
                          </a:solidFill>
                        </a:rPr>
                        <a:t>Image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Size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Nature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At infinity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At F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Point-sized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Real, inverted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Beyond C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Between F and C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Diminished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Real, inverted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At C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At C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Same size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Real, inverted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Between C and F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Beyond C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Magnified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Real, inverted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At F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At infinity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Highly magnified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Real, inverted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</a:rPr>
                        <a:t>Between F and P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Behind the mirror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Magnified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Virtual, erect</a:t>
                      </a:r>
                      <a:endParaRPr lang="en-US" sz="14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Far and near</a:t>
            </a:r>
            <a:endParaRPr lang="en-US" sz="3000" dirty="0"/>
          </a:p>
        </p:txBody>
      </p:sp>
      <p:sp>
        <p:nvSpPr>
          <p:cNvPr id="4" name="Beyond C image frame"/>
          <p:cNvSpPr/>
          <p:nvPr/>
        </p:nvSpPr>
        <p:spPr>
          <a:xfrm>
            <a:off x="420624" y="106070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Beyond C image" descr="/tmp/claude-0/-home-claude/7116491e-74ad-5a48-9637-67025fdd7b6d/scratchpad/deck/spherical-mirrors/beyond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406445"/>
          </a:xfrm>
          <a:prstGeom prst="rect">
            <a:avLst/>
          </a:prstGeom>
        </p:spPr>
      </p:pic>
      <p:sp>
        <p:nvSpPr>
          <p:cNvPr id="6" name="Beyond C text"/>
          <p:cNvSpPr txBox="1"/>
          <p:nvPr/>
        </p:nvSpPr>
        <p:spPr>
          <a:xfrm>
            <a:off x="457200" y="364088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Small, real and inverted, between F and C.</a:t>
            </a:r>
            <a:endParaRPr lang="en-US" sz="1400" dirty="0"/>
          </a:p>
        </p:txBody>
      </p:sp>
      <p:sp>
        <p:nvSpPr>
          <p:cNvPr id="7" name="Inside F image frame"/>
          <p:cNvSpPr/>
          <p:nvPr/>
        </p:nvSpPr>
        <p:spPr>
          <a:xfrm>
            <a:off x="4626864" y="106070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Inside F image" descr="/tmp/claude-0/-home-claude/7116491e-74ad-5a48-9637-67025fdd7b6d/scratchpad/deck/spherical-mirrors/inside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406445"/>
          </a:xfrm>
          <a:prstGeom prst="rect">
            <a:avLst/>
          </a:prstGeom>
        </p:spPr>
      </p:pic>
      <p:sp>
        <p:nvSpPr>
          <p:cNvPr id="9" name="Inside F text"/>
          <p:cNvSpPr txBox="1"/>
          <p:nvPr/>
        </p:nvSpPr>
        <p:spPr>
          <a:xfrm>
            <a:off x="4663440" y="364088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Large, virtual and erect, behind the mirror.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Convex mirrors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66344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Image always virtual, erect and diminished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Always behind the mirror, between P and F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Shows a wide area in a small space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2062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spherical-mirrors/conv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297061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5720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Rays seem to come from behind the mirror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Uses of spherical mirrors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6" name="Card head 1"/>
          <p:cNvSpPr txBox="1"/>
          <p:nvPr/>
        </p:nvSpPr>
        <p:spPr>
          <a:xfrm>
            <a:off x="731520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Dentist and shaving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Concave, object inside F: large, upright image.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2567178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9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498" y="1463040"/>
            <a:ext cx="548640" cy="548640"/>
          </a:xfrm>
          <a:prstGeom prst="rect">
            <a:avLst/>
          </a:prstGeom>
        </p:spPr>
      </p:pic>
      <p:sp>
        <p:nvSpPr>
          <p:cNvPr id="10" name="Card head 2"/>
          <p:cNvSpPr txBox="1"/>
          <p:nvPr/>
        </p:nvSpPr>
        <p:spPr>
          <a:xfrm>
            <a:off x="2841498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Torches and headlamps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2841498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Concave, bulb at F: a parallel beam.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4677156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pic>
        <p:nvPicPr>
          <p:cNvPr id="13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1476" y="1463040"/>
            <a:ext cx="548640" cy="548640"/>
          </a:xfrm>
          <a:prstGeom prst="rect">
            <a:avLst/>
          </a:prstGeom>
        </p:spPr>
      </p:pic>
      <p:sp>
        <p:nvSpPr>
          <p:cNvPr id="14" name="Card head 3"/>
          <p:cNvSpPr txBox="1"/>
          <p:nvPr/>
        </p:nvSpPr>
        <p:spPr>
          <a:xfrm>
            <a:off x="4951476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Solar cookers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4951476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Concave: sunlight concentrated at F.</a:t>
            </a:r>
            <a:endParaRPr lang="en-US" sz="1400" dirty="0"/>
          </a:p>
        </p:txBody>
      </p:sp>
      <p:sp>
        <p:nvSpPr>
          <p:cNvPr id="16" name="Card 4"/>
          <p:cNvSpPr/>
          <p:nvPr/>
        </p:nvSpPr>
        <p:spPr>
          <a:xfrm>
            <a:off x="6787134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1454" y="1463040"/>
            <a:ext cx="548640" cy="548640"/>
          </a:xfrm>
          <a:prstGeom prst="rect">
            <a:avLst/>
          </a:prstGeom>
        </p:spPr>
      </p:pic>
      <p:sp>
        <p:nvSpPr>
          <p:cNvPr id="18" name="Card head 4"/>
          <p:cNvSpPr txBox="1"/>
          <p:nvPr/>
        </p:nvSpPr>
        <p:spPr>
          <a:xfrm>
            <a:off x="7061454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Rear-view mirrors</a:t>
            </a:r>
            <a:endParaRPr lang="en-US" sz="1800" dirty="0"/>
          </a:p>
        </p:txBody>
      </p:sp>
      <p:sp>
        <p:nvSpPr>
          <p:cNvPr id="19" name="Card body 4"/>
          <p:cNvSpPr txBox="1"/>
          <p:nvPr/>
        </p:nvSpPr>
        <p:spPr>
          <a:xfrm>
            <a:off x="7061454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Convex: a wide view, upright image.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From R to f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concave mirror has R = 36 cm. Where is its principal focus?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f = R ÷ 2 = 36 ÷ 2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18 cm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Predicting an image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An object is 25 cm from a concave mirror with f = 10 cm. Describe the image.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 is at 2f = 20 cm: object beyond C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Image: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between F and C, real, inverted, diminished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“F is at C”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 is halfway: f = R ÷ 2.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“Concave always inverts”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Inside F the image is virtual and erect.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Virtual for every case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Only when the object is inside F.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“Convex can magnify”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Its image is always smaller.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Where do rays parallel to the axis of a concave mirror meet after reflection?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Where should a torch bulb be placed to give a parallel beam?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Describe the image of an object at C of a concave mirror.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Why are convex mirrors used as rear-view mirrors?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Draw ray diagrams live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Spherical Mirrors lesson on the Visual Science &amp; Maths website. Walk the object towards the mirror and watch the image change.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The mirror formula and magnification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315521"/>
          </a:xfrm>
          <a:prstGeom prst="roundRect">
            <a:avLst>
              <a:gd name="adj" fmla="val 315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spherical-mirrors/at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2423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Spherical Mirrors and Ray Diagrams</dc:title>
  <dc:subject>Std 9 Science, Chapter 11 Reflection of Light</dc:subject>
  <dc:creator>Visual Science &amp; Maths</dc:creator>
  <cp:lastModifiedBy>Visual Science &amp; Maths</cp:lastModifiedBy>
  <cp:revision>1</cp:revision>
  <dcterms:created xsi:type="dcterms:W3CDTF">2026-10-08T00:44:44Z</dcterms:created>
  <dcterms:modified xsi:type="dcterms:W3CDTF">2026-10-08T00:44:44Z</dcterms:modified>
</cp:coreProperties>
</file>