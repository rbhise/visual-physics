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29770711-03c1-19af-c615-c754606553db}">
          <p14:sldIdLst>
            <p14:sldId id="256"/>
            <p14:sldId id="257"/>
          </p14:sldIdLst>
        </p14:section>
        <p14:section name="Key ideas" id="{6eac242d-3c37-1ba6-1025-cb775ad548f3}">
          <p14:sldIdLst>
            <p14:sldId id="258"/>
          </p14:sldIdLst>
        </p14:section>
        <p14:section name="Kinetic energy" id="{c8335887-df9c-23da-56ff-084d1b35c84d}">
          <p14:sldIdLst>
            <p14:sldId id="259"/>
            <p14:sldId id="260"/>
          </p14:sldIdLst>
        </p14:section>
        <p14:section name="Potential energy" id="{873d695b-6522-1f5d-3e74-5068f280f365}">
          <p14:sldIdLst>
            <p14:sldId id="261"/>
            <p14:sldId id="262"/>
          </p14:sldIdLst>
        </p14:section>
        <p14:section name="Practice" id="{b4c2fdeb-fdf8-6bc2-927c-6d3680b6f834}">
          <p14:sldIdLst>
            <p14:sldId id="263"/>
            <p14:sldId id="264"/>
            <p14:sldId id="265"/>
            <p14:sldId id="266"/>
          </p14:sldIdLst>
        </p14:section>
        <p14:section name="Wrap-up" id="{07e908ee-c173-31b1-a551-79fd88577779}">
          <p14:sldIdLst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Goal: students can define energy, calculate kinetic and potential energy, and explain how each depends on mass, speed and height.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can do work: push something, turn a turbine, launch a stone. That capacity to do work is energy.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dent in the sand measures the work the ball does, and so its energy. This mirrors the NCERT activity of dropping balls into sand.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derivation slowly: F = ma, v² = u² + 2as with u = 0, then W = Fs.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why road accidents at high speed are so much more damaging.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Shape examples: a stretched rubber band, a wound spring, a drawn bow.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P.E. is directly proportional to height: four times the height gives four times the energy.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Halving the speed leaves a quarter of the kinetic energy.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why roof tanks supply taps below without a pump.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Squaring errors are by far the most common.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1) 9 J. 2) It becomes four times as large. 3) 98 J. 4) A stretched catapult, a wound spring, a drawn bow.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Homework idea: drop a marble into a tray of flour from three heights and measure the dents.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600200"/>
            <a:ext cx="420624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Kinetic and Potential Energy · Std 9 Ch. 2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yebrow"/>
          <p:cNvSpPr txBox="1"/>
          <p:nvPr/>
        </p:nvSpPr>
        <p:spPr>
          <a:xfrm>
            <a:off x="548640" y="114300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4"/>
                </a:solidFill>
              </a:rPr>
              <a:t>STD 9 SCIENCE · CH. 2 WORK AND ENERGY</a:t>
            </a:r>
            <a:endParaRPr lang="en-US" sz="12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1600200"/>
            <a:ext cx="4206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Kinetic and Potential Energy</a:t>
            </a:r>
            <a:endParaRPr lang="en-US" sz="3800" dirty="0"/>
          </a:p>
        </p:txBody>
      </p:sp>
      <p:sp>
        <p:nvSpPr>
          <p:cNvPr id="5" name="Subtitle"/>
          <p:cNvSpPr txBox="1"/>
          <p:nvPr/>
        </p:nvSpPr>
        <p:spPr>
          <a:xfrm>
            <a:off x="548640" y="31089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Lesson 2 · Visual Science &amp; Maths</a:t>
            </a:r>
            <a:endParaRPr lang="en-US" sz="1600" dirty="0"/>
          </a:p>
        </p:txBody>
      </p:sp>
      <p:sp>
        <p:nvSpPr>
          <p:cNvPr id="6" name="Title image frame"/>
          <p:cNvSpPr/>
          <p:nvPr/>
        </p:nvSpPr>
        <p:spPr>
          <a:xfrm>
            <a:off x="4901184" y="1197864"/>
            <a:ext cx="3822192" cy="2617863"/>
          </a:xfrm>
          <a:prstGeom prst="roundRect">
            <a:avLst>
              <a:gd name="adj" fmla="val 2794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Title image" descr="/tmp/claude-0/-home-claude/7116491e-74ad-5a48-9637-67025fdd7b6d/scratchpad/deck/kinetic-and-potential-energy/fall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0" y="1234440"/>
            <a:ext cx="3749040" cy="254471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What can do work?</a:t>
            </a:r>
            <a:endParaRPr lang="en-US" sz="3000" dirty="0"/>
          </a:p>
        </p:txBody>
      </p:sp>
      <p:sp>
        <p:nvSpPr>
          <p:cNvPr id="4" name="Hook text"/>
          <p:cNvSpPr txBox="1"/>
          <p:nvPr/>
        </p:nvSpPr>
        <p:spPr>
          <a:xfrm>
            <a:off x="457200" y="1143000"/>
            <a:ext cx="3931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A cricket ball hit for six. Water stored behind a dam. A stretched catapult.</a:t>
            </a:r>
            <a:endParaRPr lang="en-US" sz="1800" dirty="0"/>
          </a:p>
        </p:txBody>
      </p:sp>
      <p:sp>
        <p:nvSpPr>
          <p:cNvPr id="5" name="Question"/>
          <p:cNvSpPr txBox="1"/>
          <p:nvPr/>
        </p:nvSpPr>
        <p:spPr>
          <a:xfrm>
            <a:off x="457200" y="2743200"/>
            <a:ext cx="3931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What do all three have in common?</a:t>
            </a:r>
            <a:endParaRPr lang="en-US" sz="1800" dirty="0"/>
          </a:p>
        </p:txBody>
      </p:sp>
      <p:sp>
        <p:nvSpPr>
          <p:cNvPr id="6" name="Hook image frame"/>
          <p:cNvSpPr/>
          <p:nvPr/>
        </p:nvSpPr>
        <p:spPr>
          <a:xfrm>
            <a:off x="4718304" y="1152144"/>
            <a:ext cx="4005072" cy="2741996"/>
          </a:xfrm>
          <a:prstGeom prst="roundRect">
            <a:avLst>
              <a:gd name="adj" fmla="val 2668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Hook image" descr="/tmp/claude-0/-home-claude/7116491e-74ad-5a48-9637-67025fdd7b6d/scratchpad/deck/kinetic-and-potential-energy/dent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0" y="1188720"/>
            <a:ext cx="3931920" cy="2668844"/>
          </a:xfrm>
          <a:prstGeom prst="rect">
            <a:avLst/>
          </a:prstGeom>
        </p:spPr>
      </p:pic>
      <p:sp>
        <p:nvSpPr>
          <p:cNvPr id="8" name="Caption"/>
          <p:cNvSpPr txBox="1"/>
          <p:nvPr/>
        </p:nvSpPr>
        <p:spPr>
          <a:xfrm>
            <a:off x="4754880" y="3967292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A ball dropped from 4 m leaves a deep dent in the sand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Energy</a:t>
            </a:r>
            <a:endParaRPr lang="en-US" sz="3000" dirty="0"/>
          </a:p>
        </p:txBody>
      </p:sp>
      <p:sp>
        <p:nvSpPr>
          <p:cNvPr id="4" name="Lead"/>
          <p:cNvSpPr txBox="1"/>
          <p:nvPr/>
        </p:nvSpPr>
        <p:spPr>
          <a:xfrm>
            <a:off x="457200" y="109728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The capacity of a body to do work is its energy.</a:t>
            </a:r>
            <a:endParaRPr lang="en-US" sz="1600" dirty="0"/>
          </a:p>
        </p:txBody>
      </p:sp>
      <p:sp>
        <p:nvSpPr>
          <p:cNvPr id="5" name="Points"/>
          <p:cNvSpPr txBox="1"/>
          <p:nvPr/>
        </p:nvSpPr>
        <p:spPr>
          <a:xfrm>
            <a:off x="457200" y="1810512"/>
            <a:ext cx="4023360" cy="2670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Measured in joules (J), like work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Many forms: heat, light, sound, chemical, electrical, nuclear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Mechanical energy: kinetic and potential</a:t>
            </a:r>
            <a:endParaRPr lang="en-US" sz="1600" dirty="0"/>
          </a:p>
        </p:txBody>
      </p:sp>
      <p:sp>
        <p:nvSpPr>
          <p:cNvPr id="6" name="Concept image frame"/>
          <p:cNvSpPr/>
          <p:nvPr/>
        </p:nvSpPr>
        <p:spPr>
          <a:xfrm>
            <a:off x="4809744" y="1106424"/>
            <a:ext cx="3913632" cy="2679929"/>
          </a:xfrm>
          <a:prstGeom prst="roundRect">
            <a:avLst>
              <a:gd name="adj" fmla="val 2730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Concept image" descr="/tmp/claude-0/-home-claude/7116491e-74ad-5a48-9637-67025fdd7b6d/scratchpad/deck/kinetic-and-potential-energy/dent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0" y="1143000"/>
            <a:ext cx="3840480" cy="2606777"/>
          </a:xfrm>
          <a:prstGeom prst="rect">
            <a:avLst/>
          </a:prstGeom>
        </p:spPr>
      </p:pic>
      <p:sp>
        <p:nvSpPr>
          <p:cNvPr id="8" name="Caption"/>
          <p:cNvSpPr txBox="1"/>
          <p:nvPr/>
        </p:nvSpPr>
        <p:spPr>
          <a:xfrm>
            <a:off x="4846320" y="3859505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Dropped from 1 m: a smaller dent, less energy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3"/>
                </a:solidFill>
              </a:rPr>
              <a:t>Kinetic</a:t>
            </a:r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 energy</a:t>
            </a:r>
            <a:endParaRPr lang="en-US" sz="3000" dirty="0"/>
          </a:p>
        </p:txBody>
      </p:sp>
      <p:sp>
        <p:nvSpPr>
          <p:cNvPr id="4" name="Formula card"/>
          <p:cNvSpPr/>
          <p:nvPr/>
        </p:nvSpPr>
        <p:spPr>
          <a:xfrm>
            <a:off x="4663440" y="1097280"/>
            <a:ext cx="4023360" cy="777240"/>
          </a:xfrm>
          <a:prstGeom prst="roundRect">
            <a:avLst>
              <a:gd name="adj" fmla="val 14118"/>
            </a:avLst>
          </a:prstGeom>
          <a:solidFill>
            <a:srgbClr val="FBEAE5"/>
          </a:solidFill>
          <a:ln w="12700">
            <a:solidFill>
              <a:srgbClr val="FBEAE5"/>
            </a:solidFill>
            <a:prstDash val="solid"/>
          </a:ln>
        </p:spPr>
      </p:sp>
      <p:sp>
        <p:nvSpPr>
          <p:cNvPr id="5" name="Formula"/>
          <p:cNvSpPr txBox="1"/>
          <p:nvPr/>
        </p:nvSpPr>
        <p:spPr>
          <a:xfrm>
            <a:off x="4846320" y="109728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3"/>
                </a:solidFill>
              </a:rPr>
              <a:t>K.E. = ½mv²</a:t>
            </a:r>
            <a:endParaRPr lang="en-US" sz="2400" dirty="0"/>
          </a:p>
        </p:txBody>
      </p:sp>
      <p:sp>
        <p:nvSpPr>
          <p:cNvPr id="6" name="Points"/>
          <p:cNvSpPr txBox="1"/>
          <p:nvPr/>
        </p:nvSpPr>
        <p:spPr>
          <a:xfrm>
            <a:off x="4663440" y="2103120"/>
            <a:ext cx="40233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Energy of motion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Work Fs = mas, and s = v²/2a, so W = ½mv²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Double the mass: double the K.E.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Double the speed: four times the K.E.</a:t>
            </a:r>
            <a:endParaRPr lang="en-US" sz="1600" dirty="0"/>
          </a:p>
        </p:txBody>
      </p:sp>
      <p:sp>
        <p:nvSpPr>
          <p:cNvPr id="7" name="Concept image frame"/>
          <p:cNvSpPr/>
          <p:nvPr/>
        </p:nvSpPr>
        <p:spPr>
          <a:xfrm>
            <a:off x="420624" y="1106424"/>
            <a:ext cx="3913632" cy="2679929"/>
          </a:xfrm>
          <a:prstGeom prst="roundRect">
            <a:avLst>
              <a:gd name="adj" fmla="val 2730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8" name="Concept image" descr="/tmp/claude-0/-home-claude/7116491e-74ad-5a48-9637-67025fdd7b6d/scratchpad/deck/kinetic-and-potential-energy/roll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43000"/>
            <a:ext cx="3840480" cy="2606777"/>
          </a:xfrm>
          <a:prstGeom prst="rect">
            <a:avLst/>
          </a:prstGeom>
        </p:spPr>
      </p:pic>
      <p:sp>
        <p:nvSpPr>
          <p:cNvPr id="9" name="Caption"/>
          <p:cNvSpPr txBox="1"/>
          <p:nvPr/>
        </p:nvSpPr>
        <p:spPr>
          <a:xfrm>
            <a:off x="457200" y="3859505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A 2 kg ball rolling at 6 m/s: 36 J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Twice as fast, four times the energy</a:t>
            </a:r>
            <a:endParaRPr lang="en-US" sz="3000" dirty="0"/>
          </a:p>
        </p:txBody>
      </p:sp>
      <p:sp>
        <p:nvSpPr>
          <p:cNvPr id="4" name="3 m/s image frame"/>
          <p:cNvSpPr/>
          <p:nvPr/>
        </p:nvSpPr>
        <p:spPr>
          <a:xfrm>
            <a:off x="579965" y="1060704"/>
            <a:ext cx="3777830" cy="2587752"/>
          </a:xfrm>
          <a:prstGeom prst="roundRect">
            <a:avLst>
              <a:gd name="adj" fmla="val 2827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5" name="3 m/s image" descr="/tmp/claude-0/-home-claude/7116491e-74ad-5a48-9637-67025fdd7b6d/scratchpad/deck/kinetic-and-potential-energy/roll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6541" y="1097280"/>
            <a:ext cx="3704678" cy="2514600"/>
          </a:xfrm>
          <a:prstGeom prst="rect">
            <a:avLst/>
          </a:prstGeom>
        </p:spPr>
      </p:pic>
      <p:sp>
        <p:nvSpPr>
          <p:cNvPr id="6" name="3 m/s text"/>
          <p:cNvSpPr txBox="1"/>
          <p:nvPr/>
        </p:nvSpPr>
        <p:spPr>
          <a:xfrm>
            <a:off x="457200" y="374904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2 kg at 3 m/s: K.E. = 9 J.</a:t>
            </a:r>
            <a:endParaRPr lang="en-US" sz="1400" dirty="0"/>
          </a:p>
        </p:txBody>
      </p:sp>
      <p:sp>
        <p:nvSpPr>
          <p:cNvPr id="7" name="6 m/s image frame"/>
          <p:cNvSpPr/>
          <p:nvPr/>
        </p:nvSpPr>
        <p:spPr>
          <a:xfrm>
            <a:off x="4786205" y="1060704"/>
            <a:ext cx="3777830" cy="2587752"/>
          </a:xfrm>
          <a:prstGeom prst="roundRect">
            <a:avLst>
              <a:gd name="adj" fmla="val 2827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8" name="6 m/s image" descr="/tmp/claude-0/-home-claude/7116491e-74ad-5a48-9637-67025fdd7b6d/scratchpad/deck/kinetic-and-potential-energy/roll6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2781" y="1097280"/>
            <a:ext cx="3704678" cy="2514600"/>
          </a:xfrm>
          <a:prstGeom prst="rect">
            <a:avLst/>
          </a:prstGeom>
        </p:spPr>
      </p:pic>
      <p:sp>
        <p:nvSpPr>
          <p:cNvPr id="9" name="6 m/s text"/>
          <p:cNvSpPr txBox="1"/>
          <p:nvPr/>
        </p:nvSpPr>
        <p:spPr>
          <a:xfrm>
            <a:off x="4663440" y="374904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2 kg at 6 m/s: K.E. = 36 J.</a:t>
            </a:r>
            <a:endParaRPr lang="en-US" sz="1400" dirty="0"/>
          </a:p>
        </p:txBody>
      </p:sp>
      <p:sp>
        <p:nvSpPr>
          <p:cNvPr id="10" name="Takeaway"/>
          <p:cNvSpPr txBox="1"/>
          <p:nvPr/>
        </p:nvSpPr>
        <p:spPr>
          <a:xfrm>
            <a:off x="457200" y="427939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chemeClr val="tx2"/>
                </a:solidFill>
              </a:rPr>
              <a:t>Speed is squared, so doubling it quadruples the energy (and the dent).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Potential</a:t>
            </a:r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 energy</a:t>
            </a:r>
            <a:endParaRPr lang="en-US" sz="3000" dirty="0"/>
          </a:p>
        </p:txBody>
      </p:sp>
      <p:sp>
        <p:nvSpPr>
          <p:cNvPr id="4" name="Formula card"/>
          <p:cNvSpPr/>
          <p:nvPr/>
        </p:nvSpPr>
        <p:spPr>
          <a:xfrm>
            <a:off x="457200" y="1097280"/>
            <a:ext cx="4023360" cy="777240"/>
          </a:xfrm>
          <a:prstGeom prst="roundRect">
            <a:avLst>
              <a:gd name="adj" fmla="val 14118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" name="Formula"/>
          <p:cNvSpPr txBox="1"/>
          <p:nvPr/>
        </p:nvSpPr>
        <p:spPr>
          <a:xfrm>
            <a:off x="640080" y="109728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P.E. = mgh</a:t>
            </a:r>
            <a:endParaRPr lang="en-US" sz="2400" dirty="0"/>
          </a:p>
        </p:txBody>
      </p:sp>
      <p:sp>
        <p:nvSpPr>
          <p:cNvPr id="6" name="Points"/>
          <p:cNvSpPr txBox="1"/>
          <p:nvPr/>
        </p:nvSpPr>
        <p:spPr>
          <a:xfrm>
            <a:off x="457200" y="2103120"/>
            <a:ext cx="40233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Energy of position or shape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Lifting needs force mg through height h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That work is stored: mgh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Depends on height, not the path taken</a:t>
            </a:r>
            <a:endParaRPr lang="en-US" sz="1600" dirty="0"/>
          </a:p>
        </p:txBody>
      </p:sp>
      <p:sp>
        <p:nvSpPr>
          <p:cNvPr id="7" name="Concept image frame"/>
          <p:cNvSpPr/>
          <p:nvPr/>
        </p:nvSpPr>
        <p:spPr>
          <a:xfrm>
            <a:off x="4809744" y="1106424"/>
            <a:ext cx="3913632" cy="2679929"/>
          </a:xfrm>
          <a:prstGeom prst="roundRect">
            <a:avLst>
              <a:gd name="adj" fmla="val 2730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8" name="Concept image" descr="/tmp/claude-0/-home-claude/7116491e-74ad-5a48-9637-67025fdd7b6d/scratchpad/deck/kinetic-and-potential-energy/fall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0" y="1143000"/>
            <a:ext cx="3840480" cy="2606777"/>
          </a:xfrm>
          <a:prstGeom prst="rect">
            <a:avLst/>
          </a:prstGeom>
        </p:spPr>
      </p:pic>
      <p:sp>
        <p:nvSpPr>
          <p:cNvPr id="9" name="Caption"/>
          <p:cNvSpPr txBox="1"/>
          <p:nvPr/>
        </p:nvSpPr>
        <p:spPr>
          <a:xfrm>
            <a:off x="4846320" y="3859505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The raised ball's stored energy turns into motion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Four times as high, four times the energy</a:t>
            </a:r>
            <a:endParaRPr lang="en-US" sz="3000" dirty="0"/>
          </a:p>
        </p:txBody>
      </p:sp>
      <p:sp>
        <p:nvSpPr>
          <p:cNvPr id="4" name="1 m image frame"/>
          <p:cNvSpPr/>
          <p:nvPr/>
        </p:nvSpPr>
        <p:spPr>
          <a:xfrm>
            <a:off x="420624" y="1060704"/>
            <a:ext cx="4096512" cy="2804062"/>
          </a:xfrm>
          <a:prstGeom prst="roundRect">
            <a:avLst>
              <a:gd name="adj" fmla="val 2609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5" name="1 m image" descr="/tmp/claude-0/-home-claude/7116491e-74ad-5a48-9637-67025fdd7b6d/scratchpad/deck/kinetic-and-potential-energy/dent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4023360" cy="2730910"/>
          </a:xfrm>
          <a:prstGeom prst="rect">
            <a:avLst/>
          </a:prstGeom>
        </p:spPr>
      </p:pic>
      <p:sp>
        <p:nvSpPr>
          <p:cNvPr id="6" name="1 m text"/>
          <p:cNvSpPr txBox="1"/>
          <p:nvPr/>
        </p:nvSpPr>
        <p:spPr>
          <a:xfrm>
            <a:off x="457200" y="396535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2 kg from 1 m: P.E. = 19.6 J.</a:t>
            </a:r>
            <a:endParaRPr lang="en-US" sz="1400" dirty="0"/>
          </a:p>
        </p:txBody>
      </p:sp>
      <p:sp>
        <p:nvSpPr>
          <p:cNvPr id="7" name="4 m image frame"/>
          <p:cNvSpPr/>
          <p:nvPr/>
        </p:nvSpPr>
        <p:spPr>
          <a:xfrm>
            <a:off x="4626864" y="1060704"/>
            <a:ext cx="4096512" cy="2804062"/>
          </a:xfrm>
          <a:prstGeom prst="roundRect">
            <a:avLst>
              <a:gd name="adj" fmla="val 2609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8" name="4 m image" descr="/tmp/claude-0/-home-claude/7116491e-74ad-5a48-9637-67025fdd7b6d/scratchpad/deck/kinetic-and-potential-energy/dent4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097280"/>
            <a:ext cx="4023360" cy="2730910"/>
          </a:xfrm>
          <a:prstGeom prst="rect">
            <a:avLst/>
          </a:prstGeom>
        </p:spPr>
      </p:pic>
      <p:sp>
        <p:nvSpPr>
          <p:cNvPr id="9" name="4 m text"/>
          <p:cNvSpPr txBox="1"/>
          <p:nvPr/>
        </p:nvSpPr>
        <p:spPr>
          <a:xfrm>
            <a:off x="4663440" y="396535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2 kg from 4 m: P.E. = 78.4 J.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Worked examples</a:t>
            </a:r>
            <a:endParaRPr lang="en-US" sz="3000" dirty="0"/>
          </a:p>
        </p:txBody>
      </p:sp>
      <p:sp>
        <p:nvSpPr>
          <p:cNvPr id="4" name="Example card 1"/>
          <p:cNvSpPr/>
          <p:nvPr/>
        </p:nvSpPr>
        <p:spPr>
          <a:xfrm>
            <a:off x="457200" y="1097280"/>
            <a:ext cx="4023360" cy="3429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Example head 1"/>
          <p:cNvSpPr txBox="1"/>
          <p:nvPr/>
        </p:nvSpPr>
        <p:spPr>
          <a:xfrm>
            <a:off x="685800" y="12801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A rolling ball</a:t>
            </a:r>
            <a:endParaRPr lang="en-US" sz="1800" dirty="0"/>
          </a:p>
        </p:txBody>
      </p:sp>
      <p:sp>
        <p:nvSpPr>
          <p:cNvPr id="6" name="Problem 1"/>
          <p:cNvSpPr txBox="1"/>
          <p:nvPr/>
        </p:nvSpPr>
        <p:spPr>
          <a:xfrm>
            <a:off x="685800" y="173736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Find the K.E. of a 0.5 kg ball rolling at 4 m/s.</a:t>
            </a:r>
            <a:endParaRPr lang="en-US" sz="1500" dirty="0"/>
          </a:p>
        </p:txBody>
      </p:sp>
      <p:sp>
        <p:nvSpPr>
          <p:cNvPr id="7" name="Solution 1"/>
          <p:cNvSpPr txBox="1"/>
          <p:nvPr/>
        </p:nvSpPr>
        <p:spPr>
          <a:xfrm>
            <a:off x="685800" y="2743200"/>
            <a:ext cx="35661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½ × 0.5 × 16 = </a:t>
            </a: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4 J</a:t>
            </a:r>
            <a:endParaRPr lang="en-US" sz="1500" dirty="0"/>
          </a:p>
        </p:txBody>
      </p:sp>
      <p:sp>
        <p:nvSpPr>
          <p:cNvPr id="8" name="Example card 2"/>
          <p:cNvSpPr/>
          <p:nvPr/>
        </p:nvSpPr>
        <p:spPr>
          <a:xfrm>
            <a:off x="4663440" y="1097280"/>
            <a:ext cx="4023360" cy="3429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Example head 2"/>
          <p:cNvSpPr txBox="1"/>
          <p:nvPr/>
        </p:nvSpPr>
        <p:spPr>
          <a:xfrm>
            <a:off x="4892040" y="12801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A car slowing down</a:t>
            </a:r>
            <a:endParaRPr lang="en-US" sz="1800" dirty="0"/>
          </a:p>
        </p:txBody>
      </p:sp>
      <p:sp>
        <p:nvSpPr>
          <p:cNvPr id="10" name="Problem 2"/>
          <p:cNvSpPr txBox="1"/>
          <p:nvPr/>
        </p:nvSpPr>
        <p:spPr>
          <a:xfrm>
            <a:off x="4892040" y="173736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A 1500 kg car goes at 20 m/s, then slows to 10 m/s. Find its K.E. each time.</a:t>
            </a:r>
            <a:endParaRPr lang="en-US" sz="1500" dirty="0"/>
          </a:p>
        </p:txBody>
      </p:sp>
      <p:sp>
        <p:nvSpPr>
          <p:cNvPr id="11" name="Solution 2"/>
          <p:cNvSpPr txBox="1"/>
          <p:nvPr/>
        </p:nvSpPr>
        <p:spPr>
          <a:xfrm>
            <a:off x="4892040" y="2743200"/>
            <a:ext cx="35661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½ × 1500 × 400 = </a:t>
            </a: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300 kJ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½ × 1500 × 100 = </a:t>
            </a: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2"/>
                </a:solidFill>
              </a:rPr>
              <a:t>75 kJ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Worked example: water on the roof</a:t>
            </a:r>
            <a:endParaRPr lang="en-US" sz="3000" dirty="0"/>
          </a:p>
        </p:txBody>
      </p:sp>
      <p:sp>
        <p:nvSpPr>
          <p:cNvPr id="4" name="Problem 1"/>
          <p:cNvSpPr txBox="1"/>
          <p:nvPr/>
        </p:nvSpPr>
        <p:spPr>
          <a:xfrm>
            <a:off x="457200" y="1097280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chemeClr val="tx1"/>
                </a:solidFill>
              </a:rPr>
              <a:t>A tank holds 1000 kg of water 12 m above the ground. Find its potential energy. (g = 9.8 m/s²)</a:t>
            </a:r>
            <a:endParaRPr lang="en-US" sz="1500" dirty="0"/>
          </a:p>
        </p:txBody>
      </p:sp>
      <p:sp>
        <p:nvSpPr>
          <p:cNvPr id="5" name="Solution 1"/>
          <p:cNvSpPr txBox="1"/>
          <p:nvPr/>
        </p:nvSpPr>
        <p:spPr>
          <a:xfrm>
            <a:off x="457200" y="2103120"/>
            <a:ext cx="411480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P.E. = 1000 × 9.8 × 12 = </a:t>
            </a:r>
            <a:pPr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chemeClr val="accent1"/>
                </a:solidFill>
              </a:rPr>
              <a:t>117 600 J</a:t>
            </a:r>
            <a:endParaRPr lang="en-US" sz="1500" dirty="0"/>
          </a:p>
        </p:txBody>
      </p:sp>
      <p:sp>
        <p:nvSpPr>
          <p:cNvPr id="6" name="Example image frame"/>
          <p:cNvSpPr/>
          <p:nvPr/>
        </p:nvSpPr>
        <p:spPr>
          <a:xfrm>
            <a:off x="4809744" y="1106424"/>
            <a:ext cx="3913632" cy="2679929"/>
          </a:xfrm>
          <a:prstGeom prst="roundRect">
            <a:avLst>
              <a:gd name="adj" fmla="val 2730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Example image" descr="/tmp/claude-0/-home-claude/7116491e-74ad-5a48-9637-67025fdd7b6d/scratchpad/deck/kinetic-and-potential-energy/dent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0" y="1143000"/>
            <a:ext cx="3840480" cy="2606777"/>
          </a:xfrm>
          <a:prstGeom prst="rect">
            <a:avLst/>
          </a:prstGeom>
        </p:spPr>
      </p:pic>
      <p:sp>
        <p:nvSpPr>
          <p:cNvPr id="8" name="Caption"/>
          <p:cNvSpPr txBox="1"/>
          <p:nvPr/>
        </p:nvSpPr>
        <p:spPr>
          <a:xfrm>
            <a:off x="4846320" y="3859505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Stored height energy can do work when released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Common mistakes</a:t>
            </a:r>
            <a:endParaRPr lang="en-US" sz="3000" dirty="0"/>
          </a:p>
        </p:txBody>
      </p:sp>
      <p:sp>
        <p:nvSpPr>
          <p:cNvPr id="4" name="Mistake card 1"/>
          <p:cNvSpPr/>
          <p:nvPr/>
        </p:nvSpPr>
        <p:spPr>
          <a:xfrm>
            <a:off x="457200" y="109728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5" name="Cross 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325880"/>
            <a:ext cx="365760" cy="365760"/>
          </a:xfrm>
          <a:prstGeom prst="rect">
            <a:avLst/>
          </a:prstGeom>
        </p:spPr>
      </p:pic>
      <p:sp>
        <p:nvSpPr>
          <p:cNvPr id="6" name="Mistake 1"/>
          <p:cNvSpPr txBox="1"/>
          <p:nvPr/>
        </p:nvSpPr>
        <p:spPr>
          <a:xfrm>
            <a:off x="1234440" y="12801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Not squaring v</a:t>
            </a:r>
            <a:endParaRPr lang="en-US" sz="1700" dirty="0"/>
          </a:p>
        </p:txBody>
      </p:sp>
      <p:sp>
        <p:nvSpPr>
          <p:cNvPr id="7" name="Fix 1"/>
          <p:cNvSpPr txBox="1"/>
          <p:nvPr/>
        </p:nvSpPr>
        <p:spPr>
          <a:xfrm>
            <a:off x="1234440" y="175564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At 4 m/s, use v² = 16.</a:t>
            </a:r>
            <a:endParaRPr lang="en-US" sz="1400" dirty="0"/>
          </a:p>
        </p:txBody>
      </p:sp>
      <p:sp>
        <p:nvSpPr>
          <p:cNvPr id="8" name="Mistake card 2"/>
          <p:cNvSpPr/>
          <p:nvPr/>
        </p:nvSpPr>
        <p:spPr>
          <a:xfrm>
            <a:off x="4663440" y="109728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9" name="Cross 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325880"/>
            <a:ext cx="365760" cy="365760"/>
          </a:xfrm>
          <a:prstGeom prst="rect">
            <a:avLst/>
          </a:prstGeom>
        </p:spPr>
      </p:pic>
      <p:sp>
        <p:nvSpPr>
          <p:cNvPr id="10" name="Mistake 2"/>
          <p:cNvSpPr txBox="1"/>
          <p:nvPr/>
        </p:nvSpPr>
        <p:spPr>
          <a:xfrm>
            <a:off x="5440680" y="12801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Grams, not kilograms</a:t>
            </a:r>
            <a:endParaRPr lang="en-US" sz="1700" dirty="0"/>
          </a:p>
        </p:txBody>
      </p:sp>
      <p:sp>
        <p:nvSpPr>
          <p:cNvPr id="11" name="Fix 2"/>
          <p:cNvSpPr txBox="1"/>
          <p:nvPr/>
        </p:nvSpPr>
        <p:spPr>
          <a:xfrm>
            <a:off x="5440680" y="175564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500 g = 0.5 kg.</a:t>
            </a:r>
            <a:endParaRPr lang="en-US" sz="1400" dirty="0"/>
          </a:p>
        </p:txBody>
      </p:sp>
      <p:sp>
        <p:nvSpPr>
          <p:cNvPr id="12" name="Mistake card 3"/>
          <p:cNvSpPr/>
          <p:nvPr/>
        </p:nvSpPr>
        <p:spPr>
          <a:xfrm>
            <a:off x="457200" y="278892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13" name="Cross 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017520"/>
            <a:ext cx="365760" cy="365760"/>
          </a:xfrm>
          <a:prstGeom prst="rect">
            <a:avLst/>
          </a:prstGeom>
        </p:spPr>
      </p:pic>
      <p:sp>
        <p:nvSpPr>
          <p:cNvPr id="14" name="Mistake 3"/>
          <p:cNvSpPr txBox="1"/>
          <p:nvPr/>
        </p:nvSpPr>
        <p:spPr>
          <a:xfrm>
            <a:off x="1234440" y="29718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Path changes P.E.</a:t>
            </a:r>
            <a:endParaRPr lang="en-US" sz="1700" dirty="0"/>
          </a:p>
        </p:txBody>
      </p:sp>
      <p:sp>
        <p:nvSpPr>
          <p:cNvPr id="15" name="Fix 3"/>
          <p:cNvSpPr txBox="1"/>
          <p:nvPr/>
        </p:nvSpPr>
        <p:spPr>
          <a:xfrm>
            <a:off x="1234440" y="344728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Only the height matters.</a:t>
            </a:r>
            <a:endParaRPr lang="en-US" sz="1400" dirty="0"/>
          </a:p>
        </p:txBody>
      </p:sp>
      <p:sp>
        <p:nvSpPr>
          <p:cNvPr id="16" name="Mistake card 4"/>
          <p:cNvSpPr/>
          <p:nvPr/>
        </p:nvSpPr>
        <p:spPr>
          <a:xfrm>
            <a:off x="4663440" y="278892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17" name="Cross 4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3017520"/>
            <a:ext cx="365760" cy="365760"/>
          </a:xfrm>
          <a:prstGeom prst="rect">
            <a:avLst/>
          </a:prstGeom>
        </p:spPr>
      </p:pic>
      <p:sp>
        <p:nvSpPr>
          <p:cNvPr id="18" name="Mistake 4"/>
          <p:cNvSpPr txBox="1"/>
          <p:nvPr/>
        </p:nvSpPr>
        <p:spPr>
          <a:xfrm>
            <a:off x="5440680" y="29718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Double speed, double K.E.</a:t>
            </a:r>
            <a:endParaRPr lang="en-US" sz="1700" dirty="0"/>
          </a:p>
        </p:txBody>
      </p:sp>
      <p:sp>
        <p:nvSpPr>
          <p:cNvPr id="19" name="Fix 4"/>
          <p:cNvSpPr txBox="1"/>
          <p:nvPr/>
        </p:nvSpPr>
        <p:spPr>
          <a:xfrm>
            <a:off x="5440680" y="3447288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It is four times.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Quick check</a:t>
            </a:r>
            <a:endParaRPr lang="en-US" sz="3000" dirty="0"/>
          </a:p>
        </p:txBody>
      </p:sp>
      <p:sp>
        <p:nvSpPr>
          <p:cNvPr id="4" name="Question card 1"/>
          <p:cNvSpPr/>
          <p:nvPr/>
        </p:nvSpPr>
        <p:spPr>
          <a:xfrm>
            <a:off x="457200" y="114300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5" name="Number 1"/>
          <p:cNvSpPr txBox="1"/>
          <p:nvPr/>
        </p:nvSpPr>
        <p:spPr>
          <a:xfrm>
            <a:off x="685800" y="13258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1</a:t>
            </a:r>
            <a:endParaRPr lang="en-US" sz="3000" dirty="0"/>
          </a:p>
        </p:txBody>
      </p:sp>
      <p:sp>
        <p:nvSpPr>
          <p:cNvPr id="6" name="Question 1"/>
          <p:cNvSpPr txBox="1"/>
          <p:nvPr/>
        </p:nvSpPr>
        <p:spPr>
          <a:xfrm>
            <a:off x="1234440" y="134416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Find the K.E. of a 2 kg ball moving at 3 m/s.</a:t>
            </a:r>
            <a:endParaRPr lang="en-US" sz="1600" dirty="0"/>
          </a:p>
        </p:txBody>
      </p:sp>
      <p:sp>
        <p:nvSpPr>
          <p:cNvPr id="7" name="Question card 2"/>
          <p:cNvSpPr/>
          <p:nvPr/>
        </p:nvSpPr>
        <p:spPr>
          <a:xfrm>
            <a:off x="4663440" y="114300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8" name="Number 2"/>
          <p:cNvSpPr txBox="1"/>
          <p:nvPr/>
        </p:nvSpPr>
        <p:spPr>
          <a:xfrm>
            <a:off x="4892040" y="132588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2</a:t>
            </a:r>
            <a:endParaRPr lang="en-US" sz="3000" dirty="0"/>
          </a:p>
        </p:txBody>
      </p:sp>
      <p:sp>
        <p:nvSpPr>
          <p:cNvPr id="9" name="Question 2"/>
          <p:cNvSpPr txBox="1"/>
          <p:nvPr/>
        </p:nvSpPr>
        <p:spPr>
          <a:xfrm>
            <a:off x="5440680" y="134416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If an object's speed is doubled, what happens to its K.E.?</a:t>
            </a:r>
            <a:endParaRPr lang="en-US" sz="1600" dirty="0"/>
          </a:p>
        </p:txBody>
      </p:sp>
      <p:sp>
        <p:nvSpPr>
          <p:cNvPr id="10" name="Question card 3"/>
          <p:cNvSpPr/>
          <p:nvPr/>
        </p:nvSpPr>
        <p:spPr>
          <a:xfrm>
            <a:off x="457200" y="283464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1" name="Number 3"/>
          <p:cNvSpPr txBox="1"/>
          <p:nvPr/>
        </p:nvSpPr>
        <p:spPr>
          <a:xfrm>
            <a:off x="685800" y="301752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3</a:t>
            </a:r>
            <a:endParaRPr lang="en-US" sz="3000" dirty="0"/>
          </a:p>
        </p:txBody>
      </p:sp>
      <p:sp>
        <p:nvSpPr>
          <p:cNvPr id="12" name="Question 3"/>
          <p:cNvSpPr txBox="1"/>
          <p:nvPr/>
        </p:nvSpPr>
        <p:spPr>
          <a:xfrm>
            <a:off x="1234440" y="303580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Find the P.E. of a 5 kg box on a shelf 2 m high.</a:t>
            </a:r>
            <a:endParaRPr lang="en-US" sz="1600" dirty="0"/>
          </a:p>
        </p:txBody>
      </p:sp>
      <p:sp>
        <p:nvSpPr>
          <p:cNvPr id="13" name="Question card 4"/>
          <p:cNvSpPr/>
          <p:nvPr/>
        </p:nvSpPr>
        <p:spPr>
          <a:xfrm>
            <a:off x="4663440" y="283464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4" name="Number 4"/>
          <p:cNvSpPr txBox="1"/>
          <p:nvPr/>
        </p:nvSpPr>
        <p:spPr>
          <a:xfrm>
            <a:off x="4892040" y="301752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4</a:t>
            </a:r>
            <a:endParaRPr lang="en-US" sz="3000" dirty="0"/>
          </a:p>
        </p:txBody>
      </p:sp>
      <p:sp>
        <p:nvSpPr>
          <p:cNvPr id="15" name="Question 4"/>
          <p:cNvSpPr txBox="1"/>
          <p:nvPr/>
        </p:nvSpPr>
        <p:spPr>
          <a:xfrm>
            <a:off x="5440680" y="3035808"/>
            <a:ext cx="3063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Name an object with potential energy because of its shape.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1600200"/>
            <a:ext cx="4206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Make a dent yourself</a:t>
            </a:r>
            <a:endParaRPr lang="en-US" sz="3800" dirty="0"/>
          </a:p>
        </p:txBody>
      </p:sp>
      <p:sp>
        <p:nvSpPr>
          <p:cNvPr id="4" name="Call to action"/>
          <p:cNvSpPr txBox="1"/>
          <p:nvPr/>
        </p:nvSpPr>
        <p:spPr>
          <a:xfrm>
            <a:off x="548640" y="3063240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Open the Kinetic and Potential Energy lesson on the Visual Science &amp; Maths website. Change the mass, height and speed, and compare the dents.</a:t>
            </a:r>
            <a:endParaRPr lang="en-US" sz="1500" dirty="0"/>
          </a:p>
        </p:txBody>
      </p:sp>
      <p:sp>
        <p:nvSpPr>
          <p:cNvPr id="5" name="Next lesson"/>
          <p:cNvSpPr txBox="1"/>
          <p:nvPr/>
        </p:nvSpPr>
        <p:spPr>
          <a:xfrm>
            <a:off x="548640" y="41605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Next lesson: Conservation of energy</a:t>
            </a:r>
            <a:endParaRPr lang="en-US" sz="1400" dirty="0"/>
          </a:p>
        </p:txBody>
      </p:sp>
      <p:sp>
        <p:nvSpPr>
          <p:cNvPr id="6" name="Closing image frame"/>
          <p:cNvSpPr/>
          <p:nvPr/>
        </p:nvSpPr>
        <p:spPr>
          <a:xfrm>
            <a:off x="4901184" y="1197864"/>
            <a:ext cx="3822192" cy="2617863"/>
          </a:xfrm>
          <a:prstGeom prst="roundRect">
            <a:avLst>
              <a:gd name="adj" fmla="val 2794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7" name="Closing image" descr="/tmp/claude-0/-home-claude/7116491e-74ad-5a48-9637-67025fdd7b6d/scratchpad/deck/kinetic-and-potential-energy/roll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0" y="1234440"/>
            <a:ext cx="3749040" cy="254471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Visual Science &amp; Maths">
  <a:themeElements>
    <a:clrScheme name="Visual Science &amp; Maths">
      <a:dk1>
        <a:srgbClr val="14232B"/>
      </a:dk1>
      <a:lt1>
        <a:srgbClr val="FFFFFF"/>
      </a:lt1>
      <a:dk2>
        <a:srgbClr val="56676F"/>
      </a:dk2>
      <a:lt2>
        <a:srgbClr val="F4F7F6"/>
      </a:lt2>
      <a:accent1>
        <a:srgbClr val="5B3FD6"/>
      </a:accent1>
      <a:accent2>
        <a:srgbClr val="0B8A7A"/>
      </a:accent2>
      <a:accent3>
        <a:srgbClr val="D9512C"/>
      </a:accent3>
      <a:accent4>
        <a:srgbClr val="ECE9FB"/>
      </a:accent4>
      <a:accent5>
        <a:srgbClr val="D6E0DE"/>
      </a:accent5>
      <a:accent6>
        <a:srgbClr val="E3F3F0"/>
      </a:accent6>
      <a:hlink>
        <a:srgbClr val="5B3FD6"/>
      </a:hlink>
      <a:folHlink>
        <a:srgbClr val="3E2A9E"/>
      </a:folHlink>
    </a:clrScheme>
    <a:fontScheme name="Visual Science &amp; Math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Kinetic and Potential Energy</dc:title>
  <dc:subject>Std 9 Science, Chapter 2 Work and Energy</dc:subject>
  <dc:creator>Visual Science &amp; Maths</dc:creator>
  <cp:lastModifiedBy>Visual Science &amp; Maths</cp:lastModifiedBy>
  <cp:revision>1</cp:revision>
  <dcterms:created xsi:type="dcterms:W3CDTF">2026-10-08T00:44:42Z</dcterms:created>
  <dcterms:modified xsi:type="dcterms:W3CDTF">2026-10-08T00:44:42Z</dcterms:modified>
</cp:coreProperties>
</file>