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20324c25-8675-34ab-1494-f3901d793eda}">
          <p14:sldIdLst>
            <p14:sldId id="256"/>
            <p14:sldId id="257"/>
          </p14:sldIdLst>
        </p14:section>
        <p14:section name="Key ideas" id="{b8ee3328-f40d-2ed3-57bc-a0ab74678f85}">
          <p14:sldIdLst>
            <p14:sldId id="258"/>
            <p14:sldId id="259"/>
            <p14:sldId id="260"/>
            <p14:sldId id="261"/>
          </p14:sldIdLst>
        </p14:section>
        <p14:section name="Practice" id="{83a7b541-115b-a93e-24d4-b19b3f33970c}">
          <p14:sldIdLst>
            <p14:sldId id="262"/>
            <p14:sldId id="263"/>
            <p14:sldId id="264"/>
            <p14:sldId id="265"/>
            <p14:sldId id="266"/>
          </p14:sldIdLst>
        </p14:section>
        <p14:section name="Wrap-up" id="{7fd86bd1-ff26-a178-49b4-b366b738d948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Goal: students can compare the speed of sound in different media, use v ≈ 332 + 0.6t, and find distances from the lightning-thunder gap.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Light is almost a million times faster than sound in air.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Fastest in solids, slower in liquids, slowest in gases.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Tightly linked particles pass the push on faster.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Warmer gas particles move faster and pass the disturbance more quickly.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rough rule: every 3 seconds is about 1 km.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Always find v for the temperature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why people once put an ear to the rail to hear an approaching train.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 100 m, the starting gun's sound arrives about 0.3 s late.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that students hear the same mistakes in everyday speech; ask for a counter-example to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1) Steel. 2) 347 m/s. 3) 1700 m. 4) Hydrogen.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Homework idea: time the thunder in the next storm and estimate the distance.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The Speed of Sound · Std 9 Ch. 12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 txBox="1"/>
          <p:nvPr/>
        </p:nvSpPr>
        <p:spPr>
          <a:xfrm>
            <a:off x="548640" y="1143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STD 9 SCIENCE · CH. 12 STUDY OF SOUND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The Speed of Sound</a:t>
            </a:r>
            <a:endParaRPr lang="en-US" sz="38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3108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Lesson 2 · Visual Science &amp; Maths</a:t>
            </a:r>
            <a:endParaRPr lang="en-US" sz="1600" dirty="0"/>
          </a:p>
        </p:txBody>
      </p:sp>
      <p:sp>
        <p:nvSpPr>
          <p:cNvPr id="6" name="Title image frame"/>
          <p:cNvSpPr/>
          <p:nvPr/>
        </p:nvSpPr>
        <p:spPr>
          <a:xfrm>
            <a:off x="4901184" y="1197864"/>
            <a:ext cx="3822192" cy="2315521"/>
          </a:xfrm>
          <a:prstGeom prst="roundRect">
            <a:avLst>
              <a:gd name="adj" fmla="val 315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Title image" descr="/tmp/claude-0/-home-claude/7116491e-74ad-5a48-9637-67025fdd7b6d/scratchpad/deck/speed-of-sound/ra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24236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See first, hear later</a:t>
            </a:r>
            <a:endParaRPr lang="en-US" sz="3000" dirty="0"/>
          </a:p>
        </p:txBody>
      </p:sp>
      <p:sp>
        <p:nvSpPr>
          <p:cNvPr id="4" name="Hook text"/>
          <p:cNvSpPr txBox="1"/>
          <p:nvPr/>
        </p:nvSpPr>
        <p:spPr>
          <a:xfrm>
            <a:off x="457200" y="114300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At a cricket match you see the bat hit the ball before you hear the crack. In a storm, the flash comes before the thunder.</a:t>
            </a:r>
            <a:endParaRPr lang="en-US" sz="1800" dirty="0"/>
          </a:p>
        </p:txBody>
      </p:sp>
      <p:sp>
        <p:nvSpPr>
          <p:cNvPr id="5" name="Question"/>
          <p:cNvSpPr txBox="1"/>
          <p:nvPr/>
        </p:nvSpPr>
        <p:spPr>
          <a:xfrm>
            <a:off x="457200" y="27432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Why does the sound arrive late?</a:t>
            </a:r>
            <a:endParaRPr lang="en-US" sz="1800" dirty="0"/>
          </a:p>
        </p:txBody>
      </p:sp>
      <p:sp>
        <p:nvSpPr>
          <p:cNvPr id="6" name="Hook image frame"/>
          <p:cNvSpPr/>
          <p:nvPr/>
        </p:nvSpPr>
        <p:spPr>
          <a:xfrm>
            <a:off x="4718304" y="1152144"/>
            <a:ext cx="4005072" cy="2424905"/>
          </a:xfrm>
          <a:prstGeom prst="roundRect">
            <a:avLst>
              <a:gd name="adj" fmla="val 301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Hook image" descr="/tmp/claude-0/-home-claude/7116491e-74ad-5a48-9637-67025fdd7b6d/scratchpad/deck/speed-of-sound/sto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188720"/>
            <a:ext cx="3931920" cy="2351753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754880" y="3650201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The thunder still on its way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Speed depends on the medium</a:t>
            </a:r>
            <a:endParaRPr lang="en-US" sz="3000" dirty="0"/>
          </a:p>
        </p:txBody>
      </p:sp>
      <p:graphicFrame>
        <p:nvGraphicFramePr>
          <p:cNvPr id="4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Medium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</a:rPr>
                        <a:t>Approximate speed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2"/>
                          </a:solidFill>
                        </a:rPr>
                        <a:t>Air at 0 °C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332 m/s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2"/>
                          </a:solidFill>
                        </a:rPr>
                        <a:t>Air at 20 °C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344 m/s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2"/>
                          </a:solidFill>
                        </a:rPr>
                        <a:t>Water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about 1500 m/s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2"/>
                          </a:solidFill>
                        </a:rPr>
                        <a:t>Steel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about 5000 m/s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race</a:t>
            </a:r>
            <a:endParaRPr lang="en-US" sz="3000" dirty="0"/>
          </a:p>
        </p:txBody>
      </p:sp>
      <p:sp>
        <p:nvSpPr>
          <p:cNvPr id="4" name="After 1.6 s image frame"/>
          <p:cNvSpPr/>
          <p:nvPr/>
        </p:nvSpPr>
        <p:spPr>
          <a:xfrm>
            <a:off x="420624" y="1060704"/>
            <a:ext cx="4096512" cy="2479597"/>
          </a:xfrm>
          <a:prstGeom prst="roundRect">
            <a:avLst>
              <a:gd name="adj" fmla="val 295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After 1.6 s image" descr="/tmp/claude-0/-home-claude/7116491e-74ad-5a48-9637-67025fdd7b6d/scratchpad/deck/speed-of-sound/ra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023360" cy="2406445"/>
          </a:xfrm>
          <a:prstGeom prst="rect">
            <a:avLst/>
          </a:prstGeom>
        </p:spPr>
      </p:pic>
      <p:sp>
        <p:nvSpPr>
          <p:cNvPr id="6" name="After 1.6 s text"/>
          <p:cNvSpPr txBox="1"/>
          <p:nvPr/>
        </p:nvSpPr>
        <p:spPr>
          <a:xfrm>
            <a:off x="457200" y="3640885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Steel and water have arrived; air is halfway.</a:t>
            </a:r>
            <a:endParaRPr lang="en-US" sz="1400" dirty="0"/>
          </a:p>
        </p:txBody>
      </p:sp>
      <p:sp>
        <p:nvSpPr>
          <p:cNvPr id="7" name="After 2.9 s image frame"/>
          <p:cNvSpPr/>
          <p:nvPr/>
        </p:nvSpPr>
        <p:spPr>
          <a:xfrm>
            <a:off x="4626864" y="1060704"/>
            <a:ext cx="4096512" cy="2479597"/>
          </a:xfrm>
          <a:prstGeom prst="roundRect">
            <a:avLst>
              <a:gd name="adj" fmla="val 295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After 2.9 s image" descr="/tmp/claude-0/-home-claude/7116491e-74ad-5a48-9637-67025fdd7b6d/scratchpad/deck/speed-of-sound/raceE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97280"/>
            <a:ext cx="4023360" cy="2406445"/>
          </a:xfrm>
          <a:prstGeom prst="rect">
            <a:avLst/>
          </a:prstGeom>
        </p:spPr>
      </p:pic>
      <p:sp>
        <p:nvSpPr>
          <p:cNvPr id="9" name="After 2.9 s text"/>
          <p:cNvSpPr txBox="1"/>
          <p:nvPr/>
        </p:nvSpPr>
        <p:spPr>
          <a:xfrm>
            <a:off x="4663440" y="3640885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Air finally arrives over 1000 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Temperature matters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45720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Formula"/>
          <p:cNvSpPr txBox="1"/>
          <p:nvPr/>
        </p:nvSpPr>
        <p:spPr>
          <a:xfrm>
            <a:off x="64008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v ≈ 332 + 0.6 t</a:t>
            </a:r>
            <a:endParaRPr lang="en-US" sz="2400" dirty="0"/>
          </a:p>
        </p:txBody>
      </p:sp>
      <p:sp>
        <p:nvSpPr>
          <p:cNvPr id="6" name="Points"/>
          <p:cNvSpPr txBox="1"/>
          <p:nvPr/>
        </p:nvSpPr>
        <p:spPr>
          <a:xfrm>
            <a:off x="457200" y="210312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 is the air temperature in °C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About 0.6 m/s faster per degree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Faster in a lighter gas: hydrogen beats oxygen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Frequency and loudness do not matter</a:t>
            </a:r>
            <a:endParaRPr lang="en-US" sz="1600" dirty="0"/>
          </a:p>
        </p:txBody>
      </p:sp>
      <p:sp>
        <p:nvSpPr>
          <p:cNvPr id="7" name="Concept image frame"/>
          <p:cNvSpPr/>
          <p:nvPr/>
        </p:nvSpPr>
        <p:spPr>
          <a:xfrm>
            <a:off x="4809744" y="1106424"/>
            <a:ext cx="3913632" cy="2370213"/>
          </a:xfrm>
          <a:prstGeom prst="roundRect">
            <a:avLst>
              <a:gd name="adj" fmla="val 308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Concept image" descr="/tmp/claude-0/-home-claude/7116491e-74ad-5a48-9637-67025fdd7b6d/scratchpad/deck/speed-of-sound/ra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297061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4846320" y="3549789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Air at 20 °C: 344 m/s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Lightning and thunder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466344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sp>
        <p:nvSpPr>
          <p:cNvPr id="5" name="Formula"/>
          <p:cNvSpPr txBox="1"/>
          <p:nvPr/>
        </p:nvSpPr>
        <p:spPr>
          <a:xfrm>
            <a:off x="484632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distance = v × t</a:t>
            </a:r>
            <a:endParaRPr lang="en-US" sz="2200" dirty="0"/>
          </a:p>
        </p:txBody>
      </p:sp>
      <p:sp>
        <p:nvSpPr>
          <p:cNvPr id="6" name="Points"/>
          <p:cNvSpPr txBox="1"/>
          <p:nvPr/>
        </p:nvSpPr>
        <p:spPr>
          <a:xfrm>
            <a:off x="4663440" y="210312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Light: 3 × 10⁸ m/s, arrives almost at once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Thunder: a few hundred m/s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Count seconds from flash to thunder</a:t>
            </a:r>
            <a:endParaRPr lang="en-US" sz="1600" dirty="0"/>
          </a:p>
        </p:txBody>
      </p:sp>
      <p:sp>
        <p:nvSpPr>
          <p:cNvPr id="7" name="Concept image frame"/>
          <p:cNvSpPr/>
          <p:nvPr/>
        </p:nvSpPr>
        <p:spPr>
          <a:xfrm>
            <a:off x="420624" y="1106424"/>
            <a:ext cx="3913632" cy="2370213"/>
          </a:xfrm>
          <a:prstGeom prst="roundRect">
            <a:avLst>
              <a:gd name="adj" fmla="val 308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Concept image" descr="/tmp/claude-0/-home-claude/7116491e-74ad-5a48-9637-67025fdd7b6d/scratchpad/deck/speed-of-sound/storm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3840480" cy="2297061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457200" y="3549789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3 s at 350 m/s: 1050 m away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examples</a:t>
            </a:r>
            <a:endParaRPr lang="en-US" sz="3000" dirty="0"/>
          </a:p>
        </p:txBody>
      </p:sp>
      <p:sp>
        <p:nvSpPr>
          <p:cNvPr id="4" name="Example card 1"/>
          <p:cNvSpPr/>
          <p:nvPr/>
        </p:nvSpPr>
        <p:spPr>
          <a:xfrm>
            <a:off x="45720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Example head 1"/>
          <p:cNvSpPr txBox="1"/>
          <p:nvPr/>
        </p:nvSpPr>
        <p:spPr>
          <a:xfrm>
            <a:off x="68580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Warm and cold air</a:t>
            </a:r>
            <a:endParaRPr lang="en-US" sz="1800" dirty="0"/>
          </a:p>
        </p:txBody>
      </p:sp>
      <p:sp>
        <p:nvSpPr>
          <p:cNvPr id="6" name="Problem 1"/>
          <p:cNvSpPr txBox="1"/>
          <p:nvPr/>
        </p:nvSpPr>
        <p:spPr>
          <a:xfrm>
            <a:off x="68580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Find v at 20 °C. At what temperature is v = 350 m/s?</a:t>
            </a:r>
            <a:endParaRPr lang="en-US" sz="1500" dirty="0"/>
          </a:p>
        </p:txBody>
      </p:sp>
      <p:sp>
        <p:nvSpPr>
          <p:cNvPr id="7" name="Solution 1"/>
          <p:cNvSpPr txBox="1"/>
          <p:nvPr/>
        </p:nvSpPr>
        <p:spPr>
          <a:xfrm>
            <a:off x="68580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332 + 0.6 × 20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344 m/s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(350 − 332) ÷ 0.6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30 °C</a:t>
            </a:r>
            <a:endParaRPr lang="en-US" sz="1500" dirty="0"/>
          </a:p>
        </p:txBody>
      </p:sp>
      <p:sp>
        <p:nvSpPr>
          <p:cNvPr id="8" name="Example card 2"/>
          <p:cNvSpPr/>
          <p:nvPr/>
        </p:nvSpPr>
        <p:spPr>
          <a:xfrm>
            <a:off x="466344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Example head 2"/>
          <p:cNvSpPr txBox="1"/>
          <p:nvPr/>
        </p:nvSpPr>
        <p:spPr>
          <a:xfrm>
            <a:off x="489204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The storm</a:t>
            </a:r>
            <a:endParaRPr lang="en-US" sz="1800" dirty="0"/>
          </a:p>
        </p:txBody>
      </p:sp>
      <p:sp>
        <p:nvSpPr>
          <p:cNvPr id="10" name="Problem 2"/>
          <p:cNvSpPr txBox="1"/>
          <p:nvPr/>
        </p:nvSpPr>
        <p:spPr>
          <a:xfrm>
            <a:off x="489204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Thunder is heard 3 s after the flash at 30 °C. How far away?</a:t>
            </a:r>
            <a:endParaRPr lang="en-US" sz="1500" dirty="0"/>
          </a:p>
        </p:txBody>
      </p:sp>
      <p:sp>
        <p:nvSpPr>
          <p:cNvPr id="11" name="Solution 2"/>
          <p:cNvSpPr txBox="1"/>
          <p:nvPr/>
        </p:nvSpPr>
        <p:spPr>
          <a:xfrm>
            <a:off x="489204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v = 332 + 18 = 350 m/s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350 × 3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1050 m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An ear to the rail</a:t>
            </a:r>
            <a:endParaRPr lang="en-US" sz="3000" dirty="0"/>
          </a:p>
        </p:txBody>
      </p:sp>
      <p:sp>
        <p:nvSpPr>
          <p:cNvPr id="4" name="Stats image frame"/>
          <p:cNvSpPr/>
          <p:nvPr/>
        </p:nvSpPr>
        <p:spPr>
          <a:xfrm>
            <a:off x="420624" y="1106424"/>
            <a:ext cx="4096512" cy="2479597"/>
          </a:xfrm>
          <a:prstGeom prst="roundRect">
            <a:avLst>
              <a:gd name="adj" fmla="val 295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Stats image" descr="/tmp/claude-0/-home-claude/7116491e-74ad-5a48-9637-67025fdd7b6d/scratchpad/deck/speed-of-sound/race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4023360" cy="2406445"/>
          </a:xfrm>
          <a:prstGeom prst="rect">
            <a:avLst/>
          </a:prstGeom>
        </p:spPr>
      </p:pic>
      <p:sp>
        <p:nvSpPr>
          <p:cNvPr id="6" name="Caption"/>
          <p:cNvSpPr txBox="1"/>
          <p:nvPr/>
        </p:nvSpPr>
        <p:spPr>
          <a:xfrm>
            <a:off x="457200" y="3659173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 tap 1000 m away</a:t>
            </a:r>
            <a:endParaRPr lang="en-US" sz="1100" dirty="0"/>
          </a:p>
        </p:txBody>
      </p:sp>
      <p:sp>
        <p:nvSpPr>
          <p:cNvPr id="7" name="Facts"/>
          <p:cNvSpPr txBox="1"/>
          <p:nvPr/>
        </p:nvSpPr>
        <p:spPr>
          <a:xfrm>
            <a:off x="4846320" y="11430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Through steel and through air (20 °C):</a:t>
            </a:r>
            <a:endParaRPr lang="en-US" sz="1600" dirty="0"/>
          </a:p>
        </p:txBody>
      </p:sp>
      <p:sp>
        <p:nvSpPr>
          <p:cNvPr id="8" name="Stat card 1"/>
          <p:cNvSpPr/>
          <p:nvPr/>
        </p:nvSpPr>
        <p:spPr>
          <a:xfrm>
            <a:off x="484632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Stat 1"/>
          <p:cNvSpPr txBox="1"/>
          <p:nvPr/>
        </p:nvSpPr>
        <p:spPr>
          <a:xfrm>
            <a:off x="498348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0.2 s</a:t>
            </a:r>
            <a:endParaRPr lang="en-US" sz="28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through steel</a:t>
            </a:r>
            <a:endParaRPr lang="en-US" sz="2800" dirty="0"/>
          </a:p>
        </p:txBody>
      </p:sp>
      <p:sp>
        <p:nvSpPr>
          <p:cNvPr id="10" name="Stat card 2"/>
          <p:cNvSpPr/>
          <p:nvPr/>
        </p:nvSpPr>
        <p:spPr>
          <a:xfrm>
            <a:off x="685800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sp>
        <p:nvSpPr>
          <p:cNvPr id="11" name="Stat 2"/>
          <p:cNvSpPr txBox="1"/>
          <p:nvPr/>
        </p:nvSpPr>
        <p:spPr>
          <a:xfrm>
            <a:off x="699516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3"/>
                </a:solidFill>
              </a:rPr>
              <a:t>2.9 s</a:t>
            </a:r>
            <a:endParaRPr lang="en-US" sz="28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through air</a:t>
            </a:r>
            <a:endParaRPr lang="en-US" sz="2800" dirty="0"/>
          </a:p>
        </p:txBody>
      </p:sp>
      <p:sp>
        <p:nvSpPr>
          <p:cNvPr id="12" name="Takeaway"/>
          <p:cNvSpPr txBox="1"/>
          <p:nvPr/>
        </p:nvSpPr>
        <p:spPr>
          <a:xfrm>
            <a:off x="4846320" y="35661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You hear the same tap twice, about 2.7 s apart.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Where it matters</a:t>
            </a:r>
            <a:endParaRPr lang="en-US" sz="3000" dirty="0"/>
          </a:p>
        </p:txBody>
      </p:sp>
      <p:sp>
        <p:nvSpPr>
          <p:cNvPr id="4" name="Card 1"/>
          <p:cNvSpPr/>
          <p:nvPr/>
        </p:nvSpPr>
        <p:spPr>
          <a:xfrm>
            <a:off x="457200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5" name="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548640" cy="548640"/>
          </a:xfrm>
          <a:prstGeom prst="rect">
            <a:avLst/>
          </a:prstGeom>
        </p:spPr>
      </p:pic>
      <p:sp>
        <p:nvSpPr>
          <p:cNvPr id="6" name="Card head 1"/>
          <p:cNvSpPr txBox="1"/>
          <p:nvPr/>
        </p:nvSpPr>
        <p:spPr>
          <a:xfrm>
            <a:off x="731520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Storms</a:t>
            </a:r>
            <a:endParaRPr lang="en-US" sz="1800" dirty="0"/>
          </a:p>
        </p:txBody>
      </p:sp>
      <p:sp>
        <p:nvSpPr>
          <p:cNvPr id="7" name="Card body 1"/>
          <p:cNvSpPr txBox="1"/>
          <p:nvPr/>
        </p:nvSpPr>
        <p:spPr>
          <a:xfrm>
            <a:off x="731520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Time the thunder to judge how far away the lightning is.</a:t>
            </a:r>
            <a:endParaRPr lang="en-US" sz="1400" dirty="0"/>
          </a:p>
        </p:txBody>
      </p:sp>
      <p:sp>
        <p:nvSpPr>
          <p:cNvPr id="8" name="Card 2"/>
          <p:cNvSpPr/>
          <p:nvPr/>
        </p:nvSpPr>
        <p:spPr>
          <a:xfrm>
            <a:off x="2567178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9" name="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1498" y="1463040"/>
            <a:ext cx="548640" cy="548640"/>
          </a:xfrm>
          <a:prstGeom prst="rect">
            <a:avLst/>
          </a:prstGeom>
        </p:spPr>
      </p:pic>
      <p:sp>
        <p:nvSpPr>
          <p:cNvPr id="10" name="Card head 2"/>
          <p:cNvSpPr txBox="1"/>
          <p:nvPr/>
        </p:nvSpPr>
        <p:spPr>
          <a:xfrm>
            <a:off x="2841498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Races</a:t>
            </a:r>
            <a:endParaRPr lang="en-US" sz="1800" dirty="0"/>
          </a:p>
        </p:txBody>
      </p:sp>
      <p:sp>
        <p:nvSpPr>
          <p:cNvPr id="11" name="Card body 2"/>
          <p:cNvSpPr txBox="1"/>
          <p:nvPr/>
        </p:nvSpPr>
        <p:spPr>
          <a:xfrm>
            <a:off x="2841498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Timekeepers start their watches at the smoke, not the bang.</a:t>
            </a:r>
            <a:endParaRPr lang="en-US" sz="1400" dirty="0"/>
          </a:p>
        </p:txBody>
      </p:sp>
      <p:sp>
        <p:nvSpPr>
          <p:cNvPr id="12" name="Card 3"/>
          <p:cNvSpPr/>
          <p:nvPr/>
        </p:nvSpPr>
        <p:spPr>
          <a:xfrm>
            <a:off x="4677156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pic>
        <p:nvPicPr>
          <p:cNvPr id="13" name="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1476" y="1463040"/>
            <a:ext cx="548640" cy="548640"/>
          </a:xfrm>
          <a:prstGeom prst="rect">
            <a:avLst/>
          </a:prstGeom>
        </p:spPr>
      </p:pic>
      <p:sp>
        <p:nvSpPr>
          <p:cNvPr id="14" name="Card head 3"/>
          <p:cNvSpPr txBox="1"/>
          <p:nvPr/>
        </p:nvSpPr>
        <p:spPr>
          <a:xfrm>
            <a:off x="4951476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Railways</a:t>
            </a:r>
            <a:endParaRPr lang="en-US" sz="1800" dirty="0"/>
          </a:p>
        </p:txBody>
      </p:sp>
      <p:sp>
        <p:nvSpPr>
          <p:cNvPr id="15" name="Card body 3"/>
          <p:cNvSpPr txBox="1"/>
          <p:nvPr/>
        </p:nvSpPr>
        <p:spPr>
          <a:xfrm>
            <a:off x="4951476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train is heard through the rail before through the air.</a:t>
            </a:r>
            <a:endParaRPr lang="en-US" sz="1400" dirty="0"/>
          </a:p>
        </p:txBody>
      </p:sp>
      <p:sp>
        <p:nvSpPr>
          <p:cNvPr id="16" name="Card 4"/>
          <p:cNvSpPr/>
          <p:nvPr/>
        </p:nvSpPr>
        <p:spPr>
          <a:xfrm>
            <a:off x="6787134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Icon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1454" y="1463040"/>
            <a:ext cx="548640" cy="548640"/>
          </a:xfrm>
          <a:prstGeom prst="rect">
            <a:avLst/>
          </a:prstGeom>
        </p:spPr>
      </p:pic>
      <p:sp>
        <p:nvSpPr>
          <p:cNvPr id="18" name="Card head 4"/>
          <p:cNvSpPr txBox="1"/>
          <p:nvPr/>
        </p:nvSpPr>
        <p:spPr>
          <a:xfrm>
            <a:off x="7061454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Concerts</a:t>
            </a:r>
            <a:endParaRPr lang="en-US" sz="1800" dirty="0"/>
          </a:p>
        </p:txBody>
      </p:sp>
      <p:sp>
        <p:nvSpPr>
          <p:cNvPr id="19" name="Card body 4"/>
          <p:cNvSpPr txBox="1"/>
          <p:nvPr/>
        </p:nvSpPr>
        <p:spPr>
          <a:xfrm>
            <a:off x="7061454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All notes arrive together: speed does not depend on frequency.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Common mistakes</a:t>
            </a:r>
            <a:endParaRPr lang="en-US" sz="3000" dirty="0"/>
          </a:p>
        </p:txBody>
      </p:sp>
      <p:sp>
        <p:nvSpPr>
          <p:cNvPr id="4" name="Mistake card 1"/>
          <p:cNvSpPr/>
          <p:nvPr/>
        </p:nvSpPr>
        <p:spPr>
          <a:xfrm>
            <a:off x="45720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Cross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365760" cy="365760"/>
          </a:xfrm>
          <a:prstGeom prst="rect">
            <a:avLst/>
          </a:prstGeom>
        </p:spPr>
      </p:pic>
      <p:sp>
        <p:nvSpPr>
          <p:cNvPr id="6" name="Mistake 1"/>
          <p:cNvSpPr txBox="1"/>
          <p:nvPr/>
        </p:nvSpPr>
        <p:spPr>
          <a:xfrm>
            <a:off x="123444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“Fastest in air”</a:t>
            </a:r>
            <a:endParaRPr lang="en-US" sz="1700" dirty="0"/>
          </a:p>
        </p:txBody>
      </p:sp>
      <p:sp>
        <p:nvSpPr>
          <p:cNvPr id="7" name="Fix 1"/>
          <p:cNvSpPr txBox="1"/>
          <p:nvPr/>
        </p:nvSpPr>
        <p:spPr>
          <a:xfrm>
            <a:off x="123444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Slowest in gases, fastest in solids.</a:t>
            </a:r>
            <a:endParaRPr lang="en-US" sz="1400" dirty="0"/>
          </a:p>
        </p:txBody>
      </p:sp>
      <p:sp>
        <p:nvSpPr>
          <p:cNvPr id="8" name="Mistake card 2"/>
          <p:cNvSpPr/>
          <p:nvPr/>
        </p:nvSpPr>
        <p:spPr>
          <a:xfrm>
            <a:off x="466344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9" name="Cross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25880"/>
            <a:ext cx="365760" cy="365760"/>
          </a:xfrm>
          <a:prstGeom prst="rect">
            <a:avLst/>
          </a:prstGeom>
        </p:spPr>
      </p:pic>
      <p:sp>
        <p:nvSpPr>
          <p:cNvPr id="10" name="Mistake 2"/>
          <p:cNvSpPr txBox="1"/>
          <p:nvPr/>
        </p:nvSpPr>
        <p:spPr>
          <a:xfrm>
            <a:off x="544068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“High notes travel faster”</a:t>
            </a:r>
            <a:endParaRPr lang="en-US" sz="1700" dirty="0"/>
          </a:p>
        </p:txBody>
      </p:sp>
      <p:sp>
        <p:nvSpPr>
          <p:cNvPr id="11" name="Fix 2"/>
          <p:cNvSpPr txBox="1"/>
          <p:nvPr/>
        </p:nvSpPr>
        <p:spPr>
          <a:xfrm>
            <a:off x="544068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All frequencies travel together.</a:t>
            </a:r>
            <a:endParaRPr lang="en-US" sz="1400" dirty="0"/>
          </a:p>
        </p:txBody>
      </p:sp>
      <p:sp>
        <p:nvSpPr>
          <p:cNvPr id="12" name="Mistake card 3"/>
          <p:cNvSpPr/>
          <p:nvPr/>
        </p:nvSpPr>
        <p:spPr>
          <a:xfrm>
            <a:off x="45720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3" name="Cross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17520"/>
            <a:ext cx="365760" cy="365760"/>
          </a:xfrm>
          <a:prstGeom prst="rect">
            <a:avLst/>
          </a:prstGeom>
        </p:spPr>
      </p:pic>
      <p:sp>
        <p:nvSpPr>
          <p:cNvPr id="14" name="Mistake 3"/>
          <p:cNvSpPr txBox="1"/>
          <p:nvPr/>
        </p:nvSpPr>
        <p:spPr>
          <a:xfrm>
            <a:off x="123444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Ignoring temperature</a:t>
            </a:r>
            <a:endParaRPr lang="en-US" sz="1700" dirty="0"/>
          </a:p>
        </p:txBody>
      </p:sp>
      <p:sp>
        <p:nvSpPr>
          <p:cNvPr id="15" name="Fix 3"/>
          <p:cNvSpPr txBox="1"/>
          <p:nvPr/>
        </p:nvSpPr>
        <p:spPr>
          <a:xfrm>
            <a:off x="123444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About 0.6 m/s more per °C.</a:t>
            </a:r>
            <a:endParaRPr lang="en-US" sz="1400" dirty="0"/>
          </a:p>
        </p:txBody>
      </p:sp>
      <p:sp>
        <p:nvSpPr>
          <p:cNvPr id="16" name="Mistake card 4"/>
          <p:cNvSpPr/>
          <p:nvPr/>
        </p:nvSpPr>
        <p:spPr>
          <a:xfrm>
            <a:off x="466344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Cross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017520"/>
            <a:ext cx="365760" cy="365760"/>
          </a:xfrm>
          <a:prstGeom prst="rect">
            <a:avLst/>
          </a:prstGeom>
        </p:spPr>
      </p:pic>
      <p:sp>
        <p:nvSpPr>
          <p:cNvPr id="18" name="Mistake 4"/>
          <p:cNvSpPr txBox="1"/>
          <p:nvPr/>
        </p:nvSpPr>
        <p:spPr>
          <a:xfrm>
            <a:off x="544068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“Thunder comes later”</a:t>
            </a:r>
            <a:endParaRPr lang="en-US" sz="1700" dirty="0"/>
          </a:p>
        </p:txBody>
      </p:sp>
      <p:sp>
        <p:nvSpPr>
          <p:cNvPr id="19" name="Fix 4"/>
          <p:cNvSpPr txBox="1"/>
          <p:nvPr/>
        </p:nvSpPr>
        <p:spPr>
          <a:xfrm>
            <a:off x="544068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It happens with the flash; it arrives later.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Quick check</a:t>
            </a:r>
            <a:endParaRPr lang="en-US" sz="3000" dirty="0"/>
          </a:p>
        </p:txBody>
      </p:sp>
      <p:sp>
        <p:nvSpPr>
          <p:cNvPr id="4" name="Question card 1"/>
          <p:cNvSpPr/>
          <p:nvPr/>
        </p:nvSpPr>
        <p:spPr>
          <a:xfrm>
            <a:off x="45720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Number 1"/>
          <p:cNvSpPr txBox="1"/>
          <p:nvPr/>
        </p:nvSpPr>
        <p:spPr>
          <a:xfrm>
            <a:off x="68580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</a:t>
            </a:r>
            <a:endParaRPr lang="en-US" sz="3000" dirty="0"/>
          </a:p>
        </p:txBody>
      </p:sp>
      <p:sp>
        <p:nvSpPr>
          <p:cNvPr id="6" name="Question 1"/>
          <p:cNvSpPr txBox="1"/>
          <p:nvPr/>
        </p:nvSpPr>
        <p:spPr>
          <a:xfrm>
            <a:off x="123444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In which medium does sound travel fastest: air, water or steel?</a:t>
            </a:r>
            <a:endParaRPr lang="en-US" sz="1600" dirty="0"/>
          </a:p>
        </p:txBody>
      </p:sp>
      <p:sp>
        <p:nvSpPr>
          <p:cNvPr id="7" name="Question card 2"/>
          <p:cNvSpPr/>
          <p:nvPr/>
        </p:nvSpPr>
        <p:spPr>
          <a:xfrm>
            <a:off x="466344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Number 2"/>
          <p:cNvSpPr txBox="1"/>
          <p:nvPr/>
        </p:nvSpPr>
        <p:spPr>
          <a:xfrm>
            <a:off x="489204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</a:t>
            </a:r>
            <a:endParaRPr lang="en-US" sz="3000" dirty="0"/>
          </a:p>
        </p:txBody>
      </p:sp>
      <p:sp>
        <p:nvSpPr>
          <p:cNvPr id="9" name="Question 2"/>
          <p:cNvSpPr txBox="1"/>
          <p:nvPr/>
        </p:nvSpPr>
        <p:spPr>
          <a:xfrm>
            <a:off x="544068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Find the speed of sound in air at 25 °C.</a:t>
            </a:r>
            <a:endParaRPr lang="en-US" sz="1600" dirty="0"/>
          </a:p>
        </p:txBody>
      </p:sp>
      <p:sp>
        <p:nvSpPr>
          <p:cNvPr id="10" name="Question card 3"/>
          <p:cNvSpPr/>
          <p:nvPr/>
        </p:nvSpPr>
        <p:spPr>
          <a:xfrm>
            <a:off x="45720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Number 3"/>
          <p:cNvSpPr txBox="1"/>
          <p:nvPr/>
        </p:nvSpPr>
        <p:spPr>
          <a:xfrm>
            <a:off x="68580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</a:t>
            </a:r>
            <a:endParaRPr lang="en-US" sz="3000" dirty="0"/>
          </a:p>
        </p:txBody>
      </p:sp>
      <p:sp>
        <p:nvSpPr>
          <p:cNvPr id="12" name="Question 3"/>
          <p:cNvSpPr txBox="1"/>
          <p:nvPr/>
        </p:nvSpPr>
        <p:spPr>
          <a:xfrm>
            <a:off x="123444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Thunder comes 5 s after the flash (v = 340 m/s). How far away is the storm?</a:t>
            </a:r>
            <a:endParaRPr lang="en-US" sz="1600" dirty="0"/>
          </a:p>
        </p:txBody>
      </p:sp>
      <p:sp>
        <p:nvSpPr>
          <p:cNvPr id="13" name="Question card 4"/>
          <p:cNvSpPr/>
          <p:nvPr/>
        </p:nvSpPr>
        <p:spPr>
          <a:xfrm>
            <a:off x="466344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Number 4"/>
          <p:cNvSpPr txBox="1"/>
          <p:nvPr/>
        </p:nvSpPr>
        <p:spPr>
          <a:xfrm>
            <a:off x="489204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4</a:t>
            </a:r>
            <a:endParaRPr lang="en-US" sz="3000" dirty="0"/>
          </a:p>
        </p:txBody>
      </p:sp>
      <p:sp>
        <p:nvSpPr>
          <p:cNvPr id="15" name="Question 4"/>
          <p:cNvSpPr txBox="1"/>
          <p:nvPr/>
        </p:nvSpPr>
        <p:spPr>
          <a:xfrm>
            <a:off x="544068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Is sound faster in hydrogen or oxygen at the same temperature?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Race some sound yourself</a:t>
            </a:r>
            <a:endParaRPr lang="en-US" sz="3800" dirty="0"/>
          </a:p>
        </p:txBody>
      </p:sp>
      <p:sp>
        <p:nvSpPr>
          <p:cNvPr id="4" name="Call to action"/>
          <p:cNvSpPr txBox="1"/>
          <p:nvPr/>
        </p:nvSpPr>
        <p:spPr>
          <a:xfrm>
            <a:off x="548640" y="30632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Open the Speed of Sound lesson on the Visual Science &amp; Maths website. Change the temperature and the distance, then press Play.</a:t>
            </a:r>
            <a:endParaRPr lang="en-US" sz="1500" dirty="0"/>
          </a:p>
        </p:txBody>
      </p:sp>
      <p:sp>
        <p:nvSpPr>
          <p:cNvPr id="5" name="Next lesson"/>
          <p:cNvSpPr txBox="1"/>
          <p:nvPr/>
        </p:nvSpPr>
        <p:spPr>
          <a:xfrm>
            <a:off x="548640" y="4160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Next lesson: Echo and reverberation</a:t>
            </a:r>
            <a:endParaRPr lang="en-US" sz="1400" dirty="0"/>
          </a:p>
        </p:txBody>
      </p:sp>
      <p:sp>
        <p:nvSpPr>
          <p:cNvPr id="6" name="Closing image frame"/>
          <p:cNvSpPr/>
          <p:nvPr/>
        </p:nvSpPr>
        <p:spPr>
          <a:xfrm>
            <a:off x="4901184" y="1197864"/>
            <a:ext cx="3822192" cy="2315521"/>
          </a:xfrm>
          <a:prstGeom prst="roundRect">
            <a:avLst>
              <a:gd name="adj" fmla="val 315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Closing image" descr="/tmp/claude-0/-home-claude/7116491e-74ad-5a48-9637-67025fdd7b6d/scratchpad/deck/speed-of-sound/storm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24236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isual Science &amp; Maths">
  <a:themeElements>
    <a:clrScheme name="Visual Science &amp; Maths">
      <a:dk1>
        <a:srgbClr val="14232B"/>
      </a:dk1>
      <a:lt1>
        <a:srgbClr val="FFFFFF"/>
      </a:lt1>
      <a:dk2>
        <a:srgbClr val="56676F"/>
      </a:dk2>
      <a:lt2>
        <a:srgbClr val="F4F7F6"/>
      </a:lt2>
      <a:accent1>
        <a:srgbClr val="5B3FD6"/>
      </a:accent1>
      <a:accent2>
        <a:srgbClr val="0B8A7A"/>
      </a:accent2>
      <a:accent3>
        <a:srgbClr val="D9512C"/>
      </a:accent3>
      <a:accent4>
        <a:srgbClr val="ECE9FB"/>
      </a:accent4>
      <a:accent5>
        <a:srgbClr val="D6E0DE"/>
      </a:accent5>
      <a:accent6>
        <a:srgbClr val="E3F3F0"/>
      </a:accent6>
      <a:hlink>
        <a:srgbClr val="5B3FD6"/>
      </a:hlink>
      <a:folHlink>
        <a:srgbClr val="3E2A9E"/>
      </a:folHlink>
    </a:clrScheme>
    <a:fontScheme name="Visual Science &amp; Math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Speed of Sound</dc:title>
  <dc:subject>Std 9 Science, Chapter 12 Study of Sound</dc:subject>
  <dc:creator>Visual Science &amp; Maths</dc:creator>
  <cp:lastModifiedBy>Visual Science &amp; Maths</cp:lastModifiedBy>
  <cp:revision>1</cp:revision>
  <dcterms:created xsi:type="dcterms:W3CDTF">2026-10-08T00:44:45Z</dcterms:created>
  <dcterms:modified xsi:type="dcterms:W3CDTF">2026-10-08T00:44:45Z</dcterms:modified>
</cp:coreProperties>
</file>