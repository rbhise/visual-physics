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eac9cee-4dc5-0bdb-f8a7-24ae264275f0}">
          <p14:sldIdLst>
            <p14:sldId id="256"/>
            <p14:sldId id="257"/>
          </p14:sldIdLst>
        </p14:section>
        <p14:section name="Key ideas" id="{174db180-3d4e-0dff-c2cf-1e2ab073b79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ractice" id="{5054db67-f1cd-d2c8-7de4-b97392ea8f1a}">
          <p14:sldIdLst>
            <p14:sldId id="264"/>
            <p14:sldId id="265"/>
            <p14:sldId id="266"/>
            <p14:sldId id="267"/>
          </p14:sldIdLst>
        </p14:section>
        <p14:section name="Wrap-up" id="{ebdf6f5e-b5d3-604d-5650-b38d0e97d04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 of Chapter 1. Goal: students can tell distance from displacement, calculate both for simple routes, and give displacement with a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far did this person go? Let students argue. Some will say 108 m, some 32 m. Both are right; they are answering different questions. Today we name the two quantities.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passenger is both at rest and in motion. There is no contradiction once we say what we are comparing with. Ask for another example: a person on an escalator, a sleeping passenger on a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violet line: that is the distance. 60 + 40 + 60 + 40 = 200 m. Ask: where did the walker finish? Back at the start. Keep that in mind for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teal arrow is the displacement. It goes straight from Start to the walker, cutting the corner. Ask: in the park lap from the previous slide, what was the displacement? Zero, because the walker ended at the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summary students can copy. Cover one column and ask them to fill it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straight line is the shortest path between two points, so displacement can equal distance but never exceed it. They are equal only for a straight walk in one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textbook activity with two students taking different routes to school. Distance depends on the route; displacement depends only on where you start and finish. The faded line in each picture is the other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legs make a right angle, so displacement comes from Pythagoras: a 3-4-5 triangle scaled by 10. Insist on the direction in the final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predict the displacement after a quarter lap: two radii at right angles, √(50² + 50²) ≈ 70.7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account for most lost marks on this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Distance 10 km, displacement 0. 2) Displacement. 3) Never; a straight line is the shortest path. 4) Both: at rest compared with the train, in motion compared with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draw the route from home to school on squared paper, then measure both the distance and the displacement.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Distance and Displacement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Distance and Displacement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Physics</a:t>
            </a:r>
            <a:endParaRPr lang="en-US" sz="1600" dirty="0"/>
          </a:p>
        </p:txBody>
      </p:sp>
      <p:sp>
        <p:nvSpPr>
          <p:cNvPr id="5" name="Route snapshot frame"/>
          <p:cNvSpPr/>
          <p:nvPr/>
        </p:nvSpPr>
        <p:spPr>
          <a:xfrm>
            <a:off x="4901184" y="1197864"/>
            <a:ext cx="3822192" cy="2463039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Route snapshot" descr="/tmp/claude-0/-home-claude/7116491e-74ad-5a48-9637-67025fdd7b6d/scratchpad/slides/lsh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89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far did you really go?</a:t>
            </a:r>
            <a:endParaRPr lang="en-US" sz="3000" dirty="0"/>
          </a:p>
        </p:txBody>
      </p:sp>
      <p:sp>
        <p:nvSpPr>
          <p:cNvPr id="3" name="Hook text"/>
          <p:cNvSpPr txBox="1"/>
          <p:nvPr/>
        </p:nvSpPr>
        <p:spPr>
          <a:xfrm>
            <a:off x="457200" y="1097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Walk 70 m east along a road, then turn around and head back. Part of the way home, two different numbers describe your trip:</a:t>
            </a:r>
            <a:endParaRPr lang="en-US" sz="1600" dirty="0"/>
          </a:p>
        </p:txBody>
      </p:sp>
      <p:sp>
        <p:nvSpPr>
          <p:cNvPr id="4" name="Distance card"/>
          <p:cNvSpPr/>
          <p:nvPr/>
        </p:nvSpPr>
        <p:spPr>
          <a:xfrm>
            <a:off x="457200" y="233172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Distance stat"/>
          <p:cNvSpPr txBox="1"/>
          <p:nvPr/>
        </p:nvSpPr>
        <p:spPr>
          <a:xfrm>
            <a:off x="594360" y="24231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108 m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walked along the road</a:t>
            </a:r>
            <a:endParaRPr lang="en-US" sz="3600" dirty="0"/>
          </a:p>
        </p:txBody>
      </p:sp>
      <p:sp>
        <p:nvSpPr>
          <p:cNvPr id="6" name="Displacement card"/>
          <p:cNvSpPr/>
          <p:nvPr/>
        </p:nvSpPr>
        <p:spPr>
          <a:xfrm>
            <a:off x="2514600" y="233172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Displacement stat"/>
          <p:cNvSpPr txBox="1"/>
          <p:nvPr/>
        </p:nvSpPr>
        <p:spPr>
          <a:xfrm>
            <a:off x="2651760" y="24231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32 m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east of where you started</a:t>
            </a:r>
            <a:endParaRPr lang="en-US" sz="3600" dirty="0"/>
          </a:p>
        </p:txBody>
      </p:sp>
      <p:sp>
        <p:nvSpPr>
          <p:cNvPr id="8" name="Round trip snapshot frame"/>
          <p:cNvSpPr/>
          <p:nvPr/>
        </p:nvSpPr>
        <p:spPr>
          <a:xfrm>
            <a:off x="4718304" y="1243584"/>
            <a:ext cx="4005072" cy="2579619"/>
          </a:xfrm>
          <a:prstGeom prst="roundRect">
            <a:avLst>
              <a:gd name="adj" fmla="val 283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Round trip snapshot" descr="/tmp/claude-0/-home-claude/7116491e-74ad-5a48-9637-67025fdd7b6d/scratchpad/slides/round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80160"/>
            <a:ext cx="3931920" cy="2506467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75488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Violet: path walked. Teal arrow: start to walker.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Motion depends on the reference point</a:t>
            </a:r>
            <a:endParaRPr lang="en-US" sz="3000" dirty="0"/>
          </a:p>
        </p:txBody>
      </p:sp>
      <p:sp>
        <p:nvSpPr>
          <p:cNvPr id="3" name="Definition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object is in motion when its position changes with respect to its surroundings. We judge this against a fixed point called the reference point.</a:t>
            </a:r>
            <a:endParaRPr lang="en-US" sz="1600" dirty="0"/>
          </a:p>
        </p:txBody>
      </p:sp>
      <p:sp>
        <p:nvSpPr>
          <p:cNvPr id="4" name="Scenario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passenger sits still in a moving bus.</a:t>
            </a:r>
            <a:endParaRPr lang="en-US" sz="1600" dirty="0"/>
          </a:p>
        </p:txBody>
      </p:sp>
      <p:sp>
        <p:nvSpPr>
          <p:cNvPr id="5" name="Reference card 1"/>
          <p:cNvSpPr/>
          <p:nvPr/>
        </p:nvSpPr>
        <p:spPr>
          <a:xfrm>
            <a:off x="457200" y="2286000"/>
            <a:ext cx="3977640" cy="2103120"/>
          </a:xfrm>
          <a:prstGeom prst="roundRect">
            <a:avLst>
              <a:gd name="adj" fmla="val 521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06040"/>
            <a:ext cx="731520" cy="731520"/>
          </a:xfrm>
          <a:prstGeom prst="rect">
            <a:avLst/>
          </a:prstGeom>
        </p:spPr>
      </p:pic>
      <p:sp>
        <p:nvSpPr>
          <p:cNvPr id="7" name="Reference 1"/>
          <p:cNvSpPr txBox="1"/>
          <p:nvPr/>
        </p:nvSpPr>
        <p:spPr>
          <a:xfrm>
            <a:off x="1737360" y="2560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Compared with the seat in front</a:t>
            </a:r>
            <a:endParaRPr lang="en-US" sz="1500" dirty="0"/>
          </a:p>
        </p:txBody>
      </p:sp>
      <p:sp>
        <p:nvSpPr>
          <p:cNvPr id="8" name="Verdict 1"/>
          <p:cNvSpPr txBox="1"/>
          <p:nvPr/>
        </p:nvSpPr>
        <p:spPr>
          <a:xfrm>
            <a:off x="777240" y="3566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AT REST</a:t>
            </a:r>
            <a:endParaRPr lang="en-US" sz="2600" dirty="0"/>
          </a:p>
        </p:txBody>
      </p:sp>
      <p:sp>
        <p:nvSpPr>
          <p:cNvPr id="9" name="Reference card 2"/>
          <p:cNvSpPr/>
          <p:nvPr/>
        </p:nvSpPr>
        <p:spPr>
          <a:xfrm>
            <a:off x="4709160" y="2286000"/>
            <a:ext cx="3977640" cy="2103120"/>
          </a:xfrm>
          <a:prstGeom prst="roundRect">
            <a:avLst>
              <a:gd name="adj" fmla="val 5217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06040"/>
            <a:ext cx="731520" cy="731520"/>
          </a:xfrm>
          <a:prstGeom prst="rect">
            <a:avLst/>
          </a:prstGeom>
        </p:spPr>
      </p:pic>
      <p:sp>
        <p:nvSpPr>
          <p:cNvPr id="11" name="Reference 2"/>
          <p:cNvSpPr txBox="1"/>
          <p:nvPr/>
        </p:nvSpPr>
        <p:spPr>
          <a:xfrm>
            <a:off x="5989320" y="2560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Compared with a tree outside</a:t>
            </a:r>
            <a:endParaRPr lang="en-US" sz="1500" dirty="0"/>
          </a:p>
        </p:txBody>
      </p:sp>
      <p:sp>
        <p:nvSpPr>
          <p:cNvPr id="12" name="Verdict 2"/>
          <p:cNvSpPr txBox="1"/>
          <p:nvPr/>
        </p:nvSpPr>
        <p:spPr>
          <a:xfrm>
            <a:off x="5029200" y="3566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IN MOTION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Distance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: the length of the path</a:t>
            </a:r>
            <a:endParaRPr lang="en-US" sz="3000" dirty="0"/>
          </a:p>
        </p:txBody>
      </p:sp>
      <p:sp>
        <p:nvSpPr>
          <p:cNvPr id="3" name="Distance points"/>
          <p:cNvSpPr txBox="1"/>
          <p:nvPr/>
        </p:nvSpPr>
        <p:spPr>
          <a:xfrm>
            <a:off x="457200" y="11887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total length of the path actually travelled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Has size only, no direction: a scalar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step adds to it, so it never decreases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 in metres (m)</a:t>
            </a:r>
            <a:endParaRPr lang="en-US" sz="1600" dirty="0"/>
          </a:p>
        </p:txBody>
      </p:sp>
      <p:sp>
        <p:nvSpPr>
          <p:cNvPr id="4" name="Park lap snapshot frame"/>
          <p:cNvSpPr/>
          <p:nvPr/>
        </p:nvSpPr>
        <p:spPr>
          <a:xfrm>
            <a:off x="4626864" y="1152144"/>
            <a:ext cx="4096512" cy="2637908"/>
          </a:xfrm>
          <a:prstGeom prst="roundRect">
            <a:avLst>
              <a:gd name="adj" fmla="val 277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Park lap snapshot" descr="/tmp/claude-0/-home-claude/7116491e-74ad-5a48-9637-67025fdd7b6d/scratchpad/slides/p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188720"/>
            <a:ext cx="4023360" cy="2564756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66344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One lap of a 60 m × 40 m park: distance = 200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Displacement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: start to finish</a:t>
            </a:r>
            <a:endParaRPr lang="en-US" sz="3000" dirty="0"/>
          </a:p>
        </p:txBody>
      </p:sp>
      <p:sp>
        <p:nvSpPr>
          <p:cNvPr id="3" name="L-shaped walk snapshot frame"/>
          <p:cNvSpPr/>
          <p:nvPr/>
        </p:nvSpPr>
        <p:spPr>
          <a:xfrm>
            <a:off x="420624" y="1152144"/>
            <a:ext cx="4096512" cy="2637908"/>
          </a:xfrm>
          <a:prstGeom prst="roundRect">
            <a:avLst>
              <a:gd name="adj" fmla="val 277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L-shaped walk snapshot" descr="/tmp/claude-0/-home-claude/7116491e-74ad-5a48-9637-67025fdd7b6d/scratchpad/slides/lsh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564756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57200" y="38404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40 m east, then 30 m north: displacement 50 m, 37° north of east</a:t>
            </a:r>
            <a:endParaRPr lang="en-US" sz="1100" dirty="0"/>
          </a:p>
        </p:txBody>
      </p:sp>
      <p:sp>
        <p:nvSpPr>
          <p:cNvPr id="6" name="Displacement points"/>
          <p:cNvSpPr txBox="1"/>
          <p:nvPr/>
        </p:nvSpPr>
        <p:spPr>
          <a:xfrm>
            <a:off x="4846320" y="11887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minimum distance between the starting and finishing points, in a straight line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Has size and direction: a vector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Ignores the route taken in between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 be zero, even after a long walk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 in metres (m)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Distance or displacement?</a:t>
            </a:r>
            <a:endParaRPr lang="en-US" sz="3000" dirty="0"/>
          </a:p>
        </p:txBody>
      </p:sp>
      <p:graphicFrame>
        <p:nvGraphicFramePr>
          <p:cNvPr id="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Distance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Displacement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Length of the actual path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Straight line from start to finish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Direction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included (scalar)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Included (vector)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Zero while moving?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Yes, after a round trip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Depends on the route?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No, only on start and end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Unit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metre (m)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metre (m)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Displacement is never more than distance</a:t>
            </a:r>
            <a:endParaRPr lang="en-US" sz="3000" dirty="0"/>
          </a:p>
        </p:txBody>
      </p:sp>
      <p:sp>
        <p:nvSpPr>
          <p:cNvPr id="3" name="Straight walk snapshot frame"/>
          <p:cNvSpPr/>
          <p:nvPr/>
        </p:nvSpPr>
        <p:spPr>
          <a:xfrm>
            <a:off x="420624" y="1106424"/>
            <a:ext cx="2679192" cy="1734415"/>
          </a:xfrm>
          <a:prstGeom prst="roundRect">
            <a:avLst>
              <a:gd name="adj" fmla="val 421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Straight walk snapshot" descr="/tmp/claude-0/-home-claude/7116491e-74ad-5a48-9637-67025fdd7b6d/scratchpad/slides/stra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606040" cy="1661263"/>
          </a:xfrm>
          <a:prstGeom prst="rect">
            <a:avLst/>
          </a:prstGeom>
        </p:spPr>
      </p:pic>
      <p:sp>
        <p:nvSpPr>
          <p:cNvPr id="5" name="Straight walk label"/>
          <p:cNvSpPr txBox="1"/>
          <p:nvPr/>
        </p:nvSpPr>
        <p:spPr>
          <a:xfrm>
            <a:off x="457200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Straight walk</a:t>
            </a:r>
            <a:endParaRPr lang="en-US" sz="1500" dirty="0"/>
          </a:p>
        </p:txBody>
      </p:sp>
      <p:sp>
        <p:nvSpPr>
          <p:cNvPr id="6" name="Straight walk values"/>
          <p:cNvSpPr txBox="1"/>
          <p:nvPr/>
        </p:nvSpPr>
        <p:spPr>
          <a:xfrm>
            <a:off x="457200" y="3291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Distance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70 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Displacement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70 m</a:t>
            </a:r>
            <a:endParaRPr lang="en-US" sz="1400" dirty="0"/>
          </a:p>
        </p:txBody>
      </p:sp>
      <p:sp>
        <p:nvSpPr>
          <p:cNvPr id="7" name="Straight walk note"/>
          <p:cNvSpPr txBox="1"/>
          <p:nvPr/>
        </p:nvSpPr>
        <p:spPr>
          <a:xfrm>
            <a:off x="45720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Equal: no turns, no turning back</a:t>
            </a:r>
            <a:endParaRPr lang="en-US" sz="1200" dirty="0"/>
          </a:p>
        </p:txBody>
      </p:sp>
      <p:sp>
        <p:nvSpPr>
          <p:cNvPr id="8" name="Half lap, radius 20 m snapshot frame"/>
          <p:cNvSpPr/>
          <p:nvPr/>
        </p:nvSpPr>
        <p:spPr>
          <a:xfrm>
            <a:off x="3236976" y="1106424"/>
            <a:ext cx="2679192" cy="1734415"/>
          </a:xfrm>
          <a:prstGeom prst="roundRect">
            <a:avLst>
              <a:gd name="adj" fmla="val 421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Half lap, radius 20 m snapshot" descr="/tmp/claude-0/-home-claude/7116491e-74ad-5a48-9637-67025fdd7b6d/scratchpad/slides/halfL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143000"/>
            <a:ext cx="2606040" cy="1661263"/>
          </a:xfrm>
          <a:prstGeom prst="rect">
            <a:avLst/>
          </a:prstGeom>
        </p:spPr>
      </p:pic>
      <p:sp>
        <p:nvSpPr>
          <p:cNvPr id="10" name="Half lap, radius 20 m label"/>
          <p:cNvSpPr txBox="1"/>
          <p:nvPr/>
        </p:nvSpPr>
        <p:spPr>
          <a:xfrm>
            <a:off x="3273552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Half lap, radius 20 m</a:t>
            </a:r>
            <a:endParaRPr lang="en-US" sz="1500" dirty="0"/>
          </a:p>
        </p:txBody>
      </p:sp>
      <p:sp>
        <p:nvSpPr>
          <p:cNvPr id="11" name="Half lap, radius 20 m values"/>
          <p:cNvSpPr txBox="1"/>
          <p:nvPr/>
        </p:nvSpPr>
        <p:spPr>
          <a:xfrm>
            <a:off x="3273552" y="3291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Distance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62.8 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Displacement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40 m</a:t>
            </a:r>
            <a:endParaRPr lang="en-US" sz="1400" dirty="0"/>
          </a:p>
        </p:txBody>
      </p:sp>
      <p:sp>
        <p:nvSpPr>
          <p:cNvPr id="12" name="Half lap, radius 20 m note"/>
          <p:cNvSpPr txBox="1"/>
          <p:nvPr/>
        </p:nvSpPr>
        <p:spPr>
          <a:xfrm>
            <a:off x="3273552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Displacement is the diameter</a:t>
            </a:r>
            <a:endParaRPr lang="en-US" sz="1200" dirty="0"/>
          </a:p>
        </p:txBody>
      </p:sp>
      <p:sp>
        <p:nvSpPr>
          <p:cNvPr id="13" name="Full lap snapshot frame"/>
          <p:cNvSpPr/>
          <p:nvPr/>
        </p:nvSpPr>
        <p:spPr>
          <a:xfrm>
            <a:off x="6053328" y="1106424"/>
            <a:ext cx="2679192" cy="1734415"/>
          </a:xfrm>
          <a:prstGeom prst="roundRect">
            <a:avLst>
              <a:gd name="adj" fmla="val 421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Full lap snapshot" descr="/tmp/claude-0/-home-claude/7116491e-74ad-5a48-9637-67025fdd7b6d/scratchpad/slides/full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1143000"/>
            <a:ext cx="2606040" cy="1661263"/>
          </a:xfrm>
          <a:prstGeom prst="rect">
            <a:avLst/>
          </a:prstGeom>
        </p:spPr>
      </p:pic>
      <p:sp>
        <p:nvSpPr>
          <p:cNvPr id="15" name="Full lap label"/>
          <p:cNvSpPr txBox="1"/>
          <p:nvPr/>
        </p:nvSpPr>
        <p:spPr>
          <a:xfrm>
            <a:off x="6089904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Full lap</a:t>
            </a:r>
            <a:endParaRPr lang="en-US" sz="1500" dirty="0"/>
          </a:p>
        </p:txBody>
      </p:sp>
      <p:sp>
        <p:nvSpPr>
          <p:cNvPr id="16" name="Full lap values"/>
          <p:cNvSpPr txBox="1"/>
          <p:nvPr/>
        </p:nvSpPr>
        <p:spPr>
          <a:xfrm>
            <a:off x="6089904" y="3291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Distance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125.6 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Displacement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 m</a:t>
            </a:r>
            <a:endParaRPr lang="en-US" sz="1400" dirty="0"/>
          </a:p>
        </p:txBody>
      </p:sp>
      <p:sp>
        <p:nvSpPr>
          <p:cNvPr id="17" name="Full lap note"/>
          <p:cNvSpPr txBox="1"/>
          <p:nvPr/>
        </p:nvSpPr>
        <p:spPr>
          <a:xfrm>
            <a:off x="6089904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Back at the start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routes, one displacement</a:t>
            </a:r>
            <a:endParaRPr lang="en-US" sz="3000" dirty="0"/>
          </a:p>
        </p:txBody>
      </p:sp>
      <p:sp>
        <p:nvSpPr>
          <p:cNvPr id="3" name="Route A snapshot frame"/>
          <p:cNvSpPr/>
          <p:nvPr/>
        </p:nvSpPr>
        <p:spPr>
          <a:xfrm>
            <a:off x="420624" y="1060704"/>
            <a:ext cx="4096512" cy="2637908"/>
          </a:xfrm>
          <a:prstGeom prst="roundRect">
            <a:avLst>
              <a:gd name="adj" fmla="val 277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Route A snapshot" descr="/tmp/claude-0/-home-claude/7116491e-74ad-5a48-9637-67025fdd7b6d/scratchpad/slides/schoo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64756"/>
          </a:xfrm>
          <a:prstGeom prst="rect">
            <a:avLst/>
          </a:prstGeom>
        </p:spPr>
      </p:pic>
      <p:sp>
        <p:nvSpPr>
          <p:cNvPr id="5" name="Route A values"/>
          <p:cNvSpPr txBox="1"/>
          <p:nvPr/>
        </p:nvSpPr>
        <p:spPr>
          <a:xfrm>
            <a:off x="45720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Route A 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Distance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105 m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Displacement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78.3 m</a:t>
            </a:r>
            <a:endParaRPr lang="en-US" sz="1400" dirty="0"/>
          </a:p>
        </p:txBody>
      </p:sp>
      <p:sp>
        <p:nvSpPr>
          <p:cNvPr id="6" name="Route B snapshot frame"/>
          <p:cNvSpPr/>
          <p:nvPr/>
        </p:nvSpPr>
        <p:spPr>
          <a:xfrm>
            <a:off x="4626864" y="1060704"/>
            <a:ext cx="4096512" cy="2637908"/>
          </a:xfrm>
          <a:prstGeom prst="roundRect">
            <a:avLst>
              <a:gd name="adj" fmla="val 277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Route B snapshot" descr="/tmp/claude-0/-home-claude/7116491e-74ad-5a48-9637-67025fdd7b6d/scratchpad/slides/schoo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64756"/>
          </a:xfrm>
          <a:prstGeom prst="rect">
            <a:avLst/>
          </a:prstGeom>
        </p:spPr>
      </p:pic>
      <p:sp>
        <p:nvSpPr>
          <p:cNvPr id="8" name="Route B values"/>
          <p:cNvSpPr txBox="1"/>
          <p:nvPr/>
        </p:nvSpPr>
        <p:spPr>
          <a:xfrm>
            <a:off x="466344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Route B 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Distance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119 m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Displacement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78.3 m</a:t>
            </a:r>
            <a:endParaRPr lang="en-US" sz="1400" dirty="0"/>
          </a:p>
        </p:txBody>
      </p:sp>
      <p:sp>
        <p:nvSpPr>
          <p:cNvPr id="9" name="Takeaway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Same home, same school: the displacement is identical (78.3 m, 27° north of east) however you get there.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going to the shop</a:t>
            </a:r>
            <a:endParaRPr lang="en-US" sz="3000" dirty="0"/>
          </a:p>
        </p:txBody>
      </p:sp>
      <p:sp>
        <p:nvSpPr>
          <p:cNvPr id="3" name="Problem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Riya walks 40 m east and then 30 m north to reach a shop. Find the distance she walked and her displacement.</a:t>
            </a:r>
            <a:endParaRPr lang="en-US" sz="1600" dirty="0"/>
          </a:p>
        </p:txBody>
      </p:sp>
      <p:sp>
        <p:nvSpPr>
          <p:cNvPr id="4" name="Solution steps"/>
          <p:cNvSpPr txBox="1"/>
          <p:nvPr/>
        </p:nvSpPr>
        <p:spPr>
          <a:xfrm>
            <a:off x="457200" y="178308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Distance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40 + 30 = 70 m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Displacement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√(40² + 30²) = √2500 = 50 m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Direction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tan θ = 30 / 40, so θ ≈ 37° north of east</a:t>
            </a:r>
            <a:endParaRPr lang="en-US" sz="1600" dirty="0"/>
          </a:p>
        </p:txBody>
      </p:sp>
      <p:sp>
        <p:nvSpPr>
          <p:cNvPr id="5" name="Riya route snapshot frame"/>
          <p:cNvSpPr/>
          <p:nvPr/>
        </p:nvSpPr>
        <p:spPr>
          <a:xfrm>
            <a:off x="4809744" y="1746504"/>
            <a:ext cx="3913632" cy="2521329"/>
          </a:xfrm>
          <a:prstGeom prst="roundRect">
            <a:avLst>
              <a:gd name="adj" fmla="val 290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Riya route snapshot" descr="/tmp/claude-0/-home-claude/7116491e-74ad-5a48-9637-67025fdd7b6d/scratchpad/slides/lsh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83080"/>
            <a:ext cx="3840480" cy="2448177"/>
          </a:xfrm>
          <a:prstGeom prst="rect">
            <a:avLst/>
          </a:prstGeom>
        </p:spPr>
      </p:pic>
      <p:sp>
        <p:nvSpPr>
          <p:cNvPr id="7" name="Answer card"/>
          <p:cNvSpPr/>
          <p:nvPr/>
        </p:nvSpPr>
        <p:spPr>
          <a:xfrm>
            <a:off x="4846320" y="4315968"/>
            <a:ext cx="3840480" cy="365760"/>
          </a:xfrm>
          <a:prstGeom prst="roundRect">
            <a:avLst>
              <a:gd name="adj" fmla="val 3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Answer"/>
          <p:cNvSpPr txBox="1"/>
          <p:nvPr/>
        </p:nvSpPr>
        <p:spPr>
          <a:xfrm>
            <a:off x="4983480" y="43159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Answer: 70 m; 50 m, 37° north of east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round the track</a:t>
            </a:r>
            <a:endParaRPr lang="en-US" sz="3000" dirty="0"/>
          </a:p>
        </p:txBody>
      </p:sp>
      <p:sp>
        <p:nvSpPr>
          <p:cNvPr id="3" name="Problem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An athlete runs around a circular track of radius 50 m. Circumference = 2πr = 2 × 3.14 × 50 = 314 m.</a:t>
            </a:r>
            <a:endParaRPr lang="en-US" sz="1600" dirty="0"/>
          </a:p>
        </p:txBody>
      </p:sp>
      <p:sp>
        <p:nvSpPr>
          <p:cNvPr id="4" name="After half a lap card"/>
          <p:cNvSpPr/>
          <p:nvPr/>
        </p:nvSpPr>
        <p:spPr>
          <a:xfrm>
            <a:off x="457200" y="1783080"/>
            <a:ext cx="4206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fter half a lap"/>
          <p:cNvSpPr txBox="1"/>
          <p:nvPr/>
        </p:nvSpPr>
        <p:spPr>
          <a:xfrm>
            <a:off x="640080" y="1892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After half a lap</a:t>
            </a:r>
            <a:endParaRPr lang="en-US" sz="1500" dirty="0"/>
          </a:p>
        </p:txBody>
      </p:sp>
      <p:sp>
        <p:nvSpPr>
          <p:cNvPr id="6" name="After half a lap values"/>
          <p:cNvSpPr txBox="1"/>
          <p:nvPr/>
        </p:nvSpPr>
        <p:spPr>
          <a:xfrm>
            <a:off x="640080" y="2221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157 m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distance   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100 m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displacement</a:t>
            </a:r>
            <a:endParaRPr lang="en-US" sz="2200" dirty="0"/>
          </a:p>
        </p:txBody>
      </p:sp>
      <p:sp>
        <p:nvSpPr>
          <p:cNvPr id="7" name="After half a lap note"/>
          <p:cNvSpPr txBox="1"/>
          <p:nvPr/>
        </p:nvSpPr>
        <p:spPr>
          <a:xfrm>
            <a:off x="64008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Directly across: displacement = diameter = 2r</a:t>
            </a:r>
            <a:endParaRPr lang="en-US" sz="1200" dirty="0"/>
          </a:p>
        </p:txBody>
      </p:sp>
      <p:sp>
        <p:nvSpPr>
          <p:cNvPr id="8" name="After a full lap card"/>
          <p:cNvSpPr/>
          <p:nvPr/>
        </p:nvSpPr>
        <p:spPr>
          <a:xfrm>
            <a:off x="457200" y="3154680"/>
            <a:ext cx="4206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fter a full lap"/>
          <p:cNvSpPr txBox="1"/>
          <p:nvPr/>
        </p:nvSpPr>
        <p:spPr>
          <a:xfrm>
            <a:off x="640080" y="3264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After a full lap</a:t>
            </a:r>
            <a:endParaRPr lang="en-US" sz="1500" dirty="0"/>
          </a:p>
        </p:txBody>
      </p:sp>
      <p:sp>
        <p:nvSpPr>
          <p:cNvPr id="10" name="After a full lap values"/>
          <p:cNvSpPr txBox="1"/>
          <p:nvPr/>
        </p:nvSpPr>
        <p:spPr>
          <a:xfrm>
            <a:off x="640080" y="3593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314 m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distance   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 m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displacement</a:t>
            </a:r>
            <a:endParaRPr lang="en-US" sz="2200" dirty="0"/>
          </a:p>
        </p:txBody>
      </p:sp>
      <p:sp>
        <p:nvSpPr>
          <p:cNvPr id="11" name="After a full lap note"/>
          <p:cNvSpPr txBox="1"/>
          <p:nvPr/>
        </p:nvSpPr>
        <p:spPr>
          <a:xfrm>
            <a:off x="64008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Back at the start</a:t>
            </a:r>
            <a:endParaRPr lang="en-US" sz="1200" dirty="0"/>
          </a:p>
        </p:txBody>
      </p:sp>
      <p:sp>
        <p:nvSpPr>
          <p:cNvPr id="12" name="Half lap snapshot frame"/>
          <p:cNvSpPr/>
          <p:nvPr/>
        </p:nvSpPr>
        <p:spPr>
          <a:xfrm>
            <a:off x="4901184" y="1746504"/>
            <a:ext cx="3822192" cy="2463039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3" name="Half lap snapshot" descr="/tmp/claude-0/-home-claude/7116491e-74ad-5a48-9637-67025fdd7b6d/scratchpad/slides/halfL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783080"/>
            <a:ext cx="3749040" cy="2389887"/>
          </a:xfrm>
          <a:prstGeom prst="rect">
            <a:avLst/>
          </a:prstGeom>
        </p:spPr>
      </p:pic>
      <p:sp>
        <p:nvSpPr>
          <p:cNvPr id="14" name="Caption"/>
          <p:cNvSpPr txBox="1"/>
          <p:nvPr/>
        </p:nvSpPr>
        <p:spPr>
          <a:xfrm>
            <a:off x="4937760" y="4251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same idea in the simulation, on a 20 m track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3" name="Mistake card 1"/>
          <p:cNvSpPr/>
          <p:nvPr/>
        </p:nvSpPr>
        <p:spPr>
          <a:xfrm>
            <a:off x="457200" y="118872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411480" cy="411480"/>
          </a:xfrm>
          <a:prstGeom prst="rect">
            <a:avLst/>
          </a:prstGeom>
        </p:spPr>
      </p:pic>
      <p:sp>
        <p:nvSpPr>
          <p:cNvPr id="5" name="Mistake 1"/>
          <p:cNvSpPr txBox="1"/>
          <p:nvPr/>
        </p:nvSpPr>
        <p:spPr>
          <a:xfrm>
            <a:off x="685800" y="2011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Leaving out the direction</a:t>
            </a:r>
            <a:endParaRPr lang="en-US" sz="1800" dirty="0"/>
          </a:p>
        </p:txBody>
      </p:sp>
      <p:sp>
        <p:nvSpPr>
          <p:cNvPr id="6" name="Fix 1"/>
          <p:cNvSpPr txBox="1"/>
          <p:nvPr/>
        </p:nvSpPr>
        <p:spPr>
          <a:xfrm>
            <a:off x="685800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“50 m” is incomplete. Write “50 m, 37° north of east”.</a:t>
            </a:r>
            <a:endParaRPr lang="en-US" sz="1400" dirty="0"/>
          </a:p>
        </p:txBody>
      </p:sp>
      <p:sp>
        <p:nvSpPr>
          <p:cNvPr id="7" name="Mistake card 2"/>
          <p:cNvSpPr/>
          <p:nvPr/>
        </p:nvSpPr>
        <p:spPr>
          <a:xfrm>
            <a:off x="3273552" y="118872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417320"/>
            <a:ext cx="411480" cy="411480"/>
          </a:xfrm>
          <a:prstGeom prst="rect">
            <a:avLst/>
          </a:prstGeom>
        </p:spPr>
      </p:pic>
      <p:sp>
        <p:nvSpPr>
          <p:cNvPr id="9" name="Mistake 2"/>
          <p:cNvSpPr txBox="1"/>
          <p:nvPr/>
        </p:nvSpPr>
        <p:spPr>
          <a:xfrm>
            <a:off x="3502152" y="2011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Adding the legs</a:t>
            </a:r>
            <a:endParaRPr lang="en-US" sz="1800" dirty="0"/>
          </a:p>
        </p:txBody>
      </p:sp>
      <p:sp>
        <p:nvSpPr>
          <p:cNvPr id="10" name="Fix 2"/>
          <p:cNvSpPr txBox="1"/>
          <p:nvPr/>
        </p:nvSpPr>
        <p:spPr>
          <a:xfrm>
            <a:off x="3502152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40 m east + 30 m north is not 70 m of displacement. Draw the straight line.</a:t>
            </a:r>
            <a:endParaRPr lang="en-US" sz="1400" dirty="0"/>
          </a:p>
        </p:txBody>
      </p:sp>
      <p:sp>
        <p:nvSpPr>
          <p:cNvPr id="11" name="Mistake card 3"/>
          <p:cNvSpPr/>
          <p:nvPr/>
        </p:nvSpPr>
        <p:spPr>
          <a:xfrm>
            <a:off x="6089904" y="118872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417320"/>
            <a:ext cx="411480" cy="411480"/>
          </a:xfrm>
          <a:prstGeom prst="rect">
            <a:avLst/>
          </a:prstGeom>
        </p:spPr>
      </p:pic>
      <p:sp>
        <p:nvSpPr>
          <p:cNvPr id="13" name="Mistake 3"/>
          <p:cNvSpPr txBox="1"/>
          <p:nvPr/>
        </p:nvSpPr>
        <p:spPr>
          <a:xfrm>
            <a:off x="6318504" y="2011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Zero means no motion</a:t>
            </a:r>
            <a:endParaRPr lang="en-US" sz="1800" dirty="0"/>
          </a:p>
        </p:txBody>
      </p:sp>
      <p:sp>
        <p:nvSpPr>
          <p:cNvPr id="14" name="Fix 3"/>
          <p:cNvSpPr txBox="1"/>
          <p:nvPr/>
        </p:nvSpPr>
        <p:spPr>
          <a:xfrm>
            <a:off x="6318504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full lap is plenty of motion. Only the start and end points coincide.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3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Question 1"/>
          <p:cNvSpPr txBox="1"/>
          <p:nvPr/>
        </p:nvSpPr>
        <p:spPr>
          <a:xfrm>
            <a:off x="1234440" y="134416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car drives 5 km east, then 5 km west. Distance and displacement?</a:t>
            </a:r>
            <a:endParaRPr lang="en-US" sz="1600" dirty="0"/>
          </a:p>
        </p:txBody>
      </p:sp>
      <p:sp>
        <p:nvSpPr>
          <p:cNvPr id="6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8" name="Question 2"/>
          <p:cNvSpPr txBox="1"/>
          <p:nvPr/>
        </p:nvSpPr>
        <p:spPr>
          <a:xfrm>
            <a:off x="5440680" y="134416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is a vector: distance, displacement or time?</a:t>
            </a:r>
            <a:endParaRPr lang="en-US" sz="1600" dirty="0"/>
          </a:p>
        </p:txBody>
      </p:sp>
      <p:sp>
        <p:nvSpPr>
          <p:cNvPr id="9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1" name="Question 3"/>
          <p:cNvSpPr txBox="1"/>
          <p:nvPr/>
        </p:nvSpPr>
        <p:spPr>
          <a:xfrm>
            <a:off x="1234440" y="303580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displacement ever be larger than distance?</a:t>
            </a:r>
            <a:endParaRPr lang="en-US" sz="1600" dirty="0"/>
          </a:p>
        </p:txBody>
      </p:sp>
      <p:sp>
        <p:nvSpPr>
          <p:cNvPr id="12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Question 4"/>
          <p:cNvSpPr txBox="1"/>
          <p:nvPr/>
        </p:nvSpPr>
        <p:spPr>
          <a:xfrm>
            <a:off x="5440680" y="303580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a student sitting in a moving train at rest or in motion?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Walk your own routes</a:t>
            </a:r>
            <a:endParaRPr lang="en-US" sz="4000" dirty="0"/>
          </a:p>
        </p:txBody>
      </p:sp>
      <p:sp>
        <p:nvSpPr>
          <p:cNvPr id="3" name="Call to action"/>
          <p:cNvSpPr txBox="1"/>
          <p:nvPr/>
        </p:nvSpPr>
        <p:spPr>
          <a:xfrm>
            <a:off x="548640" y="30175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Distance and Displacement lesson on the Visual Physics website. Tap the map to draw any route and watch both numbers change.</a:t>
            </a:r>
            <a:endParaRPr lang="en-US" sz="1500" dirty="0"/>
          </a:p>
        </p:txBody>
      </p:sp>
      <p:sp>
        <p:nvSpPr>
          <p:cNvPr id="4" name="Next lesson"/>
          <p:cNvSpPr txBox="1"/>
          <p:nvPr/>
        </p:nvSpPr>
        <p:spPr>
          <a:xfrm>
            <a:off x="54864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Speed and velocity</a:t>
            </a:r>
            <a:endParaRPr lang="en-US" sz="1400" dirty="0"/>
          </a:p>
        </p:txBody>
      </p:sp>
      <p:sp>
        <p:nvSpPr>
          <p:cNvPr id="5" name="Closing snapshot frame"/>
          <p:cNvSpPr/>
          <p:nvPr/>
        </p:nvSpPr>
        <p:spPr>
          <a:xfrm>
            <a:off x="4901184" y="1197864"/>
            <a:ext cx="3822192" cy="2463039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losing snapshot" descr="/tmp/claude-0/-home-claude/7116491e-74ad-5a48-9637-67025fdd7b6d/scratchpad/slides/halfL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898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Distance and Displacement</dc:title>
  <dc:subject>Std 9 Science, Chapter 1 Laws of Motion</dc:subject>
  <dc:creator>Visual Physics</dc:creator>
  <cp:lastModifiedBy>Visual Physics</cp:lastModifiedBy>
  <cp:revision>1</cp:revision>
  <dcterms:created xsi:type="dcterms:W3CDTF">2026-10-06T01:03:07Z</dcterms:created>
  <dcterms:modified xsi:type="dcterms:W3CDTF">2026-10-06T01:03:07Z</dcterms:modified>
</cp:coreProperties>
</file>