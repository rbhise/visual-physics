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05892c4-1ad2-c826-bd75-b0af80427fa5}">
          <p14:sldIdLst>
            <p14:sldId id="256"/>
            <p14:sldId id="257"/>
          </p14:sldIdLst>
        </p14:section>
        <p14:section name="Key ideas" id="{699c61a8-25c3-3404-705a-eac122429f26}">
          <p14:sldIdLst>
            <p14:sldId id="258"/>
            <p14:sldId id="259"/>
            <p14:sldId id="260"/>
            <p14:sldId id="261"/>
            <p14:sldId id="262"/>
          </p14:sldIdLst>
        </p14:section>
        <p14:section name="Practice" id="{29b57cc9-84e3-02ac-8884-81053e1b3c7e}">
          <p14:sldIdLst>
            <p14:sldId id="263"/>
            <p14:sldId id="264"/>
            <p14:sldId id="265"/>
            <p14:sldId id="266"/>
          </p14:sldIdLst>
        </p14:section>
        <p14:section name="Wrap-up" id="{1b97ddf1-a998-b27c-6951-61b509b0aa42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read speed from the slope of a distance–time graph, acceleration from the slope of a velocity–time graph, and distance from the area under a velocity–time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point to where the train speeds up, cruises and brakes on each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Slope = rise ÷ run = distance ÷ time =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flat line the area is a rectangle, velocity × time, which is exactly distance. That makes the area rule easy to believe.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can copy this table. Cover a column and quiz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motion looks different on the two graphs. A curve on one can be a straight line on the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Area: 8 × 4 = 32, then ½ × 2 × 8 = 8 while braking, 0 while waiting, ½ × 2 × 8 = 8 while setting off. 32 + 8 + 8 = 48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students to read the axes and units before calculating the slope.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the area into a triangle, a rectangle and a triangle.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flat-line confusion is the most common exam error on this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At rest. 2) Acceleration. 3) 20 m (area 5 × 4). 4) Speeding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sketch both graphs for your journey to school, with labels for each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Motion Graphs · Std 9 Ch.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 LAWS OF MOTION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Motion Graphs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5 · Visual Physics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5062506" y="1197864"/>
            <a:ext cx="3499549" cy="3227832"/>
          </a:xfrm>
          <a:prstGeom prst="roundRect">
            <a:avLst>
              <a:gd name="adj" fmla="val 22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motion-graphs/t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9082" y="1234440"/>
            <a:ext cx="3426397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journey in one picture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train leaves a station, runs at a steady speed, then brakes into the next station.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Can you see all three parts in the graphs?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971066" y="1152144"/>
            <a:ext cx="3499549" cy="3227832"/>
          </a:xfrm>
          <a:prstGeom prst="roundRect">
            <a:avLst>
              <a:gd name="adj" fmla="val 22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motion-graphs/train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7642" y="1188720"/>
            <a:ext cx="3426397" cy="315468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44531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Top: distance against time. Bottom: velocity against time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Distance–time graphs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slope = speed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Straight sloping line: uniform motion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Steeper line: higher speed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Flat line: at rest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Curve getting steeper: speeding up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5016786" y="1106424"/>
            <a:ext cx="3499549" cy="3227832"/>
          </a:xfrm>
          <a:prstGeom prst="roundRect">
            <a:avLst>
              <a:gd name="adj" fmla="val 22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motion-graphs/stea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3362" y="1143000"/>
            <a:ext cx="3426397" cy="3154680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4407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Steady speed: a straight distance line, a flat velocity line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Velocity–time graphs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slope = acceleration</a:t>
            </a:r>
            <a:endParaRPr lang="en-US" sz="22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Flat line above zero: uniform velocity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Straight line sloping up: uniform acceleration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Sloping down: deceleration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Area under the graph = distance travelled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627666" y="1106424"/>
            <a:ext cx="3499549" cy="3227832"/>
          </a:xfrm>
          <a:prstGeom prst="roundRect">
            <a:avLst>
              <a:gd name="adj" fmla="val 22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motion-graphs/t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242" y="1143000"/>
            <a:ext cx="3426397" cy="3154680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4407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shaded area equals the distance so far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Shapes at a glance</a:t>
            </a:r>
            <a:endParaRPr lang="en-US" sz="30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2834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Motion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Distance–time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Velocity–time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At rest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Flat line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Flat line on zero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Uniform speed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Straight sloping line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Flat line above zero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Speeding up uniformly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Curve getting steeper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Straight line sloping up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Slowing down uniformly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Curve getting flatter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Straight line sloping down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Steady speed or speeding up?</a:t>
            </a:r>
            <a:endParaRPr lang="en-US" sz="3000" dirty="0"/>
          </a:p>
        </p:txBody>
      </p:sp>
      <p:sp>
        <p:nvSpPr>
          <p:cNvPr id="4" name="Steady image frame"/>
          <p:cNvSpPr/>
          <p:nvPr/>
        </p:nvSpPr>
        <p:spPr>
          <a:xfrm>
            <a:off x="892908" y="1060704"/>
            <a:ext cx="3151943" cy="2907792"/>
          </a:xfrm>
          <a:prstGeom prst="roundRect">
            <a:avLst>
              <a:gd name="adj" fmla="val 251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eady image" descr="/tmp/claude-0/-home-claude/7116491e-74ad-5a48-9637-67025fdd7b6d/scratchpad/deck/motion-graphs/stea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484" y="1097280"/>
            <a:ext cx="3078791" cy="2834640"/>
          </a:xfrm>
          <a:prstGeom prst="rect">
            <a:avLst/>
          </a:prstGeom>
        </p:spPr>
      </p:pic>
      <p:sp>
        <p:nvSpPr>
          <p:cNvPr id="6" name="Steady text"/>
          <p:cNvSpPr txBox="1"/>
          <p:nvPr/>
        </p:nvSpPr>
        <p:spPr>
          <a:xfrm>
            <a:off x="45720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Distance: straight line. Velocity: flat line.</a:t>
            </a:r>
            <a:endParaRPr lang="en-US" sz="1400" dirty="0"/>
          </a:p>
        </p:txBody>
      </p:sp>
      <p:sp>
        <p:nvSpPr>
          <p:cNvPr id="7" name="Speeding up image frame"/>
          <p:cNvSpPr/>
          <p:nvPr/>
        </p:nvSpPr>
        <p:spPr>
          <a:xfrm>
            <a:off x="5099148" y="1060704"/>
            <a:ext cx="3151943" cy="2907792"/>
          </a:xfrm>
          <a:prstGeom prst="roundRect">
            <a:avLst>
              <a:gd name="adj" fmla="val 251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Speeding up image" descr="/tmp/claude-0/-home-claude/7116491e-74ad-5a48-9637-67025fdd7b6d/scratchpad/deck/motion-graphs/speed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724" y="1097280"/>
            <a:ext cx="3078791" cy="2834640"/>
          </a:xfrm>
          <a:prstGeom prst="rect">
            <a:avLst/>
          </a:prstGeom>
        </p:spPr>
      </p:pic>
      <p:sp>
        <p:nvSpPr>
          <p:cNvPr id="9" name="Speeding up text"/>
          <p:cNvSpPr txBox="1"/>
          <p:nvPr/>
        </p:nvSpPr>
        <p:spPr>
          <a:xfrm>
            <a:off x="466344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Distance: curve getting steeper. Velocity: straight line rising.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Stopping at a signal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719106" y="1106424"/>
            <a:ext cx="3499549" cy="3227832"/>
          </a:xfrm>
          <a:prstGeom prst="roundRect">
            <a:avLst>
              <a:gd name="adj" fmla="val 22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motion-graphs/sig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82" y="1143000"/>
            <a:ext cx="3426397" cy="315468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44074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8 m/s, brake, wait 2 s, set off again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the stop on both graphs: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Flat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distance line while waiting</a:t>
            </a:r>
            <a:endParaRPr lang="en-US" sz="24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 m/s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velocity while waiting</a:t>
            </a:r>
            <a:endParaRPr lang="en-US" sz="24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Total distance: 48 m, the area under the velocity graph.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Reading a distance–time graph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cyclist's distance–time graph is a straight line from (0 s, 0 m) to (5 s, 30 m). Describe her motion and find her speed.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Straight sloping line: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uniform motion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Speed = slope = 30 ÷ 5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6 m/s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5016786" y="1106424"/>
            <a:ext cx="3499549" cy="3227832"/>
          </a:xfrm>
          <a:prstGeom prst="roundRect">
            <a:avLst>
              <a:gd name="adj" fmla="val 22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motion-graphs/stea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3362" y="1143000"/>
            <a:ext cx="3426397" cy="315468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4407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straight distance line: uniform motion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Reading a velocity–time graph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train speeds up from rest to 12 m/s in 3 s, runs at 12 m/s for 4 s, then stops in 3 s. Find each acceleration and the total distance.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Speeding up: 12 ÷ 3 =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4 m/s²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Steady part: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0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Slowing down: −12 ÷ 3 =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−4 m/s²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Area = 18 + 48 + 18 =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84 m</a:t>
            </a:r>
            <a:endParaRPr lang="en-US" sz="1400" dirty="0"/>
          </a:p>
        </p:txBody>
      </p:sp>
      <p:sp>
        <p:nvSpPr>
          <p:cNvPr id="6" name="Example image frame"/>
          <p:cNvSpPr/>
          <p:nvPr/>
        </p:nvSpPr>
        <p:spPr>
          <a:xfrm>
            <a:off x="5016786" y="1106424"/>
            <a:ext cx="3499549" cy="3227832"/>
          </a:xfrm>
          <a:prstGeom prst="roundRect">
            <a:avLst>
              <a:gd name="adj" fmla="val 22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motion-graphs/train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3362" y="1143000"/>
            <a:ext cx="3426397" cy="315468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4407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Area under the velocity graph = 84 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Reading the graph as a map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curved distance–time graph does not mean the road bends.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Mixing up flat lines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Flat on distance–time: at rest. Flat on velocity–time: steady speed.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Wrong slope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Slope of velocity–time is acceleration, not velocity.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Forgetting triangles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½ × base × height for the sloping parts of the area.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distance–time graph is flat. What is the object doing?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does the slope of a velocity–time graph tell you?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velocity–time graph is flat at 5 m/s from 0 to 4 s. How far does the object go?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distance–time graph curves and gets steeper. What is happening?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Draw journeys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Motion Graphs lesson on the Visual Physics website. Play a journey or drag across the graphs to move through time.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Equations of motion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5062506" y="1197864"/>
            <a:ext cx="3499549" cy="3227832"/>
          </a:xfrm>
          <a:prstGeom prst="roundRect">
            <a:avLst>
              <a:gd name="adj" fmla="val 22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motion-graphs/sig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9082" y="1234440"/>
            <a:ext cx="3426397" cy="3154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Motion Graphs</dc:title>
  <dc:subject>Std 9 Science, Chapter 1 Laws of Motion</dc:subject>
  <dc:creator>Visual Physics</dc:creator>
  <cp:lastModifiedBy>Visual Physics</cp:lastModifiedBy>
  <cp:revision>1</cp:revision>
  <dcterms:created xsi:type="dcterms:W3CDTF">2026-10-06T01:56:04Z</dcterms:created>
  <dcterms:modified xsi:type="dcterms:W3CDTF">2026-10-06T01:56:04Z</dcterms:modified>
</cp:coreProperties>
</file>