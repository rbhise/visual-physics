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801bf950-f4f3-cd8b-59d1-31f3db10cb45}">
          <p14:sldIdLst>
            <p14:sldId id="256"/>
            <p14:sldId id="257"/>
          </p14:sldIdLst>
        </p14:section>
        <p14:section name="Key ideas" id="{18016771-5a01-3877-c9c9-2a419638db55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Practice" id="{9a416a32-ce3f-93e1-b088-ad744b7eed56}">
          <p14:sldIdLst>
            <p14:sldId id="264"/>
            <p14:sldId id="265"/>
            <p14:sldId id="266"/>
          </p14:sldIdLst>
        </p14:section>
        <p14:section name="Wrap-up" id="{0d22f83c-4b37-4fe3-6196-9faad3edf6be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explain how sound is produced and travels, describe compressions and rarefactions, and use v = νλ.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sound starts with a vibration.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bell-jar experiment: the bell fades as air is pumped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slinky pushed back and forth shows the same pattern.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Sound in air is always longitudinal.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one period the wave moves one wavelength: v = λ/T = νλ.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with 340 Hz on the earlier slide: λ = 1 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Pitch goes with frequency; loudness goes with amplitude.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 the formula first, then substitute.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explain why we see the Sun's explosions but never hear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Back and forth along the direction of travel. 2) 0.5 m. 3) Amplitude. 4) There is no air on the Moon to carry sound.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 idea: a string telephone made from two cups shows sound travelling through a solid.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Sound Waves · Std 9 Ch. 12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SCIENCE · CH. 12 STUDY OF SOUND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Sound Waves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1 · Visual Physics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315521"/>
          </a:xfrm>
          <a:prstGeom prst="roundRect">
            <a:avLst>
              <a:gd name="adj" fmla="val 315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sound-waves/w3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2423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Feel the buzz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Touch your throat while you hum. Strike a tuning fork and dip it in water: it splashes.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What do all sounds have in common?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424905"/>
          </a:xfrm>
          <a:prstGeom prst="roundRect">
            <a:avLst>
              <a:gd name="adj" fmla="val 301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sound-waves/w3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351753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650201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 speaker pushing on the air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Sound needs a medium</a:t>
            </a:r>
            <a:endParaRPr lang="en-US" sz="3000" dirty="0"/>
          </a:p>
        </p:txBody>
      </p:sp>
      <p:sp>
        <p:nvSpPr>
          <p:cNvPr id="4" name="Points"/>
          <p:cNvSpPr txBox="1"/>
          <p:nvPr/>
        </p:nvSpPr>
        <p:spPr>
          <a:xfrm>
            <a:off x="457200" y="109728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vibrating object pushes the particles next to it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Each particle pushes its neighbours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Solids, liquids and gases can carry sound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 particles, no sound: a vacuum is silent</a:t>
            </a:r>
            <a:endParaRPr lang="en-US" sz="1600" dirty="0"/>
          </a:p>
        </p:txBody>
      </p:sp>
      <p:sp>
        <p:nvSpPr>
          <p:cNvPr id="5" name="Concept image frame"/>
          <p:cNvSpPr/>
          <p:nvPr/>
        </p:nvSpPr>
        <p:spPr>
          <a:xfrm>
            <a:off x="480974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Concept image" descr="/tmp/claude-0/-home-claude/7116491e-74ad-5a48-9637-67025fdd7b6d/scratchpad/deck/sound-waves/vacu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297061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84632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With the air removed, nothing carries the vibration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Longitudinal waves</a:t>
            </a:r>
            <a:endParaRPr lang="en-US" sz="3000" dirty="0"/>
          </a:p>
        </p:txBody>
      </p:sp>
      <p:sp>
        <p:nvSpPr>
          <p:cNvPr id="4" name="Points"/>
          <p:cNvSpPr txBox="1"/>
          <p:nvPr/>
        </p:nvSpPr>
        <p:spPr>
          <a:xfrm>
            <a:off x="4663440" y="109728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Particles vibrate along the direction of travel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Compression (C): particles crowded together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Rarefaction (R): particles spread apart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Particles stay in place; the pattern travels</a:t>
            </a:r>
            <a:endParaRPr lang="en-US" sz="1600" dirty="0"/>
          </a:p>
        </p:txBody>
      </p:sp>
      <p:sp>
        <p:nvSpPr>
          <p:cNvPr id="5" name="Concept image frame"/>
          <p:cNvSpPr/>
          <p:nvPr/>
        </p:nvSpPr>
        <p:spPr>
          <a:xfrm>
            <a:off x="42062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Concept image" descr="/tmp/claude-0/-home-claude/7116491e-74ad-5a48-9637-67025fdd7b6d/scratchpad/deck/sound-waves/w3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297061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5720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Watch the red particle: it only shakes in place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Longitudinal and transverse</a:t>
            </a:r>
            <a:endParaRPr lang="en-US" sz="3000" dirty="0"/>
          </a:p>
        </p:txBody>
      </p:sp>
      <p:sp>
        <p:nvSpPr>
          <p:cNvPr id="4" name="Sound in air image frame"/>
          <p:cNvSpPr/>
          <p:nvPr/>
        </p:nvSpPr>
        <p:spPr>
          <a:xfrm>
            <a:off x="420624" y="1060704"/>
            <a:ext cx="4096512" cy="2479597"/>
          </a:xfrm>
          <a:prstGeom prst="roundRect">
            <a:avLst>
              <a:gd name="adj" fmla="val 29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ound in air image" descr="/tmp/claude-0/-home-claude/7116491e-74ad-5a48-9637-67025fdd7b6d/scratchpad/deck/sound-waves/w3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406445"/>
          </a:xfrm>
          <a:prstGeom prst="rect">
            <a:avLst/>
          </a:prstGeom>
        </p:spPr>
      </p:pic>
      <p:sp>
        <p:nvSpPr>
          <p:cNvPr id="6" name="Sound in air text"/>
          <p:cNvSpPr txBox="1"/>
          <p:nvPr/>
        </p:nvSpPr>
        <p:spPr>
          <a:xfrm>
            <a:off x="457200" y="364088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Particles move along the wave: compressions and rarefactions.</a:t>
            </a:r>
            <a:endParaRPr lang="en-US" sz="1400" dirty="0"/>
          </a:p>
        </p:txBody>
      </p:sp>
      <p:sp>
        <p:nvSpPr>
          <p:cNvPr id="7" name="Wave on a string image frame"/>
          <p:cNvSpPr/>
          <p:nvPr/>
        </p:nvSpPr>
        <p:spPr>
          <a:xfrm>
            <a:off x="4626864" y="1060704"/>
            <a:ext cx="4096512" cy="2479597"/>
          </a:xfrm>
          <a:prstGeom prst="roundRect">
            <a:avLst>
              <a:gd name="adj" fmla="val 29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Wave on a string image" descr="/tmp/claude-0/-home-claude/7116491e-74ad-5a48-9637-67025fdd7b6d/scratchpad/deck/sound-waves/str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406445"/>
          </a:xfrm>
          <a:prstGeom prst="rect">
            <a:avLst/>
          </a:prstGeom>
        </p:spPr>
      </p:pic>
      <p:sp>
        <p:nvSpPr>
          <p:cNvPr id="9" name="Wave on a string text"/>
          <p:cNvSpPr txBox="1"/>
          <p:nvPr/>
        </p:nvSpPr>
        <p:spPr>
          <a:xfrm>
            <a:off x="4663440" y="364088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Particles move across the wave: crests and troughs.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Describing a wave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Big 1"/>
          <p:cNvSpPr txBox="1"/>
          <p:nvPr/>
        </p:nvSpPr>
        <p:spPr>
          <a:xfrm>
            <a:off x="731520" y="1371600"/>
            <a:ext cx="13510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λ</a:t>
            </a:r>
            <a:endParaRPr lang="en-US" sz="3000" dirty="0"/>
          </a:p>
        </p:txBody>
      </p:sp>
      <p:sp>
        <p:nvSpPr>
          <p:cNvPr id="6" name="Card head 1"/>
          <p:cNvSpPr txBox="1"/>
          <p:nvPr/>
        </p:nvSpPr>
        <p:spPr>
          <a:xfrm>
            <a:off x="731520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Wavelength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Distance between two neighbouring compressions. Unit: m.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2567178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Big 2"/>
          <p:cNvSpPr txBox="1"/>
          <p:nvPr/>
        </p:nvSpPr>
        <p:spPr>
          <a:xfrm>
            <a:off x="2841498" y="1371600"/>
            <a:ext cx="13510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ν</a:t>
            </a:r>
            <a:endParaRPr lang="en-US" sz="3000" dirty="0"/>
          </a:p>
        </p:txBody>
      </p:sp>
      <p:sp>
        <p:nvSpPr>
          <p:cNvPr id="10" name="Card head 2"/>
          <p:cNvSpPr txBox="1"/>
          <p:nvPr/>
        </p:nvSpPr>
        <p:spPr>
          <a:xfrm>
            <a:off x="2841498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Frequency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2841498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Vibrations per second. Unit: hertz (Hz).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4677156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13" name="Big 3"/>
          <p:cNvSpPr txBox="1"/>
          <p:nvPr/>
        </p:nvSpPr>
        <p:spPr>
          <a:xfrm>
            <a:off x="4951476" y="1371600"/>
            <a:ext cx="13510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T</a:t>
            </a:r>
            <a:endParaRPr lang="en-US" sz="3000" dirty="0"/>
          </a:p>
        </p:txBody>
      </p:sp>
      <p:sp>
        <p:nvSpPr>
          <p:cNvPr id="14" name="Card head 3"/>
          <p:cNvSpPr txBox="1"/>
          <p:nvPr/>
        </p:nvSpPr>
        <p:spPr>
          <a:xfrm>
            <a:off x="4951476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Time period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4951476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Time for one vibration. T = 1/ν.</a:t>
            </a:r>
            <a:endParaRPr lang="en-US" sz="1400" dirty="0"/>
          </a:p>
        </p:txBody>
      </p:sp>
      <p:sp>
        <p:nvSpPr>
          <p:cNvPr id="16" name="Card 4"/>
          <p:cNvSpPr/>
          <p:nvPr/>
        </p:nvSpPr>
        <p:spPr>
          <a:xfrm>
            <a:off x="6787134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Big 4"/>
          <p:cNvSpPr txBox="1"/>
          <p:nvPr/>
        </p:nvSpPr>
        <p:spPr>
          <a:xfrm>
            <a:off x="7061454" y="1371600"/>
            <a:ext cx="13510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</a:t>
            </a:r>
            <a:endParaRPr lang="en-US" sz="3000" dirty="0"/>
          </a:p>
        </p:txBody>
      </p:sp>
      <p:sp>
        <p:nvSpPr>
          <p:cNvPr id="18" name="Card head 4"/>
          <p:cNvSpPr txBox="1"/>
          <p:nvPr/>
        </p:nvSpPr>
        <p:spPr>
          <a:xfrm>
            <a:off x="7061454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Amplitude</a:t>
            </a:r>
            <a:endParaRPr lang="en-US" sz="1800" dirty="0"/>
          </a:p>
        </p:txBody>
      </p:sp>
      <p:sp>
        <p:nvSpPr>
          <p:cNvPr id="19" name="Card body 4"/>
          <p:cNvSpPr txBox="1"/>
          <p:nvPr/>
        </p:nvSpPr>
        <p:spPr>
          <a:xfrm>
            <a:off x="7061454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Largest change from the undisturbed state.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Speed of a wave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v = ν × λ</a:t>
            </a:r>
            <a:endParaRPr lang="en-US" sz="26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Higher frequency: shorter wavelength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 one medium, speed stays the same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Air: about 340 m/s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sound-waves/w8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297061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850 Hz: λ = 0.40 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Pitch and loudness</a:t>
            </a:r>
            <a:endParaRPr lang="en-US" sz="3000" dirty="0"/>
          </a:p>
        </p:txBody>
      </p:sp>
      <p:sp>
        <p:nvSpPr>
          <p:cNvPr id="4" name="Low pitch image frame"/>
          <p:cNvSpPr/>
          <p:nvPr/>
        </p:nvSpPr>
        <p:spPr>
          <a:xfrm>
            <a:off x="420624" y="1060704"/>
            <a:ext cx="4096512" cy="2479597"/>
          </a:xfrm>
          <a:prstGeom prst="roundRect">
            <a:avLst>
              <a:gd name="adj" fmla="val 29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Low pitch image" descr="/tmp/claude-0/-home-claude/7116491e-74ad-5a48-9637-67025fdd7b6d/scratchpad/deck/sound-waves/w2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406445"/>
          </a:xfrm>
          <a:prstGeom prst="rect">
            <a:avLst/>
          </a:prstGeom>
        </p:spPr>
      </p:pic>
      <p:sp>
        <p:nvSpPr>
          <p:cNvPr id="6" name="Low pitch text"/>
          <p:cNvSpPr txBox="1"/>
          <p:nvPr/>
        </p:nvSpPr>
        <p:spPr>
          <a:xfrm>
            <a:off x="457200" y="364088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200 Hz: long wavelength, deep note.</a:t>
            </a:r>
            <a:endParaRPr lang="en-US" sz="1400" dirty="0"/>
          </a:p>
        </p:txBody>
      </p:sp>
      <p:sp>
        <p:nvSpPr>
          <p:cNvPr id="7" name="Loud image frame"/>
          <p:cNvSpPr/>
          <p:nvPr/>
        </p:nvSpPr>
        <p:spPr>
          <a:xfrm>
            <a:off x="4626864" y="1060704"/>
            <a:ext cx="4096512" cy="2479597"/>
          </a:xfrm>
          <a:prstGeom prst="roundRect">
            <a:avLst>
              <a:gd name="adj" fmla="val 29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Loud image" descr="/tmp/claude-0/-home-claude/7116491e-74ad-5a48-9637-67025fdd7b6d/scratchpad/deck/sound-waves/lou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406445"/>
          </a:xfrm>
          <a:prstGeom prst="rect">
            <a:avLst/>
          </a:prstGeom>
        </p:spPr>
      </p:pic>
      <p:sp>
        <p:nvSpPr>
          <p:cNvPr id="9" name="Loud text"/>
          <p:cNvSpPr txBox="1"/>
          <p:nvPr/>
        </p:nvSpPr>
        <p:spPr>
          <a:xfrm>
            <a:off x="4663440" y="364088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Large amplitude: more energy, louder sound.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tuning fork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ν = 500 Hz, v = 340 m/s. Find λ and T.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λ = 340 ÷ 500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0.68 m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 = 1 ÷ 500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0.002 s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How far in 3 s?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ν = 850 Hz, λ = 0.4 m. How far does the sound travel in 3 s?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v = 850 × 0.4 = 340 m/s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340 × 3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1020 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“The air travels to your ear”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Only the disturbance travels.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“High notes travel faster”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Same medium, same speed.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Pitch vs loudness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Pitch: frequency. Loudness: amplitude.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“Sound crosses space”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Sound needs a medium.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How do air particles move in a sound wave?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sound of 680 Hz travels at 340 m/s. Find its wavelength.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Which property of a sound decides its loudness?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Why can't astronauts hear each other directly on the Moon?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Make waves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Sound Waves lesson on the Visual Physics website. Change the frequency and amplitude and watch the particles.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The speed of sound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315521"/>
          </a:xfrm>
          <a:prstGeom prst="roundRect">
            <a:avLst>
              <a:gd name="adj" fmla="val 315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sound-waves/w8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24236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Physics">
  <a:themeElements>
    <a:clrScheme name="Visual Physic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Physic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Sound Waves</dc:title>
  <dc:subject>Std 9 Science, Chapter 12 Study of Sound</dc:subject>
  <dc:creator>Visual Physics</dc:creator>
  <cp:lastModifiedBy>Visual Physics</cp:lastModifiedBy>
  <cp:revision>1</cp:revision>
  <dcterms:created xsi:type="dcterms:W3CDTF">2026-10-06T10:27:43Z</dcterms:created>
  <dcterms:modified xsi:type="dcterms:W3CDTF">2026-10-06T10:27:43Z</dcterms:modified>
</cp:coreProperties>
</file>