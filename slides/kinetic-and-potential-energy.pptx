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7a2327e-399a-a58a-aa2e-6c7597886428}">
          <p14:sldIdLst>
            <p14:sldId id="256"/>
            <p14:sldId id="257"/>
          </p14:sldIdLst>
        </p14:section>
        <p14:section name="Key ideas" id="{338adb92-6911-2654-dc09-96cb9b5c2153}">
          <p14:sldIdLst>
            <p14:sldId id="258"/>
          </p14:sldIdLst>
        </p14:section>
        <p14:section name="Kinetic energy" id="{fd5632f3-ad55-e995-26b6-e7f4f22f5dc2}">
          <p14:sldIdLst>
            <p14:sldId id="259"/>
            <p14:sldId id="260"/>
          </p14:sldIdLst>
        </p14:section>
        <p14:section name="Potential energy" id="{5374ba7d-66a7-081e-3b0f-3b52b2092051}">
          <p14:sldIdLst>
            <p14:sldId id="261"/>
            <p14:sldId id="262"/>
          </p14:sldIdLst>
        </p14:section>
        <p14:section name="Practice" id="{5f849800-56dc-57d4-125d-190b425d25ce}">
          <p14:sldIdLst>
            <p14:sldId id="263"/>
            <p14:sldId id="264"/>
            <p14:sldId id="265"/>
            <p14:sldId id="266"/>
          </p14:sldIdLst>
        </p14:section>
        <p14:section name="Wrap-up" id="{07f5952a-ec68-2417-bf15-9db0269a8b17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define energy, calculate kinetic and potential energy, and explain how each depends on mass, speed and height.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can do work: push something, turn a turbine, launch a stone. That capacity to do work is energy.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dent in the sand measures the work the ball does, and so its energy. This mirrors the NCERT activity of dropping balls into sand.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derivation slowly: F = ma, v² = u² + 2as with u = 0, then W = 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why road accidents at high speed are so much more damaging.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Shape examples: a stretched rubber band, a wound spring, a drawn bow.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P.E. is directly proportional to height: four times the height gives four times the energy.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Halving the speed leaves a quarter of the kinetic energy.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why roof tanks supply taps below without a pump.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Squaring errors are by far the most common.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9 J. 2) It becomes four times as large. 3) 98 J. 4) A stretched catapult, a wound spring, a drawn bow.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drop a marble into a tray of flour from three heights and measure the 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Kinetic and Potential Energy · Std 9 Ch.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2 WORK AND ENERGY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Kinetic and Potential Energy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2 · Visual Physics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617863"/>
          </a:xfrm>
          <a:prstGeom prst="roundRect">
            <a:avLst>
              <a:gd name="adj" fmla="val 279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kinetic-and-potential-energy/fal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5447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can do work?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cricket ball hit for six. Water stored behind a dam. A stretched catapult.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do all three have in common?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741996"/>
          </a:xfrm>
          <a:prstGeom prst="roundRect">
            <a:avLst>
              <a:gd name="adj" fmla="val 2668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kinetic-and-potential-energy/dent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668844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9672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ball dropped from 4 m leaves a deep dent in the sand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Energy</a:t>
            </a:r>
            <a:endParaRPr lang="en-US" sz="3000" dirty="0"/>
          </a:p>
        </p:txBody>
      </p:sp>
      <p:sp>
        <p:nvSpPr>
          <p:cNvPr id="4" name="Lead"/>
          <p:cNvSpPr txBox="1"/>
          <p:nvPr/>
        </p:nvSpPr>
        <p:spPr>
          <a:xfrm>
            <a:off x="457200" y="10972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capacity of a body to do work is its energy.</a:t>
            </a:r>
            <a:endParaRPr lang="en-US" sz="1600" dirty="0"/>
          </a:p>
        </p:txBody>
      </p:sp>
      <p:sp>
        <p:nvSpPr>
          <p:cNvPr id="5" name="Points"/>
          <p:cNvSpPr txBox="1"/>
          <p:nvPr/>
        </p:nvSpPr>
        <p:spPr>
          <a:xfrm>
            <a:off x="457200" y="1810512"/>
            <a:ext cx="402336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Measured in joules (J), like work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Many forms: heat, light, sound, chemical, electrical, nuclear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Mechanical energy: kinetic and potential</a:t>
            </a:r>
            <a:endParaRPr lang="en-US" sz="1600" dirty="0"/>
          </a:p>
        </p:txBody>
      </p:sp>
      <p:sp>
        <p:nvSpPr>
          <p:cNvPr id="6" name="Concept image frame"/>
          <p:cNvSpPr/>
          <p:nvPr/>
        </p:nvSpPr>
        <p:spPr>
          <a:xfrm>
            <a:off x="4809744" y="1106424"/>
            <a:ext cx="3913632" cy="2679929"/>
          </a:xfrm>
          <a:prstGeom prst="roundRect">
            <a:avLst>
              <a:gd name="adj" fmla="val 273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oncept image" descr="/tmp/claude-0/-home-claude/7116491e-74ad-5a48-9637-67025fdd7b6d/scratchpad/deck/kinetic-and-potential-energy/den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606777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859505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Dropped from 1 m: a smaller dent, less energy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Kinetic</a:t>
            </a:r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 energy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484632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K.E. = ½mv²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66344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Energy of motion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Work Fs = mas, and s = v²/2a, so W = ½mv²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Double the mass: double the K.E.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Double the speed: four times the K.E.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20624" y="1106424"/>
            <a:ext cx="3913632" cy="2679929"/>
          </a:xfrm>
          <a:prstGeom prst="roundRect">
            <a:avLst>
              <a:gd name="adj" fmla="val 273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kinetic-and-potential-energy/rol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606777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57200" y="3859505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2 kg ball rolling at 6 m/s: 36 J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Twice as fast, four times the energy</a:t>
            </a:r>
            <a:endParaRPr lang="en-US" sz="3000" dirty="0"/>
          </a:p>
        </p:txBody>
      </p:sp>
      <p:sp>
        <p:nvSpPr>
          <p:cNvPr id="4" name="3 m/s image frame"/>
          <p:cNvSpPr/>
          <p:nvPr/>
        </p:nvSpPr>
        <p:spPr>
          <a:xfrm>
            <a:off x="579965" y="1060704"/>
            <a:ext cx="3777830" cy="2587752"/>
          </a:xfrm>
          <a:prstGeom prst="roundRect">
            <a:avLst>
              <a:gd name="adj" fmla="val 282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3 m/s image" descr="/tmp/claude-0/-home-claude/7116491e-74ad-5a48-9637-67025fdd7b6d/scratchpad/deck/kinetic-and-potential-energy/roll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541" y="1097280"/>
            <a:ext cx="3704678" cy="2514600"/>
          </a:xfrm>
          <a:prstGeom prst="rect">
            <a:avLst/>
          </a:prstGeom>
        </p:spPr>
      </p:pic>
      <p:sp>
        <p:nvSpPr>
          <p:cNvPr id="6" name="3 m/s text"/>
          <p:cNvSpPr txBox="1"/>
          <p:nvPr/>
        </p:nvSpPr>
        <p:spPr>
          <a:xfrm>
            <a:off x="457200" y="3749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 kg at 3 m/s: K.E. = 9 J.</a:t>
            </a:r>
            <a:endParaRPr lang="en-US" sz="1400" dirty="0"/>
          </a:p>
        </p:txBody>
      </p:sp>
      <p:sp>
        <p:nvSpPr>
          <p:cNvPr id="7" name="6 m/s image frame"/>
          <p:cNvSpPr/>
          <p:nvPr/>
        </p:nvSpPr>
        <p:spPr>
          <a:xfrm>
            <a:off x="4786205" y="1060704"/>
            <a:ext cx="3777830" cy="2587752"/>
          </a:xfrm>
          <a:prstGeom prst="roundRect">
            <a:avLst>
              <a:gd name="adj" fmla="val 282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6 m/s image" descr="/tmp/claude-0/-home-claude/7116491e-74ad-5a48-9637-67025fdd7b6d/scratchpad/deck/kinetic-and-potential-energy/roll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781" y="1097280"/>
            <a:ext cx="3704678" cy="2514600"/>
          </a:xfrm>
          <a:prstGeom prst="rect">
            <a:avLst/>
          </a:prstGeom>
        </p:spPr>
      </p:pic>
      <p:sp>
        <p:nvSpPr>
          <p:cNvPr id="9" name="6 m/s text"/>
          <p:cNvSpPr txBox="1"/>
          <p:nvPr/>
        </p:nvSpPr>
        <p:spPr>
          <a:xfrm>
            <a:off x="4663440" y="3749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 kg at 6 m/s: K.E. = 36 J.</a:t>
            </a:r>
            <a:endParaRPr lang="en-US" sz="1400" dirty="0"/>
          </a:p>
        </p:txBody>
      </p:sp>
      <p:sp>
        <p:nvSpPr>
          <p:cNvPr id="10" name="Takeaway"/>
          <p:cNvSpPr txBox="1"/>
          <p:nvPr/>
        </p:nvSpPr>
        <p:spPr>
          <a:xfrm>
            <a:off x="457200" y="4279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Speed is squared, so doubling it quadruples the energy (and the dent).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Potential</a:t>
            </a:r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 energy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P.E. = mgh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Energy of position or shape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Lifting needs force mg through height 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That work is stored: mgh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Depends on height, not the path taken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679929"/>
          </a:xfrm>
          <a:prstGeom prst="roundRect">
            <a:avLst>
              <a:gd name="adj" fmla="val 273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kinetic-and-potential-energy/fal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606777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859505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raised ball's stored energy turns into motion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Four times as high, four times the energy</a:t>
            </a:r>
            <a:endParaRPr lang="en-US" sz="3000" dirty="0"/>
          </a:p>
        </p:txBody>
      </p:sp>
      <p:sp>
        <p:nvSpPr>
          <p:cNvPr id="4" name="1 m image frame"/>
          <p:cNvSpPr/>
          <p:nvPr/>
        </p:nvSpPr>
        <p:spPr>
          <a:xfrm>
            <a:off x="420624" y="1060704"/>
            <a:ext cx="4096512" cy="2804062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1 m image" descr="/tmp/claude-0/-home-claude/7116491e-74ad-5a48-9637-67025fdd7b6d/scratchpad/deck/kinetic-and-potential-energy/den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730910"/>
          </a:xfrm>
          <a:prstGeom prst="rect">
            <a:avLst/>
          </a:prstGeom>
        </p:spPr>
      </p:pic>
      <p:sp>
        <p:nvSpPr>
          <p:cNvPr id="6" name="1 m text"/>
          <p:cNvSpPr txBox="1"/>
          <p:nvPr/>
        </p:nvSpPr>
        <p:spPr>
          <a:xfrm>
            <a:off x="457200" y="396535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 kg from 1 m: P.E. = 19.6 J.</a:t>
            </a:r>
            <a:endParaRPr lang="en-US" sz="1400" dirty="0"/>
          </a:p>
        </p:txBody>
      </p:sp>
      <p:sp>
        <p:nvSpPr>
          <p:cNvPr id="7" name="4 m image frame"/>
          <p:cNvSpPr/>
          <p:nvPr/>
        </p:nvSpPr>
        <p:spPr>
          <a:xfrm>
            <a:off x="4626864" y="1060704"/>
            <a:ext cx="4096512" cy="2804062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4 m image" descr="/tmp/claude-0/-home-claude/7116491e-74ad-5a48-9637-67025fdd7b6d/scratchpad/deck/kinetic-and-potential-energy/dent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730910"/>
          </a:xfrm>
          <a:prstGeom prst="rect">
            <a:avLst/>
          </a:prstGeom>
        </p:spPr>
      </p:pic>
      <p:sp>
        <p:nvSpPr>
          <p:cNvPr id="9" name="4 m text"/>
          <p:cNvSpPr txBox="1"/>
          <p:nvPr/>
        </p:nvSpPr>
        <p:spPr>
          <a:xfrm>
            <a:off x="4663440" y="396535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 kg from 4 m: P.E. = 78.4 J.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rolling ball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Find the K.E. of a 0.5 kg ball rolling at 4 m/s.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½ × 0.5 × 16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4 J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car slowing down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1500 kg car goes at 20 m/s, then slows to 10 m/s. Find its K.E. each time.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½ × 1500 × 400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300 kJ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½ × 1500 × 100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75 kJ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water on the roof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tank holds 1000 kg of water 12 m above the ground. Find its potential energy. (g = 9.8 m/s²)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P.E. = 1000 × 9.8 × 12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117 600 J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679929"/>
          </a:xfrm>
          <a:prstGeom prst="roundRect">
            <a:avLst>
              <a:gd name="adj" fmla="val 273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kinetic-and-potential-energy/dent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606777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859505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Stored height energy can do work when released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Not squaring v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 4 m/s, use v² = 16.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Grams, not kilograms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500 g = 0.5 kg.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Path changes P.E.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the height matters.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Double speed, double K.E.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 is four times.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Find the K.E. of a 2 kg ball moving at 3 m/s.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If an object's speed is doubled, what happens to its K.E.?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Find the P.E. of a 5 kg box on a shelf 2 m high.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Name an object with potential energy because of its shape.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Make a dent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Kinetic and Potential Energy lesson on the Visual Physics website. Change the mass, height and speed, and compare the dents.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Conservation of energy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617863"/>
          </a:xfrm>
          <a:prstGeom prst="roundRect">
            <a:avLst>
              <a:gd name="adj" fmla="val 279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kinetic-and-potential-energy/roll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5447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Physics">
  <a:themeElements>
    <a:clrScheme name="Visual Physic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Physic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Kinetic and Potential Energy</dc:title>
  <dc:subject>Std 9 Science, Chapter 2 Work and Energy</dc:subject>
  <dc:creator>Visual Physics</dc:creator>
  <cp:lastModifiedBy>Visual Physics</cp:lastModifiedBy>
  <cp:revision>1</cp:revision>
  <dcterms:created xsi:type="dcterms:W3CDTF">2026-10-06T01:56:04Z</dcterms:created>
  <dcterms:modified xsi:type="dcterms:W3CDTF">2026-10-06T01:56:04Z</dcterms:modified>
</cp:coreProperties>
</file>