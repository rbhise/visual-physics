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1383b303-2710-5ed2-4a83-4af4f4e2333e}">
          <p14:sldIdLst>
            <p14:sldId id="256"/>
            <p14:sldId id="257"/>
          </p14:sldIdLst>
        </p14:section>
        <p14:section name="Key ideas" id="{9f3c2a39-727f-e4b5-9c8b-829afe3a3b56}">
          <p14:sldIdLst>
            <p14:sldId id="258"/>
            <p14:sldId id="259"/>
            <p14:sldId id="260"/>
            <p14:sldId id="261"/>
            <p14:sldId id="262"/>
          </p14:sldIdLst>
        </p14:section>
        <p14:section name="Practice" id="{f0065520-bd5c-f2a4-54d5-0372786d822e}">
          <p14:sldIdLst>
            <p14:sldId id="263"/>
            <p14:sldId id="264"/>
            <p14:sldId id="265"/>
            <p14:sldId id="266"/>
          </p14:sldIdLst>
        </p14:section>
        <p14:section name="Wrap-up" id="{6fcb41c1-e008-fc5c-612f-77b2a981bb94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explain why some telescopes must be in space and name Hubble, Chandra, Astrosat and the GMRT.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cause is our own atmosphere.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Radio waves pass through clouds and can be observed by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X-ray astronomy began only with rockets and satellites.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Indian Astronomical Observatory at Hanle is one of the highest in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Chandra is named after Subrahmanyan Chandrasekhar. Astrosat is India's first space observatory.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 telescopes are cheaper, bigger and easier to repair.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two milliseconds.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Spreading the dishes over 25 km also gives very fine detail.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correct each statement in their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The atmosphere absorbs X-rays. 2) Moving layers of air bend their light. 3) ISRO. 4) A radio telescope.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idea: find out what Astrosat has discovered since 2015.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Telescopes in Space · Std 9 Ch. 18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18 OBSERVING SPACE: TELESCOPES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Telescopes in Space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3 · Visual Physics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telescopes-in-space/vis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Twinkle, twinkle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Stars twinkle. Planets hardly do. Neither is really flickering.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makes starlight shimmer?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424905"/>
          </a:xfrm>
          <a:prstGeom prst="roundRect">
            <a:avLst>
              <a:gd name="adj" fmla="val 301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telescopes-in-space/vis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351753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650201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Moving air blurs and dims the star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Problems with the air</a:t>
            </a:r>
            <a:endParaRPr lang="en-US" sz="3000" dirty="0"/>
          </a:p>
        </p:txBody>
      </p:sp>
      <p:sp>
        <p:nvSpPr>
          <p:cNvPr id="4" name="Card 1"/>
          <p:cNvSpPr/>
          <p:nvPr/>
        </p:nvSpPr>
        <p:spPr>
          <a:xfrm>
            <a:off x="457200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5" name="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548640" cy="548640"/>
          </a:xfrm>
          <a:prstGeom prst="rect">
            <a:avLst/>
          </a:prstGeom>
        </p:spPr>
      </p:pic>
      <p:sp>
        <p:nvSpPr>
          <p:cNvPr id="6" name="Card head 1"/>
          <p:cNvSpPr txBox="1"/>
          <p:nvPr/>
        </p:nvSpPr>
        <p:spPr>
          <a:xfrm>
            <a:off x="731520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Absorbs</a:t>
            </a:r>
            <a:endParaRPr lang="en-US" sz="1800" dirty="0"/>
          </a:p>
        </p:txBody>
      </p:sp>
      <p:sp>
        <p:nvSpPr>
          <p:cNvPr id="7" name="Card body 1"/>
          <p:cNvSpPr txBox="1"/>
          <p:nvPr/>
        </p:nvSpPr>
        <p:spPr>
          <a:xfrm>
            <a:off x="731520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X-rays, most UV and much infrared never reach the ground.</a:t>
            </a:r>
            <a:endParaRPr lang="en-US" sz="1400" dirty="0"/>
          </a:p>
        </p:txBody>
      </p:sp>
      <p:sp>
        <p:nvSpPr>
          <p:cNvPr id="8" name="Card 2"/>
          <p:cNvSpPr/>
          <p:nvPr/>
        </p:nvSpPr>
        <p:spPr>
          <a:xfrm>
            <a:off x="2567178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pic>
        <p:nvPicPr>
          <p:cNvPr id="9" name="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1498" y="1463040"/>
            <a:ext cx="548640" cy="548640"/>
          </a:xfrm>
          <a:prstGeom prst="rect">
            <a:avLst/>
          </a:prstGeom>
        </p:spPr>
      </p:pic>
      <p:sp>
        <p:nvSpPr>
          <p:cNvPr id="10" name="Card head 2"/>
          <p:cNvSpPr txBox="1"/>
          <p:nvPr/>
        </p:nvSpPr>
        <p:spPr>
          <a:xfrm>
            <a:off x="2841498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Moves</a:t>
            </a:r>
            <a:endParaRPr lang="en-US" sz="1800" dirty="0"/>
          </a:p>
        </p:txBody>
      </p:sp>
      <p:sp>
        <p:nvSpPr>
          <p:cNvPr id="11" name="Card body 2"/>
          <p:cNvSpPr txBox="1"/>
          <p:nvPr/>
        </p:nvSpPr>
        <p:spPr>
          <a:xfrm>
            <a:off x="2841498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Shifting air bends light: twinkling and blurring.</a:t>
            </a:r>
            <a:endParaRPr lang="en-US" sz="1400" dirty="0"/>
          </a:p>
        </p:txBody>
      </p:sp>
      <p:sp>
        <p:nvSpPr>
          <p:cNvPr id="12" name="Card 3"/>
          <p:cNvSpPr/>
          <p:nvPr/>
        </p:nvSpPr>
        <p:spPr>
          <a:xfrm>
            <a:off x="4677156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pic>
        <p:nvPicPr>
          <p:cNvPr id="13" name="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1476" y="1463040"/>
            <a:ext cx="548640" cy="548640"/>
          </a:xfrm>
          <a:prstGeom prst="rect">
            <a:avLst/>
          </a:prstGeom>
        </p:spPr>
      </p:pic>
      <p:sp>
        <p:nvSpPr>
          <p:cNvPr id="14" name="Card head 3"/>
          <p:cNvSpPr txBox="1"/>
          <p:nvPr/>
        </p:nvSpPr>
        <p:spPr>
          <a:xfrm>
            <a:off x="4951476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Weather</a:t>
            </a:r>
            <a:endParaRPr lang="en-US" sz="1800" dirty="0"/>
          </a:p>
        </p:txBody>
      </p:sp>
      <p:sp>
        <p:nvSpPr>
          <p:cNvPr id="15" name="Card body 3"/>
          <p:cNvSpPr txBox="1"/>
          <p:nvPr/>
        </p:nvSpPr>
        <p:spPr>
          <a:xfrm>
            <a:off x="4951476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Clouds block the view.</a:t>
            </a:r>
            <a:endParaRPr lang="en-US" sz="1400" dirty="0"/>
          </a:p>
        </p:txBody>
      </p:sp>
      <p:sp>
        <p:nvSpPr>
          <p:cNvPr id="16" name="Card 4"/>
          <p:cNvSpPr/>
          <p:nvPr/>
        </p:nvSpPr>
        <p:spPr>
          <a:xfrm>
            <a:off x="6787134" y="1188720"/>
            <a:ext cx="1899666" cy="3017520"/>
          </a:xfrm>
          <a:prstGeom prst="roundRect">
            <a:avLst>
              <a:gd name="adj" fmla="val 577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1454" y="1463040"/>
            <a:ext cx="548640" cy="548640"/>
          </a:xfrm>
          <a:prstGeom prst="rect">
            <a:avLst/>
          </a:prstGeom>
        </p:spPr>
      </p:pic>
      <p:sp>
        <p:nvSpPr>
          <p:cNvPr id="18" name="Card head 4"/>
          <p:cNvSpPr txBox="1"/>
          <p:nvPr/>
        </p:nvSpPr>
        <p:spPr>
          <a:xfrm>
            <a:off x="7061454" y="2240280"/>
            <a:ext cx="13510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Light</a:t>
            </a:r>
            <a:endParaRPr lang="en-US" sz="1800" dirty="0"/>
          </a:p>
        </p:txBody>
      </p:sp>
      <p:sp>
        <p:nvSpPr>
          <p:cNvPr id="19" name="Card body 4"/>
          <p:cNvSpPr txBox="1"/>
          <p:nvPr/>
        </p:nvSpPr>
        <p:spPr>
          <a:xfrm>
            <a:off x="7061454" y="2971800"/>
            <a:ext cx="13510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Daylight and city lights hide faint stars.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X-rays: ground or space?</a:t>
            </a:r>
            <a:endParaRPr lang="en-US" sz="3000" dirty="0"/>
          </a:p>
        </p:txBody>
      </p:sp>
      <p:sp>
        <p:nvSpPr>
          <p:cNvPr id="4" name="On the ground image frame"/>
          <p:cNvSpPr/>
          <p:nvPr/>
        </p:nvSpPr>
        <p:spPr>
          <a:xfrm>
            <a:off x="42062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On the ground image" descr="/tmp/claude-0/-home-claude/7116491e-74ad-5a48-9637-67025fdd7b6d/scratchpad/deck/telescopes-in-space/xray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406445"/>
          </a:xfrm>
          <a:prstGeom prst="rect">
            <a:avLst/>
          </a:prstGeom>
        </p:spPr>
      </p:pic>
      <p:sp>
        <p:nvSpPr>
          <p:cNvPr id="6" name="On the ground text"/>
          <p:cNvSpPr txBox="1"/>
          <p:nvPr/>
        </p:nvSpPr>
        <p:spPr>
          <a:xfrm>
            <a:off x="45720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Absorbed about 80 km up: nothing arrives.</a:t>
            </a:r>
            <a:endParaRPr lang="en-US" sz="1400" dirty="0"/>
          </a:p>
        </p:txBody>
      </p:sp>
      <p:sp>
        <p:nvSpPr>
          <p:cNvPr id="7" name="In space image frame"/>
          <p:cNvSpPr/>
          <p:nvPr/>
        </p:nvSpPr>
        <p:spPr>
          <a:xfrm>
            <a:off x="4626864" y="106070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n space image" descr="/tmp/claude-0/-home-claude/7116491e-74ad-5a48-9637-67025fdd7b6d/scratchpad/deck/telescopes-in-space/xraySp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406445"/>
          </a:xfrm>
          <a:prstGeom prst="rect">
            <a:avLst/>
          </a:prstGeom>
        </p:spPr>
      </p:pic>
      <p:sp>
        <p:nvSpPr>
          <p:cNvPr id="9" name="In space text"/>
          <p:cNvSpPr txBox="1"/>
          <p:nvPr/>
        </p:nvSpPr>
        <p:spPr>
          <a:xfrm>
            <a:off x="4663440" y="3640885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Above the air, X-rays can be detected.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Going higher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66344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Mountains: above much of the air and water vapour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Hanle, Ladakh: about 4500 m high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Space: every wavelength, day and night, no blurring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2062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telescopes-in-space/irMount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5720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Infrared reaches a high mountain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Some space telescopes</a:t>
            </a:r>
            <a:endParaRPr lang="en-US" sz="3000" dirty="0"/>
          </a:p>
        </p:txBody>
      </p:sp>
      <p:graphicFrame>
        <p:nvGraphicFramePr>
          <p:cNvPr id="7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365760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</a:rPr>
                        <a:t>Telescope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1"/>
                          </a:solidFill>
                        </a:rPr>
                        <a:t>Launched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accent2"/>
                          </a:solidFill>
                        </a:rPr>
                        <a:t>Observes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Hubble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1990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Visible, UV, near infrared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Chandra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1999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X-rays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Astrosat (ISRO)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2015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UV, X-rays, visible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2"/>
                          </a:solidFill>
                        </a:rPr>
                        <a:t>James Webb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2021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</a:rPr>
                        <a:t>Infrared</a:t>
                      </a:r>
                      <a:endParaRPr lang="en-US" sz="17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Radio stays on the ground</a:t>
            </a:r>
            <a:endParaRPr lang="en-US" sz="3000" dirty="0"/>
          </a:p>
        </p:txBody>
      </p:sp>
      <p:sp>
        <p:nvSpPr>
          <p:cNvPr id="4" name="Points"/>
          <p:cNvSpPr txBox="1"/>
          <p:nvPr/>
        </p:nvSpPr>
        <p:spPr>
          <a:xfrm>
            <a:off x="457200" y="1097280"/>
            <a:ext cx="40233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Radio waves pass through air and clouds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day and night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GMRT near Pune: 30 dishes of 45 m</a:t>
            </a:r>
            <a:endParaRPr lang="en-US" sz="1600" dirty="0"/>
          </a:p>
        </p:txBody>
      </p:sp>
      <p:sp>
        <p:nvSpPr>
          <p:cNvPr id="5" name="Concept image frame"/>
          <p:cNvSpPr/>
          <p:nvPr/>
        </p:nvSpPr>
        <p:spPr>
          <a:xfrm>
            <a:off x="4809744" y="1106424"/>
            <a:ext cx="3913632" cy="2370213"/>
          </a:xfrm>
          <a:prstGeom prst="roundRect">
            <a:avLst>
              <a:gd name="adj" fmla="val 3086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6" name="Concept image" descr="/tmp/claude-0/-home-claude/7116491e-74ad-5a48-9637-67025fdd7b6d/scratchpad/deck/telescopes-in-space/radio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297061"/>
          </a:xfrm>
          <a:prstGeom prst="rect">
            <a:avLst/>
          </a:prstGeom>
        </p:spPr>
      </p:pic>
      <p:sp>
        <p:nvSpPr>
          <p:cNvPr id="7" name="Caption"/>
          <p:cNvSpPr txBox="1"/>
          <p:nvPr/>
        </p:nvSpPr>
        <p:spPr>
          <a:xfrm>
            <a:off x="4846320" y="3549789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Radio reaches the ground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Choosing a site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To study X-rays from gas around a black hole, where must the telescope be?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X-rays are absorbed about 80 km up</a:t>
            </a:r>
            <a:pPr indent="0" marL="0">
              <a:spcAft>
                <a:spcPts val="800"/>
              </a:spcAft>
              <a:buNone/>
            </a:pP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So: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in space (Chandra, Astrosat)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Signals from Hubble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Hubble is about 550 km up. How long do its radio signals take to reach the ground?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t = 550 000 ÷ 3 × 10⁸ ≈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0.0018 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The GMRT's collecting area</a:t>
            </a:r>
            <a:endParaRPr lang="en-US" sz="3000" dirty="0"/>
          </a:p>
        </p:txBody>
      </p:sp>
      <p:sp>
        <p:nvSpPr>
          <p:cNvPr id="4" name="Stats image frame"/>
          <p:cNvSpPr/>
          <p:nvPr/>
        </p:nvSpPr>
        <p:spPr>
          <a:xfrm>
            <a:off x="420624" y="1106424"/>
            <a:ext cx="4096512" cy="2479597"/>
          </a:xfrm>
          <a:prstGeom prst="roundRect">
            <a:avLst>
              <a:gd name="adj" fmla="val 295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Stats image" descr="/tmp/claude-0/-home-claude/7116491e-74ad-5a48-9637-67025fdd7b6d/scratchpad/deck/telescopes-in-space/radioGr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406445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" y="3659173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30 dishes, each 45 m wide</a:t>
            </a:r>
            <a:endParaRPr lang="en-US" sz="1100" dirty="0"/>
          </a:p>
        </p:txBody>
      </p:sp>
      <p:sp>
        <p:nvSpPr>
          <p:cNvPr id="7" name="Facts"/>
          <p:cNvSpPr txBox="1"/>
          <p:nvPr/>
        </p:nvSpPr>
        <p:spPr>
          <a:xfrm>
            <a:off x="4846320" y="11430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π × 22.5² ≈ 1590 m² per dish:</a:t>
            </a:r>
            <a:endParaRPr lang="en-US" sz="1600" dirty="0"/>
          </a:p>
        </p:txBody>
      </p:sp>
      <p:sp>
        <p:nvSpPr>
          <p:cNvPr id="8" name="Stat card 1"/>
          <p:cNvSpPr/>
          <p:nvPr/>
        </p:nvSpPr>
        <p:spPr>
          <a:xfrm>
            <a:off x="484632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tat 1"/>
          <p:cNvSpPr txBox="1"/>
          <p:nvPr/>
        </p:nvSpPr>
        <p:spPr>
          <a:xfrm>
            <a:off x="498348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1590 m²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one dish</a:t>
            </a:r>
            <a:endParaRPr lang="en-US" sz="2800" dirty="0"/>
          </a:p>
        </p:txBody>
      </p:sp>
      <p:sp>
        <p:nvSpPr>
          <p:cNvPr id="10" name="Stat card 2"/>
          <p:cNvSpPr/>
          <p:nvPr/>
        </p:nvSpPr>
        <p:spPr>
          <a:xfrm>
            <a:off x="6858000" y="1920240"/>
            <a:ext cx="1828800" cy="1463040"/>
          </a:xfrm>
          <a:prstGeom prst="roundRect">
            <a:avLst>
              <a:gd name="adj" fmla="val 750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Stat 2"/>
          <p:cNvSpPr txBox="1"/>
          <p:nvPr/>
        </p:nvSpPr>
        <p:spPr>
          <a:xfrm>
            <a:off x="6995160" y="20116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47 700 m²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all 30 dishes</a:t>
            </a:r>
            <a:endParaRPr lang="en-US" sz="2800" dirty="0"/>
          </a:p>
        </p:txBody>
      </p:sp>
      <p:sp>
        <p:nvSpPr>
          <p:cNvPr id="12" name="Takeaway"/>
          <p:cNvSpPr txBox="1"/>
          <p:nvPr/>
        </p:nvSpPr>
        <p:spPr>
          <a:xfrm>
            <a:off x="4846320" y="35661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About seven football fields of collecting area.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“Closer to the stars”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550 km is nothing on a cosmic scale; the gain is getting above the air.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“Stars really flicker”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Twinkling is caused by our air.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“Radio needs space”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Radio waves pass through the air.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“Ground telescopes are useless”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are cheaper, bigger and easy to repair.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What is the main reason X-ray telescopes are put in space?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Why do stars twinkle?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organisation launched Astrosat?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Which kind of telescope works well on the ground, even through clouds?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Place a telescope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Telescopes in Space lesson on the Visual Physics website. Choose the radiation and the site.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That completes Chapter 18: Observing Space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315521"/>
          </a:xfrm>
          <a:prstGeom prst="roundRect">
            <a:avLst>
              <a:gd name="adj" fmla="val 315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telescopes-in-space/xraySp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2423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Physics">
  <a:themeElements>
    <a:clrScheme name="Visual Physic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Phys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Telescopes in Space</dc:title>
  <dc:subject>Std 9 Science, Chapter 18 Observing Space: Telescopes</dc:subject>
  <dc:creator>Visual Physics</dc:creator>
  <cp:lastModifiedBy>Visual Physics</cp:lastModifiedBy>
  <cp:revision>1</cp:revision>
  <dcterms:created xsi:type="dcterms:W3CDTF">2026-10-06T10:39:34Z</dcterms:created>
  <dcterms:modified xsi:type="dcterms:W3CDTF">2026-10-06T10:39:34Z</dcterms:modified>
</cp:coreProperties>
</file>