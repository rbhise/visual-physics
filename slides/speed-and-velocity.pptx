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1856507-ef10-874c-f957-eb8c20996166}">
          <p14:sldIdLst>
            <p14:sldId id="256"/>
            <p14:sldId id="257"/>
          </p14:sldIdLst>
        </p14:section>
        <p14:section name="Key ideas" id="{8841b84c-29ce-cec9-80ba-cd5b2583b15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a39c241f-0726-e013-1fbb-6564aa3e8f27}">
          <p14:sldIdLst>
            <p14:sldId id="264"/>
            <p14:sldId id="265"/>
            <p14:sldId id="266"/>
            <p14:sldId id="267"/>
          </p14:sldIdLst>
        </p14:section>
        <p14:section name="Wrap-up" id="{54fe298d-5ce2-e077-5ac7-e3d782ea745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of Chapter 1. Goal: students can calculate speed and velocity, convert between km/h and m/s, and explain why velocity can change while speed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show of hands for each question. Most will say the speeds are equal; some will hesitate on velocity. Today's lesson explains why the velocities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word 'distance': speed uses the whole path, not the straight-line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hook: both cyclists had a speed of 5 m/s, but velocities of 5 m/s north and 5 m/s east. Different directions mean different velocities.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everyday example of each. The middle card surprises most students: constant speed, yet changing velocity.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check: every 18 km/h is 5 m/s. Have students fill in 108 km/h (30 m/s)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with the distance/displacement table from Lesson 1: speed goes with distance, velocity goes with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speed = 120 m ÷ 15 s = 8 m/s. Average velocity = 0 m ÷ 15 s = 0. Ask: what is the size of the velocity at any moment during the ride? Still 8 m/s; only the average is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Riya's walk reuses the Lesson 1 example. Average velocity (1 m/s) is less than average speed (1.4 m/s) because the displacement cuts the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answer: 63.7 m ÷ 20 s ≈ 3.2 m/s, in the direction straight across the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mixing is the most common error in numerical problems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No; its direction keeps changing, so its velocity changes. 2) 54 × 5/18 = 15 m/s. 3) Average speed 4 m/s; average velocity 0. 4) No; displacement is never more than distance, and both are divided by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yourself walking a measured distance at school and work out your average speed in m/s and km/h.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Speed and Velocity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Speed and Velocity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5" name="Track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Track snapshot" descr="/tmp/claude-0/-home-claude/7116491e-74ad-5a48-9637-67025fdd7b6d/scratchpad/slides2/track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speed, different velocity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cyclists leave the same crossroads at 5 m/s. One heads north, the other heads east.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Are they moving at the same speed?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 they have the same velocity?</a:t>
            </a:r>
            <a:endParaRPr lang="en-US" sz="1800" dirty="0"/>
          </a:p>
        </p:txBody>
      </p:sp>
      <p:sp>
        <p:nvSpPr>
          <p:cNvPr id="5" name="Diagram card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rth arrow"/>
          <p:cNvSpPr/>
          <p:nvPr/>
        </p:nvSpPr>
        <p:spPr>
          <a:xfrm flipV="1">
            <a:off x="5577840" y="1828800"/>
            <a:ext cx="0" cy="20116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East arrow"/>
          <p:cNvSpPr/>
          <p:nvPr/>
        </p:nvSpPr>
        <p:spPr>
          <a:xfrm>
            <a:off x="5577840" y="3840480"/>
            <a:ext cx="237744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Crossroads"/>
          <p:cNvSpPr/>
          <p:nvPr/>
        </p:nvSpPr>
        <p:spPr>
          <a:xfrm>
            <a:off x="5468112" y="3730752"/>
            <a:ext cx="219456" cy="21945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North label"/>
          <p:cNvSpPr txBox="1"/>
          <p:nvPr/>
        </p:nvSpPr>
        <p:spPr>
          <a:xfrm>
            <a:off x="57607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 north</a:t>
            </a:r>
            <a:endParaRPr lang="en-US" sz="1500" dirty="0"/>
          </a:p>
        </p:txBody>
      </p:sp>
      <p:sp>
        <p:nvSpPr>
          <p:cNvPr id="10" name="East label"/>
          <p:cNvSpPr txBox="1"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 m/s east</a:t>
            </a:r>
            <a:endParaRPr lang="en-US" sz="1500" dirty="0"/>
          </a:p>
        </p:txBody>
      </p:sp>
      <p:pic>
        <p:nvPicPr>
          <p:cNvPr id="11" name="Bik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3258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Speed: how fast</a:t>
            </a:r>
            <a:endParaRPr lang="en-US" sz="30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peed 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speed = distance ÷ time</a:t>
            </a:r>
            <a:endParaRPr lang="en-US" sz="2400" dirty="0"/>
          </a:p>
        </p:txBody>
      </p:sp>
      <p:sp>
        <p:nvSpPr>
          <p:cNvPr id="5" name="Speed points"/>
          <p:cNvSpPr txBox="1"/>
          <p:nvPr/>
        </p:nvSpPr>
        <p:spPr>
          <a:xfrm>
            <a:off x="457200" y="21031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distance travelled in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Size only, no direction: a scalar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unit: metres per second (m/s)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Average speed = total distance ÷ total time</a:t>
            </a:r>
            <a:endParaRPr lang="en-US" sz="1600" dirty="0"/>
          </a:p>
        </p:txBody>
      </p:sp>
      <p:sp>
        <p:nvSpPr>
          <p:cNvPr id="6" name="Straight road snapshot frame"/>
          <p:cNvSpPr/>
          <p:nvPr/>
        </p:nvSpPr>
        <p:spPr>
          <a:xfrm>
            <a:off x="480974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Straight road snapshot" descr="/tmp/claude-0/-home-claude/7116491e-74ad-5a48-9637-67025fdd7b6d/scratchpad/slides2/straight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481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m along a straight road in 5 s: speed = 8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Velocity: how fast, and which way</a:t>
            </a:r>
            <a:endParaRPr lang="en-US" sz="3000" dirty="0"/>
          </a:p>
        </p:txBody>
      </p:sp>
      <p:sp>
        <p:nvSpPr>
          <p:cNvPr id="3" name="Track snapshot frame"/>
          <p:cNvSpPr/>
          <p:nvPr/>
        </p:nvSpPr>
        <p:spPr>
          <a:xfrm>
            <a:off x="42062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Track snapshot" descr="/tmp/claude-0/-home-claude/7116491e-74ad-5a48-9637-67025fdd7b6d/scratchpad/slides2/track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48177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arrow v is the velocity: its length is the speed, it points the way the cyclist moves</a:t>
            </a:r>
            <a:endParaRPr lang="en-US" sz="1100" dirty="0"/>
          </a:p>
        </p:txBody>
      </p:sp>
      <p:sp>
        <p:nvSpPr>
          <p:cNvPr id="6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Velocity formula"/>
          <p:cNvSpPr txBox="1"/>
          <p:nvPr/>
        </p:nvSpPr>
        <p:spPr>
          <a:xfrm>
            <a:off x="484632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velocity = displacement ÷ time</a:t>
            </a:r>
            <a:endParaRPr lang="en-US" sz="2200" dirty="0"/>
          </a:p>
        </p:txBody>
      </p:sp>
      <p:sp>
        <p:nvSpPr>
          <p:cNvPr id="8" name="Velocity points"/>
          <p:cNvSpPr txBox="1"/>
          <p:nvPr/>
        </p:nvSpPr>
        <p:spPr>
          <a:xfrm>
            <a:off x="4663440" y="21031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displacement in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Size and direction: a vector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 m/s, always with a direction: “5 m/s north”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Without a direction it is only a speed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ways velocity can change</a:t>
            </a:r>
            <a:endParaRPr lang="en-US" sz="3000" dirty="0"/>
          </a:p>
        </p:txBody>
      </p:sp>
      <p:sp>
        <p:nvSpPr>
          <p:cNvPr id="3" name="Change card 1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Change 1"/>
          <p:cNvSpPr txBox="1"/>
          <p:nvPr/>
        </p:nvSpPr>
        <p:spPr>
          <a:xfrm>
            <a:off x="731520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speed changes</a:t>
            </a:r>
            <a:endParaRPr lang="en-US" sz="1800" dirty="0"/>
          </a:p>
        </p:txBody>
      </p:sp>
      <p:sp>
        <p:nvSpPr>
          <p:cNvPr id="6" name="Example 1"/>
          <p:cNvSpPr txBox="1"/>
          <p:nvPr/>
        </p:nvSpPr>
        <p:spPr>
          <a:xfrm>
            <a:off x="731520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auto-rickshaw speeds up along a straight road.</a:t>
            </a:r>
            <a:endParaRPr lang="en-US" sz="1500" dirty="0"/>
          </a:p>
        </p:txBody>
      </p:sp>
      <p:sp>
        <p:nvSpPr>
          <p:cNvPr id="7" name="Change card 2"/>
          <p:cNvSpPr/>
          <p:nvPr/>
        </p:nvSpPr>
        <p:spPr>
          <a:xfrm>
            <a:off x="3273552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463040"/>
            <a:ext cx="548640" cy="548640"/>
          </a:xfrm>
          <a:prstGeom prst="rect">
            <a:avLst/>
          </a:prstGeom>
        </p:spPr>
      </p:pic>
      <p:sp>
        <p:nvSpPr>
          <p:cNvPr id="9" name="Change 2"/>
          <p:cNvSpPr txBox="1"/>
          <p:nvPr/>
        </p:nvSpPr>
        <p:spPr>
          <a:xfrm>
            <a:off x="3547872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direction changes</a:t>
            </a:r>
            <a:endParaRPr lang="en-US" sz="1800" dirty="0"/>
          </a:p>
        </p:txBody>
      </p:sp>
      <p:sp>
        <p:nvSpPr>
          <p:cNvPr id="10" name="Example 2"/>
          <p:cNvSpPr txBox="1"/>
          <p:nvPr/>
        </p:nvSpPr>
        <p:spPr>
          <a:xfrm>
            <a:off x="3547872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cyclist rides round a circular track at a steady speed.</a:t>
            </a:r>
            <a:endParaRPr lang="en-US" sz="1500" dirty="0"/>
          </a:p>
        </p:txBody>
      </p:sp>
      <p:sp>
        <p:nvSpPr>
          <p:cNvPr id="11" name="Change card 3"/>
          <p:cNvSpPr/>
          <p:nvPr/>
        </p:nvSpPr>
        <p:spPr>
          <a:xfrm>
            <a:off x="6089904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2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63040"/>
            <a:ext cx="548640" cy="548640"/>
          </a:xfrm>
          <a:prstGeom prst="rect">
            <a:avLst/>
          </a:prstGeom>
        </p:spPr>
      </p:pic>
      <p:sp>
        <p:nvSpPr>
          <p:cNvPr id="13" name="Change 3"/>
          <p:cNvSpPr txBox="1"/>
          <p:nvPr/>
        </p:nvSpPr>
        <p:spPr>
          <a:xfrm>
            <a:off x="6364224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Both change</a:t>
            </a:r>
            <a:endParaRPr lang="en-US" sz="1800" dirty="0"/>
          </a:p>
        </p:txBody>
      </p:sp>
      <p:sp>
        <p:nvSpPr>
          <p:cNvPr id="14" name="Example 3"/>
          <p:cNvSpPr txBox="1"/>
          <p:nvPr/>
        </p:nvSpPr>
        <p:spPr>
          <a:xfrm>
            <a:off x="6364224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car slows down as it turns a corner.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Changing km/h into m/s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km = 1000 m and 1 h = 3600 s, so</a:t>
            </a:r>
            <a:endParaRPr lang="en-US" sz="1600" dirty="0"/>
          </a:p>
        </p:txBody>
      </p:sp>
      <p:sp>
        <p:nvSpPr>
          <p:cNvPr id="4" name="Rule card"/>
          <p:cNvSpPr/>
          <p:nvPr/>
        </p:nvSpPr>
        <p:spPr>
          <a:xfrm>
            <a:off x="457200" y="164592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nversion rule"/>
          <p:cNvSpPr txBox="1"/>
          <p:nvPr/>
        </p:nvSpPr>
        <p:spPr>
          <a:xfrm>
            <a:off x="64008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 km/h = 5/18 m/s</a:t>
            </a:r>
            <a:endParaRPr lang="en-US" sz="3200" dirty="0"/>
          </a:p>
        </p:txBody>
      </p:sp>
      <p:sp>
        <p:nvSpPr>
          <p:cNvPr id="6" name="Conversion steps"/>
          <p:cNvSpPr txBox="1"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km/h to m/s: multiply by 5/18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m/s to km/h: multiply by 18/5 (= 3.6)</a:t>
            </a:r>
            <a:endParaRPr lang="en-US" sz="1600" dirty="0"/>
          </a:p>
        </p:txBody>
      </p:sp>
      <p:graphicFrame>
        <p:nvGraphicFramePr>
          <p:cNvPr id="7" name="Conver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43000"/>
          <a:ext cx="3566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km/h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or velocity?</a:t>
            </a:r>
            <a:endParaRPr lang="en-US" sz="30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Speed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Velocity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Defined as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Distance ÷ 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Displacement ÷ 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included (scalar)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Included (vector)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m/s, with a 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Average over a round trip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More than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Changes when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Speeding up or slowing down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Speed or direction changes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round trip: speed yes, velocity no</a:t>
            </a:r>
            <a:endParaRPr lang="en-US" sz="3000" dirty="0"/>
          </a:p>
        </p:txBody>
      </p:sp>
      <p:sp>
        <p:nvSpPr>
          <p:cNvPr id="3" name="Round trip snapshot frame"/>
          <p:cNvSpPr/>
          <p:nvPr/>
        </p:nvSpPr>
        <p:spPr>
          <a:xfrm>
            <a:off x="420624" y="110642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Round trip snapshot" descr="/tmp/claude-0/-home-claude/7116491e-74ad-5a48-9637-67025fdd7b6d/scratchpad/slides2/backforth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475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Riding 60 m east and back at 8 m/s, shown on the way back</a:t>
            </a:r>
            <a:endParaRPr lang="en-US" sz="1100" dirty="0"/>
          </a:p>
        </p:txBody>
      </p:sp>
      <p:sp>
        <p:nvSpPr>
          <p:cNvPr id="6" name="Finish facts"/>
          <p:cNvSpPr txBox="1"/>
          <p:nvPr/>
        </p:nvSpPr>
        <p:spPr>
          <a:xfrm>
            <a:off x="4846320" y="1143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the finish: 120 m in 15 s, back at the start.</a:t>
            </a:r>
            <a:endParaRPr lang="en-US" sz="1600" dirty="0"/>
          </a:p>
        </p:txBody>
      </p:sp>
      <p:sp>
        <p:nvSpPr>
          <p:cNvPr id="7" name="Average speed card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Average speed"/>
          <p:cNvSpPr txBox="1"/>
          <p:nvPr/>
        </p:nvSpPr>
        <p:spPr>
          <a:xfrm>
            <a:off x="498348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 m/s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speed</a:t>
            </a:r>
            <a:endParaRPr lang="en-US" sz="3200" dirty="0"/>
          </a:p>
        </p:txBody>
      </p:sp>
      <p:sp>
        <p:nvSpPr>
          <p:cNvPr id="9" name="Average velocity card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Average velocity"/>
          <p:cNvSpPr txBox="1"/>
          <p:nvPr/>
        </p:nvSpPr>
        <p:spPr>
          <a:xfrm>
            <a:off x="699516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 m/s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velocity</a:t>
            </a:r>
            <a:endParaRPr lang="en-US" sz="3200" dirty="0"/>
          </a:p>
        </p:txBody>
      </p:sp>
      <p:sp>
        <p:nvSpPr>
          <p:cNvPr id="11" name="Takeaway"/>
          <p:cNvSpPr txBox="1"/>
          <p:nvPr/>
        </p:nvSpPr>
        <p:spPr>
          <a:xfrm>
            <a:off x="484632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Displacement is zero, so the average velocity is zero, even though the rider never stopped.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3" name="A bus journey card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 bus journey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bus journey</a:t>
            </a:r>
            <a:endParaRPr lang="en-US" sz="1800" dirty="0"/>
          </a:p>
        </p:txBody>
      </p:sp>
      <p:sp>
        <p:nvSpPr>
          <p:cNvPr id="5" name="A bus journey problem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bus covers 90 km in 1.5 hours. Find its average speed in km/h and m/s.</a:t>
            </a:r>
            <a:endParaRPr lang="en-US" sz="1500" dirty="0"/>
          </a:p>
        </p:txBody>
      </p:sp>
      <p:sp>
        <p:nvSpPr>
          <p:cNvPr id="6" name="A bus journey solution"/>
          <p:cNvSpPr txBox="1"/>
          <p:nvPr/>
        </p:nvSpPr>
        <p:spPr>
          <a:xfrm>
            <a:off x="685800" y="2697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90 ÷ 1.5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60 km/h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m/s: 60 × 5/18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16.7 m/s</a:t>
            </a:r>
            <a:endParaRPr lang="en-US" sz="1500" dirty="0"/>
          </a:p>
        </p:txBody>
      </p:sp>
      <p:sp>
        <p:nvSpPr>
          <p:cNvPr id="7" name="Back to Riya's walk card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ck to Riya&amp;apos;s walk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 to Riya's walk</a:t>
            </a:r>
            <a:endParaRPr lang="en-US" sz="1800" dirty="0"/>
          </a:p>
        </p:txBody>
      </p:sp>
      <p:sp>
        <p:nvSpPr>
          <p:cNvPr id="9" name="Back to Riya&amp;apos;s walk problem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Riya walked 40 m east, then 30 m north, in 50 s. Find her average speed and velocity.</a:t>
            </a:r>
            <a:endParaRPr lang="en-US" sz="1500" dirty="0"/>
          </a:p>
        </p:txBody>
      </p:sp>
      <p:sp>
        <p:nvSpPr>
          <p:cNvPr id="10" name="Back to Riya's walk solution"/>
          <p:cNvSpPr txBox="1"/>
          <p:nvPr/>
        </p:nvSpPr>
        <p:spPr>
          <a:xfrm>
            <a:off x="4892040" y="2697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70 ÷ 50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1.4 m/s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velocity = 50 ÷ 50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m/s, 37° N of 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one lap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 cyclist rides once around a circular track 200 m long in 40 s. Find her average speed and average velocity.</a:t>
            </a:r>
            <a:endParaRPr lang="en-US" sz="1600" dirty="0"/>
          </a:p>
        </p:txBody>
      </p:sp>
      <p:sp>
        <p:nvSpPr>
          <p:cNvPr id="4" name="Solution"/>
          <p:cNvSpPr txBox="1"/>
          <p:nvPr/>
        </p:nvSpPr>
        <p:spPr>
          <a:xfrm>
            <a:off x="457200" y="21488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Average speed = 200 ÷ 40 =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m/s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She ends where she started, so displacement = 0 and average velocity =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0 m/s</a:t>
            </a:r>
            <a:endParaRPr lang="en-US" sz="1600" dirty="0"/>
          </a:p>
        </p:txBody>
      </p:sp>
      <p:sp>
        <p:nvSpPr>
          <p:cNvPr id="5" name="Follow-up"/>
          <p:cNvSpPr txBox="1"/>
          <p:nvPr/>
        </p:nvSpPr>
        <p:spPr>
          <a:xfrm>
            <a:off x="457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Follow-up: what is her average velocity after half a lap (20 s)? The diameter is 200 ÷ π ≈ 63.7 m.</a:t>
            </a:r>
            <a:endParaRPr lang="en-US" sz="1300" dirty="0"/>
          </a:p>
        </p:txBody>
      </p:sp>
      <p:sp>
        <p:nvSpPr>
          <p:cNvPr id="6" name="Track snapshot frame"/>
          <p:cNvSpPr/>
          <p:nvPr/>
        </p:nvSpPr>
        <p:spPr>
          <a:xfrm>
            <a:off x="480974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rack snapshot" descr="/tmp/claude-0/-home-claude/7116491e-74ad-5a48-9637-67025fdd7b6d/scratchpad/slides2/track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481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3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5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units</a:t>
            </a:r>
            <a:endParaRPr lang="en-US" sz="1700" dirty="0"/>
          </a:p>
        </p:txBody>
      </p:sp>
      <p:sp>
        <p:nvSpPr>
          <p:cNvPr id="6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Don't divide metres by hours. Convert first: 1 km/h = 5/18 m/s.</a:t>
            </a:r>
            <a:endParaRPr lang="en-US" sz="1400" dirty="0"/>
          </a:p>
        </p:txBody>
      </p:sp>
      <p:sp>
        <p:nvSpPr>
          <p:cNvPr id="7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9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displacement for speed</a:t>
            </a:r>
            <a:endParaRPr lang="en-US" sz="1700" dirty="0"/>
          </a:p>
        </p:txBody>
      </p:sp>
      <p:sp>
        <p:nvSpPr>
          <p:cNvPr id="10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Speed uses the whole path (distance). Velocity uses displacement.</a:t>
            </a:r>
            <a:endParaRPr lang="en-US" sz="1400" dirty="0"/>
          </a:p>
        </p:txBody>
      </p:sp>
      <p:sp>
        <p:nvSpPr>
          <p:cNvPr id="11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3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Steady speed = steady velocity</a:t>
            </a:r>
            <a:endParaRPr lang="en-US" sz="1700" dirty="0"/>
          </a:p>
        </p:txBody>
      </p:sp>
      <p:sp>
        <p:nvSpPr>
          <p:cNvPr id="14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in a straight line. Turning changes the velocity.</a:t>
            </a:r>
            <a:endParaRPr lang="en-US" sz="1400" dirty="0"/>
          </a:p>
        </p:txBody>
      </p:sp>
      <p:sp>
        <p:nvSpPr>
          <p:cNvPr id="15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7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direction</a:t>
            </a:r>
            <a:endParaRPr lang="en-US" sz="1700" dirty="0"/>
          </a:p>
        </p:txBody>
      </p:sp>
      <p:sp>
        <p:nvSpPr>
          <p:cNvPr id="18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velocity without a direction is just a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auto-rickshaw circles a roundabout at a steady 20 km/h. Is its velocity constant?</a:t>
            </a:r>
            <a:endParaRPr lang="en-US" sz="1600" dirty="0"/>
          </a:p>
        </p:txBody>
      </p:sp>
      <p:sp>
        <p:nvSpPr>
          <p:cNvPr id="6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train moves at 54 km/h. What is that in m/s?</a:t>
            </a:r>
            <a:endParaRPr lang="en-US" sz="1600" dirty="0"/>
          </a:p>
        </p:txBody>
      </p:sp>
      <p:sp>
        <p:nvSpPr>
          <p:cNvPr id="9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runner finishes one lap of a 400 m track in 100 s. Average speed? Average velocity?</a:t>
            </a:r>
            <a:endParaRPr lang="en-US" sz="1600" dirty="0"/>
          </a:p>
        </p:txBody>
      </p:sp>
      <p:sp>
        <p:nvSpPr>
          <p:cNvPr id="12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average velocity ever be larger than average speed?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Ride it yourself</a:t>
            </a:r>
            <a:endParaRPr lang="en-US" sz="4000" dirty="0"/>
          </a:p>
        </p:txBody>
      </p:sp>
      <p:sp>
        <p:nvSpPr>
          <p:cNvPr id="3" name="Call to action"/>
          <p:cNvSpPr txBox="1"/>
          <p:nvPr/>
        </p:nvSpPr>
        <p:spPr>
          <a:xfrm>
            <a:off x="54864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Speed and Velocity lesson on the Visual Physics website. Change the speed, pick a route, and watch the velocity arrow.</a:t>
            </a:r>
            <a:endParaRPr lang="en-US" sz="1500" dirty="0"/>
          </a:p>
        </p:txBody>
      </p:sp>
      <p:sp>
        <p:nvSpPr>
          <p:cNvPr id="4" name="Next lesson"/>
          <p:cNvSpPr txBox="1"/>
          <p:nvPr/>
        </p:nvSpPr>
        <p:spPr>
          <a:xfrm>
            <a:off x="5486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Uniform and non-uniform motion</a:t>
            </a:r>
            <a:endParaRPr lang="en-US" sz="1400" dirty="0"/>
          </a:p>
        </p:txBody>
      </p:sp>
      <p:sp>
        <p:nvSpPr>
          <p:cNvPr id="5" name="Closing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losing snapshot" descr="/tmp/claude-0/-home-claude/7116491e-74ad-5a48-9637-67025fdd7b6d/scratchpad/slides2/track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and Velocity</dc:title>
  <dc:subject>Std 9 Science, Chapter 1 Laws of Motion</dc:subject>
  <dc:creator>Visual Physics</dc:creator>
  <cp:lastModifiedBy>Visual Physics</cp:lastModifiedBy>
  <cp:revision>1</cp:revision>
  <dcterms:created xsi:type="dcterms:W3CDTF">2026-10-06T01:05:00Z</dcterms:created>
  <dcterms:modified xsi:type="dcterms:W3CDTF">2026-10-06T01:05:00Z</dcterms:modified>
</cp:coreProperties>
</file>